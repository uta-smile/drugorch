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framework we have been building. The aim of this deck is that you can hold the whole shape of it in your head: what the parts are, why they are separated the way they are, and what is actually proven versus still in progress.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shapes dominate the literature. Nobody combines adaptive cross-stage routing with budget-aware decisions and a rigorous retrospective evaluation. That combination is the contribution.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orchestrator never runs to completion in one blocking call. It takes one step at a time, which is what lets you watch it live and stop it mid-run.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five boxes are the whole loop. The arrows are deliberately narrow: a policy gets summary() and nothing else, a subsystem gets params and state and returns records. That narrowness is why a generation backbone or a whole new tool can be swapped without the orchestrator knowing.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layer talks to the next through one narrow contract. That is what makes the generation backbone swappable without the orchestrator knowing, and the policy swappable without the subsystems knowing.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Capability object was already doing all this work for the built-ins before any plugin existed. Adding plugins meant adding discovery, not a new abstraction.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Budget units are abstract but calibrated to real cost. Docking dominates wall-clock time too, which is why it is the thing worth being clever about.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scripted arm is deliberately strong. A weak control is the easiest way to manufacture an LLM win, and reviewers know to look for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quiet mechanism that makes the whole ablation legible. Get it wrong and every cost curve in the project becomes meaningless.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part you asked for most directly. The design goal is that a new subsystem added next year is explainable without the frontend changing.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Cross-provider comparison is a feature, but results must never be pooled across providers. The run record carries the provider for exactly that reason.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holdout is enforced inside retrieval, at the single point actives enter a run, so a withheld molecule can arrive exactly one way: the run proposed it. Seven real runs were checked molecule by molecule for leaks before any number was reported.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docking sanity check is the one I would defend hardest. If actives had not separated from decoys, every other number in the project would have been noise dressed as a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Keeping proposal and selection apart is what makes the ablation table readable. A single combined knob would confound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Ending on the gaps is deliberate. The thing that separates this from the systems in the literature review is not that it works better, it is that you can tell when it does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AFAF8"/>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484518"/>
          </a:xfrm>
          <a:prstGeom prst="rect">
            <a:avLst/>
          </a:prstGeom>
          <a:noFill/>
          <a:ln/>
        </p:spPr>
        <p:txBody>
          <a:bodyPr wrap="square" lIns="0" tIns="0" rIns="0" bIns="0" rtlCol="0" anchor="t"/>
          <a:lstStyle>
            <a:lvl1pPr algn="l" indent="0" marL="0">
              <a:lnSpc>
                <a:spcPct val="115000"/>
              </a:lnSpc>
              <a:buNone/>
              <a:defRPr lang="en-US" sz="3476" dirty="0">
                <a:solidFill>
                  <a:srgbClr val="171A1F"/>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476" dirty="0"/>
          </a:p>
        </p:txBody>
      </p:sp>
      <p:sp>
        <p:nvSpPr>
          <p:cNvPr id="3" name="Text Placeholder 2"/>
          <p:cNvSpPr/>
          <p:nvPr>
            <p:ph idx="101" type="body"/>
          </p:nvPr>
        </p:nvSpPr>
        <p:spPr>
          <a:xfrm>
            <a:off x="812800" y="1602118"/>
            <a:ext cx="10566400" cy="4443082"/>
          </a:xfrm>
          <a:prstGeom prst="rect">
            <a:avLst/>
          </a:prstGeom>
          <a:noFill/>
          <a:ln/>
        </p:spPr>
        <p:txBody>
          <a:bodyPr wrap="square" lIns="0" tIns="0" rIns="0" bIns="0" rtlCol="0" anchor="t"/>
          <a:lstStyle>
            <a:lvl1pPr algn="l" indent="0" marL="0">
              <a:lnSpc>
                <a:spcPct val="140000"/>
              </a:lnSpc>
              <a:buNone/>
              <a:defRPr lang="en-US" sz="1600" dirty="0">
                <a:solidFill>
                  <a:srgbClr val="171A1F"/>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AFAF8"/>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484518"/>
          </a:xfrm>
          <a:prstGeom prst="rect">
            <a:avLst/>
          </a:prstGeom>
          <a:noFill/>
          <a:ln/>
        </p:spPr>
        <p:txBody>
          <a:bodyPr wrap="square" lIns="0" tIns="0" rIns="0" bIns="0" rtlCol="0" anchor="t"/>
          <a:lstStyle>
            <a:lvl1pPr algn="l" indent="0" marL="0">
              <a:lnSpc>
                <a:spcPct val="115000"/>
              </a:lnSpc>
              <a:buNone/>
              <a:defRPr lang="en-US" sz="3476" dirty="0">
                <a:solidFill>
                  <a:srgbClr val="171A1F"/>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476" dirty="0"/>
          </a:p>
        </p:txBody>
      </p:sp>
      <p:sp>
        <p:nvSpPr>
          <p:cNvPr id="3" name="Text Placeholder 2"/>
          <p:cNvSpPr/>
          <p:nvPr>
            <p:ph idx="101" type="body"/>
          </p:nvPr>
        </p:nvSpPr>
        <p:spPr>
          <a:xfrm>
            <a:off x="812800" y="1602118"/>
            <a:ext cx="10566400" cy="4443082"/>
          </a:xfrm>
          <a:prstGeom prst="rect">
            <a:avLst/>
          </a:prstGeom>
          <a:noFill/>
          <a:ln/>
        </p:spPr>
        <p:txBody>
          <a:bodyPr wrap="square" lIns="0" tIns="0" rIns="0" bIns="0" rtlCol="0" anchor="t"/>
          <a:lstStyle>
            <a:lvl1pPr algn="l" indent="0" marL="0">
              <a:lnSpc>
                <a:spcPct val="140000"/>
              </a:lnSpc>
              <a:buNone/>
              <a:defRPr lang="en-US" sz="1600" dirty="0">
                <a:solidFill>
                  <a:srgbClr val="171A1F"/>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2.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slideLayout" Target="../slideLayouts/slideLayout2.xml"/><Relationship Id="rId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2.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image" Target="../media/image-12-8.png"/><Relationship Id="rId9" Type="http://schemas.openxmlformats.org/officeDocument/2006/relationships/image" Target="../media/image-12-9.png"/><Relationship Id="rId10" Type="http://schemas.openxmlformats.org/officeDocument/2006/relationships/image" Target="../media/image-12-10.png"/><Relationship Id="rId11" Type="http://schemas.openxmlformats.org/officeDocument/2006/relationships/slideLayout" Target="../slideLayouts/slideLayout2.xml"/><Relationship Id="rId1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1A1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8CB4E8"/>
                </a:solidFill>
                <a:latin typeface="JetBrains Mono" pitchFamily="49" charset="0"/>
                <a:ea typeface="JetBrains Mono" pitchFamily="49" charset="-122"/>
                <a:cs typeface="JetBrains Mono" pitchFamily="49" charset="-120"/>
              </a:rPr>
              <a:t>SYSTEM DESIGN</a:t>
            </a:r>
            <a:endParaRPr lang="en-US" sz="1200" dirty="0"/>
          </a:p>
        </p:txBody>
      </p:sp>
      <p:sp>
        <p:nvSpPr>
          <p:cNvPr id="3" name="Text 1"/>
          <p:cNvSpPr/>
          <p:nvPr>
            <p:ph type="title"/>
          </p:nvPr>
        </p:nvSpPr>
        <p:spPr>
          <a:xfrm>
            <a:off x="812800" y="1178520"/>
            <a:ext cx="10883392" cy="863600"/>
          </a:xfrm>
          <a:prstGeom prst="rect">
            <a:avLst/>
          </a:prstGeom>
          <a:noFill/>
          <a:ln/>
        </p:spPr>
        <p:txBody>
          <a:bodyPr wrap="square" lIns="0" tIns="0" rIns="0" bIns="0" rtlCol="0" anchor="t">
            <a:normAutofit/>
          </a:bodyPr>
          <a:lstStyle/>
          <a:p>
            <a:pPr algn="l" indent="0" marL="0">
              <a:lnSpc>
                <a:spcPts val="6600"/>
              </a:lnSpc>
              <a:buNone/>
            </a:pPr>
            <a:r>
              <a:rPr lang="en-US" sz="6600" b="0" i="0" spc="-130" kern="0" dirty="0">
                <a:solidFill>
                  <a:srgbClr val="FAFAF8"/>
                </a:solidFill>
                <a:latin typeface="IBM Plex Sans" pitchFamily="34" charset="0"/>
                <a:ea typeface="IBM Plex Sans" pitchFamily="34" charset="-122"/>
                <a:cs typeface="IBM Plex Sans" pitchFamily="34" charset="-120"/>
              </a:rPr>
              <a:t>Drug</a:t>
            </a:r>
            <a:r>
              <a:rPr lang="en-US" sz="6600" b="0" i="0" spc="-130" kern="0" dirty="0">
                <a:solidFill>
                  <a:srgbClr val="8CB4E8"/>
                </a:solidFill>
                <a:latin typeface="IBM Plex Sans" pitchFamily="34" charset="0"/>
                <a:ea typeface="IBM Plex Sans" pitchFamily="34" charset="-122"/>
                <a:cs typeface="IBM Plex Sans" pitchFamily="34" charset="-120"/>
              </a:rPr>
              <a:t>Orch</a:t>
            </a:r>
            <a:endParaRPr lang="en-US" sz="6600" dirty="0"/>
          </a:p>
        </p:txBody>
      </p:sp>
      <p:sp>
        <p:nvSpPr>
          <p:cNvPr id="4" name="Text 2"/>
          <p:cNvSpPr/>
          <p:nvPr/>
        </p:nvSpPr>
        <p:spPr>
          <a:xfrm>
            <a:off x="812800" y="2169120"/>
            <a:ext cx="8502650" cy="751814"/>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C3CAD4"/>
                </a:solidFill>
                <a:latin typeface="IBM Plex Sans" pitchFamily="34" charset="0"/>
                <a:ea typeface="IBM Plex Sans" pitchFamily="34" charset="-122"/>
                <a:cs typeface="IBM Plex Sans" pitchFamily="34" charset="-120"/>
              </a:rPr>
              <a:t>An LLM decides which drug-discovery subsystem to run next, under a fixed budget — and the interface shows you why.</a:t>
            </a:r>
            <a:endParaRPr lang="en-US" sz="2200" dirty="0"/>
          </a:p>
        </p:txBody>
      </p:sp>
      <p:sp>
        <p:nvSpPr>
          <p:cNvPr id="5" name="Text 3"/>
          <p:cNvSpPr/>
          <p:nvPr/>
        </p:nvSpPr>
        <p:spPr>
          <a:xfrm>
            <a:off x="812800" y="5704880"/>
            <a:ext cx="1194461" cy="340320"/>
          </a:xfrm>
          <a:prstGeom prst="roundRect">
            <a:avLst>
              <a:gd name="adj" fmla="val 50000"/>
            </a:avLst>
          </a:prstGeom>
          <a:solidFill>
            <a:srgbClr val="2A5BB0"/>
          </a:solidFill>
          <a:ln/>
        </p:spPr>
        <p:txBody>
          <a:bodyPr wrap="none" lIns="0" tIns="0" rIns="0" bIns="0" rtlCol="0" anchor="ctr">
            <a:normAutofit/>
          </a:bodyPr>
          <a:lstStyle/>
          <a:p>
            <a:pPr algn="ctr" indent="0" marL="0">
              <a:lnSpc>
                <a:spcPts val="1680"/>
              </a:lnSpc>
              <a:buNone/>
            </a:pPr>
            <a:r>
              <a:rPr lang="en-US" sz="1200" dirty="0">
                <a:solidFill>
                  <a:srgbClr val="FAFAF8"/>
                </a:solidFill>
                <a:latin typeface="IBM Plex Sans" pitchFamily="34" charset="0"/>
                <a:ea typeface="IBM Plex Sans" pitchFamily="34" charset="-122"/>
                <a:cs typeface="IBM Plex Sans" pitchFamily="34" charset="-120"/>
              </a:rPr>
              <a:t>4 subsystems</a:t>
            </a:r>
            <a:endParaRPr lang="en-US" sz="1200" dirty="0"/>
          </a:p>
        </p:txBody>
      </p:sp>
      <p:sp>
        <p:nvSpPr>
          <p:cNvPr id="6" name="Text 4"/>
          <p:cNvSpPr/>
          <p:nvPr/>
        </p:nvSpPr>
        <p:spPr>
          <a:xfrm>
            <a:off x="2108862" y="5704880"/>
            <a:ext cx="1429015" cy="340320"/>
          </a:xfrm>
          <a:prstGeom prst="roundRect">
            <a:avLst>
              <a:gd name="adj" fmla="val 50000"/>
            </a:avLst>
          </a:prstGeom>
          <a:solidFill>
            <a:srgbClr val="116358"/>
          </a:solidFill>
          <a:ln/>
        </p:spPr>
        <p:txBody>
          <a:bodyPr wrap="none" lIns="0" tIns="0" rIns="0" bIns="0" rtlCol="0" anchor="ctr">
            <a:normAutofit/>
          </a:bodyPr>
          <a:lstStyle/>
          <a:p>
            <a:pPr algn="ctr" indent="0" marL="0">
              <a:lnSpc>
                <a:spcPts val="1680"/>
              </a:lnSpc>
              <a:buNone/>
            </a:pPr>
            <a:r>
              <a:rPr lang="en-US" sz="1200" dirty="0">
                <a:solidFill>
                  <a:srgbClr val="FAFAF8"/>
                </a:solidFill>
                <a:latin typeface="IBM Plex Sans" pitchFamily="34" charset="0"/>
                <a:ea typeface="IBM Plex Sans" pitchFamily="34" charset="-122"/>
                <a:cs typeface="IBM Plex Sans" pitchFamily="34" charset="-120"/>
              </a:rPr>
              <a:t>6 routing policies</a:t>
            </a:r>
            <a:endParaRPr lang="en-US" sz="1200" dirty="0"/>
          </a:p>
        </p:txBody>
      </p:sp>
      <p:sp>
        <p:nvSpPr>
          <p:cNvPr id="7" name="Text 5"/>
          <p:cNvSpPr/>
          <p:nvPr/>
        </p:nvSpPr>
        <p:spPr>
          <a:xfrm>
            <a:off x="3639476" y="5704880"/>
            <a:ext cx="1336807" cy="340320"/>
          </a:xfrm>
          <a:prstGeom prst="roundRect">
            <a:avLst>
              <a:gd name="adj" fmla="val 50000"/>
            </a:avLst>
          </a:prstGeom>
          <a:solidFill>
            <a:srgbClr val="5739AE"/>
          </a:solidFill>
          <a:ln/>
        </p:spPr>
        <p:txBody>
          <a:bodyPr wrap="none" lIns="0" tIns="0" rIns="0" bIns="0" rtlCol="0" anchor="ctr">
            <a:normAutofit/>
          </a:bodyPr>
          <a:lstStyle/>
          <a:p>
            <a:pPr algn="ctr" indent="0" marL="0">
              <a:lnSpc>
                <a:spcPts val="1680"/>
              </a:lnSpc>
              <a:buNone/>
            </a:pPr>
            <a:r>
              <a:rPr lang="en-US" sz="1200" dirty="0">
                <a:solidFill>
                  <a:srgbClr val="FAFAF8"/>
                </a:solidFill>
                <a:latin typeface="IBM Plex Sans" pitchFamily="34" charset="0"/>
                <a:ea typeface="IBM Plex Sans" pitchFamily="34" charset="-122"/>
                <a:cs typeface="IBM Plex Sans" pitchFamily="34" charset="-120"/>
              </a:rPr>
              <a:t>3 LLM providers</a:t>
            </a:r>
            <a:endParaRPr lang="en-US" sz="1200" dirty="0"/>
          </a:p>
        </p:txBody>
      </p:sp>
      <p:sp>
        <p:nvSpPr>
          <p:cNvPr id="8" name="Text 6"/>
          <p:cNvSpPr/>
          <p:nvPr/>
        </p:nvSpPr>
        <p:spPr>
          <a:xfrm>
            <a:off x="5077883" y="5704880"/>
            <a:ext cx="901700" cy="340320"/>
          </a:xfrm>
          <a:prstGeom prst="roundRect">
            <a:avLst>
              <a:gd name="adj" fmla="val 50000"/>
            </a:avLst>
          </a:prstGeom>
          <a:solidFill>
            <a:srgbClr val="8A5F15"/>
          </a:solidFill>
          <a:ln/>
        </p:spPr>
        <p:txBody>
          <a:bodyPr wrap="none" lIns="0" tIns="0" rIns="0" bIns="0" rtlCol="0" anchor="ctr">
            <a:normAutofit/>
          </a:bodyPr>
          <a:lstStyle/>
          <a:p>
            <a:pPr algn="ctr" indent="0" marL="0">
              <a:lnSpc>
                <a:spcPts val="1680"/>
              </a:lnSpc>
              <a:buNone/>
            </a:pPr>
            <a:r>
              <a:rPr lang="en-US" sz="1200" dirty="0">
                <a:solidFill>
                  <a:srgbClr val="FAFAF8"/>
                </a:solidFill>
                <a:latin typeface="IBM Plex Sans" pitchFamily="34" charset="0"/>
                <a:ea typeface="IBM Plex Sans" pitchFamily="34" charset="-122"/>
                <a:cs typeface="IBM Plex Sans" pitchFamily="34" charset="-120"/>
              </a:rPr>
              <a:t>120 tests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A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2A5BB0"/>
                </a:solidFill>
                <a:latin typeface="JetBrains Mono" pitchFamily="49" charset="0"/>
                <a:ea typeface="JetBrains Mono" pitchFamily="49" charset="-122"/>
                <a:cs typeface="JetBrains Mono" pitchFamily="49" charset="-120"/>
              </a:rPr>
              <a:t>THE OPENING</a:t>
            </a:r>
            <a:endParaRPr lang="en-US" sz="1200" dirty="0"/>
          </a:p>
        </p:txBody>
      </p:sp>
      <p:sp>
        <p:nvSpPr>
          <p:cNvPr id="3" name="Text 1"/>
          <p:cNvSpPr/>
          <p:nvPr>
            <p:ph type="title"/>
          </p:nvPr>
        </p:nvSpPr>
        <p:spPr>
          <a:xfrm>
            <a:off x="812800" y="11023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71A1F"/>
                </a:solidFill>
                <a:latin typeface="IBM Plex Sans" pitchFamily="34" charset="0"/>
                <a:ea typeface="IBM Plex Sans" pitchFamily="34" charset="-122"/>
                <a:cs typeface="IBM Plex Sans" pitchFamily="34" charset="-120"/>
              </a:rPr>
              <a:t>Every published system does one of two things</a:t>
            </a:r>
            <a:endParaRPr lang="en-US" sz="3600" dirty="0"/>
          </a:p>
        </p:txBody>
      </p:sp>
      <p:sp>
        <p:nvSpPr>
          <p:cNvPr id="4" name="Shape 2"/>
          <p:cNvSpPr/>
          <p:nvPr/>
        </p:nvSpPr>
        <p:spPr>
          <a:xfrm>
            <a:off x="815975" y="1862403"/>
            <a:ext cx="3400028" cy="2084851"/>
          </a:xfrm>
          <a:prstGeom prst="roundRect">
            <a:avLst>
              <a:gd name="adj" fmla="val 4721"/>
            </a:avLst>
          </a:prstGeom>
          <a:solidFill>
            <a:srgbClr val="FFFFFF"/>
          </a:solidFill>
          <a:ln w="6350">
            <a:solidFill>
              <a:srgbClr val="DCE0E6"/>
            </a:solidFill>
            <a:prstDash val="solid"/>
          </a:ln>
        </p:spPr>
      </p:sp>
      <p:sp>
        <p:nvSpPr>
          <p:cNvPr id="5" name="Text 3"/>
          <p:cNvSpPr/>
          <p:nvPr/>
        </p:nvSpPr>
        <p:spPr>
          <a:xfrm>
            <a:off x="1045633" y="2092061"/>
            <a:ext cx="3028933"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71A1F"/>
                </a:solidFill>
                <a:latin typeface="IBM Plex Sans" pitchFamily="34" charset="0"/>
                <a:ea typeface="IBM Plex Sans" pitchFamily="34" charset="-122"/>
                <a:cs typeface="IBM Plex Sans" pitchFamily="34" charset="-120"/>
              </a:rPr>
              <a:t>Full pipeline, fixed order</a:t>
            </a:r>
            <a:endParaRPr lang="en-US" sz="1600" dirty="0"/>
          </a:p>
        </p:txBody>
      </p:sp>
      <p:sp>
        <p:nvSpPr>
          <p:cNvPr id="6" name="Text 4"/>
          <p:cNvSpPr/>
          <p:nvPr/>
        </p:nvSpPr>
        <p:spPr>
          <a:xfrm>
            <a:off x="1045633" y="2424774"/>
            <a:ext cx="3028933" cy="10160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568"/>
                </a:solidFill>
                <a:latin typeface="IBM Plex Sans" pitchFamily="34" charset="0"/>
                <a:ea typeface="IBM Plex Sans" pitchFamily="34" charset="-122"/>
                <a:cs typeface="IBM Plex Sans" pitchFamily="34" charset="-120"/>
              </a:rPr>
              <a:t>Covers every stage, but the order is hard-coded. It cannot react to a dead subsystem, a spent budget, or a run that stopped improving.</a:t>
            </a:r>
            <a:endParaRPr lang="en-US" sz="1300" dirty="0"/>
          </a:p>
        </p:txBody>
      </p:sp>
      <p:sp>
        <p:nvSpPr>
          <p:cNvPr id="7" name="Text 5"/>
          <p:cNvSpPr/>
          <p:nvPr/>
        </p:nvSpPr>
        <p:spPr>
          <a:xfrm>
            <a:off x="1045633" y="3504274"/>
            <a:ext cx="302893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8F98"/>
                </a:solidFill>
                <a:latin typeface="JetBrains Mono" pitchFamily="49" charset="0"/>
                <a:ea typeface="JetBrains Mono" pitchFamily="49" charset="-122"/>
                <a:cs typeface="JetBrains Mono" pitchFamily="49" charset="-120"/>
              </a:rPr>
              <a:t>ChemCrow · DrugAgent · Mozi</a:t>
            </a:r>
            <a:endParaRPr lang="en-US" sz="1200" dirty="0"/>
          </a:p>
        </p:txBody>
      </p:sp>
      <p:sp>
        <p:nvSpPr>
          <p:cNvPr id="8" name="Shape 6"/>
          <p:cNvSpPr/>
          <p:nvPr/>
        </p:nvSpPr>
        <p:spPr>
          <a:xfrm>
            <a:off x="4400153" y="1862403"/>
            <a:ext cx="3400094" cy="2084851"/>
          </a:xfrm>
          <a:prstGeom prst="roundRect">
            <a:avLst>
              <a:gd name="adj" fmla="val 4721"/>
            </a:avLst>
          </a:prstGeom>
          <a:solidFill>
            <a:srgbClr val="FFFFFF"/>
          </a:solidFill>
          <a:ln w="6350">
            <a:solidFill>
              <a:srgbClr val="DCE0E6"/>
            </a:solidFill>
            <a:prstDash val="solid"/>
          </a:ln>
        </p:spPr>
      </p:sp>
      <p:sp>
        <p:nvSpPr>
          <p:cNvPr id="9" name="Text 7"/>
          <p:cNvSpPr/>
          <p:nvPr/>
        </p:nvSpPr>
        <p:spPr>
          <a:xfrm>
            <a:off x="4629812" y="2092061"/>
            <a:ext cx="3029001"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71A1F"/>
                </a:solidFill>
                <a:latin typeface="IBM Plex Sans" pitchFamily="34" charset="0"/>
                <a:ea typeface="IBM Plex Sans" pitchFamily="34" charset="-122"/>
                <a:cs typeface="IBM Plex Sans" pitchFamily="34" charset="-120"/>
              </a:rPr>
              <a:t>Adaptive, but inside one stage</a:t>
            </a:r>
            <a:endParaRPr lang="en-US" sz="1600" dirty="0"/>
          </a:p>
        </p:txBody>
      </p:sp>
      <p:sp>
        <p:nvSpPr>
          <p:cNvPr id="10" name="Text 8"/>
          <p:cNvSpPr/>
          <p:nvPr/>
        </p:nvSpPr>
        <p:spPr>
          <a:xfrm>
            <a:off x="4629812" y="2424774"/>
            <a:ext cx="3029001" cy="10160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568"/>
                </a:solidFill>
                <a:latin typeface="IBM Plex Sans" pitchFamily="34" charset="0"/>
                <a:ea typeface="IBM Plex Sans" pitchFamily="34" charset="-122"/>
                <a:cs typeface="IBM Plex Sans" pitchFamily="34" charset="-120"/>
              </a:rPr>
              <a:t>Chooses tools intelligently — within lead optimisation only. Never decides between </a:t>
            </a:r>
            <a:r>
              <a:rPr lang="en-US" sz="1300" i="1" dirty="0">
                <a:solidFill>
                  <a:srgbClr val="4A5568"/>
                </a:solidFill>
                <a:latin typeface="IBM Plex Sans" pitchFamily="34" charset="0"/>
                <a:ea typeface="IBM Plex Sans" pitchFamily="34" charset="-122"/>
                <a:cs typeface="IBM Plex Sans" pitchFamily="34" charset="-120"/>
              </a:rPr>
              <a:t>retrieve more</a:t>
            </a:r>
            <a:r>
              <a:rPr lang="en-US" sz="1300" dirty="0">
                <a:solidFill>
                  <a:srgbClr val="4A5568"/>
                </a:solidFill>
                <a:latin typeface="IBM Plex Sans" pitchFamily="34" charset="0"/>
                <a:ea typeface="IBM Plex Sans" pitchFamily="34" charset="-122"/>
                <a:cs typeface="IBM Plex Sans" pitchFamily="34" charset="-120"/>
              </a:rPr>
              <a:t> and </a:t>
            </a:r>
            <a:r>
              <a:rPr lang="en-US" sz="1300" i="1" dirty="0">
                <a:solidFill>
                  <a:srgbClr val="4A5568"/>
                </a:solidFill>
                <a:latin typeface="IBM Plex Sans" pitchFamily="34" charset="0"/>
                <a:ea typeface="IBM Plex Sans" pitchFamily="34" charset="-122"/>
                <a:cs typeface="IBM Plex Sans" pitchFamily="34" charset="-120"/>
              </a:rPr>
              <a:t>spend on docking</a:t>
            </a:r>
            <a:r>
              <a:rPr lang="en-US" sz="1300" dirty="0">
                <a:solidFill>
                  <a:srgbClr val="4A5568"/>
                </a:solidFill>
                <a:latin typeface="IBM Plex Sans" pitchFamily="34" charset="0"/>
                <a:ea typeface="IBM Plex Sans" pitchFamily="34" charset="-122"/>
                <a:cs typeface="IBM Plex Sans" pitchFamily="34" charset="-120"/>
              </a:rPr>
              <a:t>.</a:t>
            </a:r>
            <a:endParaRPr lang="en-US" sz="1300" dirty="0"/>
          </a:p>
        </p:txBody>
      </p:sp>
      <p:sp>
        <p:nvSpPr>
          <p:cNvPr id="11" name="Text 9"/>
          <p:cNvSpPr/>
          <p:nvPr/>
        </p:nvSpPr>
        <p:spPr>
          <a:xfrm>
            <a:off x="4629812" y="3504274"/>
            <a:ext cx="302900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8F98"/>
                </a:solidFill>
                <a:latin typeface="JetBrains Mono" pitchFamily="49" charset="0"/>
                <a:ea typeface="JetBrains Mono" pitchFamily="49" charset="-122"/>
                <a:cs typeface="JetBrains Mono" pitchFamily="49" charset="-120"/>
              </a:rPr>
              <a:t>TRACE · DrugMCTS · CLADD</a:t>
            </a:r>
            <a:endParaRPr lang="en-US" sz="1200" dirty="0"/>
          </a:p>
        </p:txBody>
      </p:sp>
      <p:sp>
        <p:nvSpPr>
          <p:cNvPr id="12" name="Shape 10"/>
          <p:cNvSpPr/>
          <p:nvPr/>
        </p:nvSpPr>
        <p:spPr>
          <a:xfrm>
            <a:off x="7981223" y="1859228"/>
            <a:ext cx="3397978" cy="2091201"/>
          </a:xfrm>
          <a:prstGeom prst="roundRect">
            <a:avLst>
              <a:gd name="adj" fmla="val 4858"/>
            </a:avLst>
          </a:prstGeom>
          <a:solidFill>
            <a:srgbClr val="171A1F"/>
          </a:solidFill>
          <a:ln/>
        </p:spPr>
      </p:sp>
      <p:sp>
        <p:nvSpPr>
          <p:cNvPr id="13" name="Text 11"/>
          <p:cNvSpPr/>
          <p:nvPr/>
        </p:nvSpPr>
        <p:spPr>
          <a:xfrm>
            <a:off x="8209823" y="2087828"/>
            <a:ext cx="3029001"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AFAF8"/>
                </a:solidFill>
                <a:latin typeface="IBM Plex Sans" pitchFamily="34" charset="0"/>
                <a:ea typeface="IBM Plex Sans" pitchFamily="34" charset="-122"/>
                <a:cs typeface="IBM Plex Sans" pitchFamily="34" charset="-120"/>
              </a:rPr>
              <a:t>DrugOrch</a:t>
            </a:r>
            <a:endParaRPr lang="en-US" sz="1600" dirty="0"/>
          </a:p>
        </p:txBody>
      </p:sp>
      <p:sp>
        <p:nvSpPr>
          <p:cNvPr id="14" name="Text 12"/>
          <p:cNvSpPr/>
          <p:nvPr/>
        </p:nvSpPr>
        <p:spPr>
          <a:xfrm>
            <a:off x="8209823" y="2420541"/>
            <a:ext cx="3029001" cy="7683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C3CAD4"/>
                </a:solidFill>
                <a:latin typeface="IBM Plex Sans" pitchFamily="34" charset="0"/>
                <a:ea typeface="IBM Plex Sans" pitchFamily="34" charset="-122"/>
                <a:cs typeface="IBM Plex Sans" pitchFamily="34" charset="-120"/>
              </a:rPr>
              <a:t>Routes </a:t>
            </a:r>
            <a:r>
              <a:rPr lang="en-US" sz="1300" b="1" dirty="0">
                <a:solidFill>
                  <a:srgbClr val="FAFAF8"/>
                </a:solidFill>
                <a:latin typeface="IBM Plex Sans" pitchFamily="34" charset="0"/>
                <a:ea typeface="IBM Plex Sans" pitchFamily="34" charset="-122"/>
                <a:cs typeface="IBM Plex Sans" pitchFamily="34" charset="-120"/>
              </a:rPr>
              <a:t>across</a:t>
            </a:r>
            <a:r>
              <a:rPr lang="en-US" sz="1300" dirty="0">
                <a:solidFill>
                  <a:srgbClr val="C3CAD4"/>
                </a:solidFill>
                <a:latin typeface="IBM Plex Sans" pitchFamily="34" charset="0"/>
                <a:ea typeface="IBM Plex Sans" pitchFamily="34" charset="-122"/>
                <a:cs typeface="IBM Plex Sans" pitchFamily="34" charset="-120"/>
              </a:rPr>
              <a:t> stages, under an explicit budget, with every decision recorded against a ladder of baselines.</a:t>
            </a:r>
            <a:endParaRPr lang="en-US" sz="1300" dirty="0"/>
          </a:p>
        </p:txBody>
      </p:sp>
      <p:sp>
        <p:nvSpPr>
          <p:cNvPr id="15" name="Text 13"/>
          <p:cNvSpPr/>
          <p:nvPr/>
        </p:nvSpPr>
        <p:spPr>
          <a:xfrm>
            <a:off x="8209823" y="3252391"/>
            <a:ext cx="302900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B4E8"/>
                </a:solidFill>
                <a:latin typeface="JetBrains Mono" pitchFamily="49" charset="0"/>
                <a:ea typeface="JetBrains Mono" pitchFamily="49" charset="-122"/>
                <a:cs typeface="JetBrains Mono" pitchFamily="49" charset="-120"/>
              </a:rPr>
              <a:t>this framework</a:t>
            </a:r>
            <a:endParaRPr lang="en-US" sz="1200" dirty="0"/>
          </a:p>
        </p:txBody>
      </p:sp>
      <p:sp>
        <p:nvSpPr>
          <p:cNvPr id="16" name="Text 14"/>
          <p:cNvSpPr/>
          <p:nvPr/>
        </p:nvSpPr>
        <p:spPr>
          <a:xfrm>
            <a:off x="812800" y="6238280"/>
            <a:ext cx="613346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8F98"/>
                </a:solidFill>
                <a:latin typeface="IBM Plex Sans" pitchFamily="34" charset="0"/>
                <a:ea typeface="IBM Plex Sans" pitchFamily="34" charset="-122"/>
                <a:cs typeface="IBM Plex Sans" pitchFamily="34" charset="-120"/>
              </a:rPr>
              <a:t>Evaluation rigour is the weakest part of this literature — that is the opening.</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AF8"/>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71A1F"/>
                </a:solidFill>
                <a:latin typeface="IBM Plex Sans" pitchFamily="34" charset="0"/>
                <a:ea typeface="IBM Plex Sans" pitchFamily="34" charset="-122"/>
                <a:cs typeface="IBM Plex Sans" pitchFamily="34" charset="-120"/>
              </a:rPr>
              <a:t>One loop, repeated until the budget runs out</a:t>
            </a:r>
            <a:endParaRPr lang="en-US" sz="3600" dirty="0"/>
          </a:p>
        </p:txBody>
      </p:sp>
      <p:sp>
        <p:nvSpPr>
          <p:cNvPr id="3" name="Shape 1"/>
          <p:cNvSpPr/>
          <p:nvPr/>
        </p:nvSpPr>
        <p:spPr>
          <a:xfrm>
            <a:off x="815975" y="1598282"/>
            <a:ext cx="2180167" cy="1640218"/>
          </a:xfrm>
          <a:prstGeom prst="roundRect">
            <a:avLst>
              <a:gd name="adj" fmla="val 6001"/>
            </a:avLst>
          </a:prstGeom>
          <a:solidFill>
            <a:srgbClr val="FFFFFF"/>
          </a:solidFill>
          <a:ln w="6350">
            <a:solidFill>
              <a:srgbClr val="DCE0E6"/>
            </a:solidFill>
            <a:prstDash val="solid"/>
          </a:ln>
        </p:spPr>
      </p:sp>
      <p:sp>
        <p:nvSpPr>
          <p:cNvPr id="4" name="Text 2"/>
          <p:cNvSpPr/>
          <p:nvPr/>
        </p:nvSpPr>
        <p:spPr>
          <a:xfrm>
            <a:off x="1020233" y="1802541"/>
            <a:ext cx="1824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A5BB0"/>
                </a:solidFill>
                <a:latin typeface="JetBrains Mono" pitchFamily="49" charset="0"/>
                <a:ea typeface="JetBrains Mono" pitchFamily="49" charset="-122"/>
                <a:cs typeface="JetBrains Mono" pitchFamily="49" charset="-120"/>
              </a:rPr>
              <a:t>1</a:t>
            </a:r>
            <a:endParaRPr lang="en-US" sz="1200" dirty="0"/>
          </a:p>
        </p:txBody>
      </p:sp>
      <p:sp>
        <p:nvSpPr>
          <p:cNvPr id="5" name="Text 3"/>
          <p:cNvSpPr/>
          <p:nvPr/>
        </p:nvSpPr>
        <p:spPr>
          <a:xfrm>
            <a:off x="1020233" y="2079361"/>
            <a:ext cx="182480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71A1F"/>
                </a:solidFill>
                <a:latin typeface="IBM Plex Sans" pitchFamily="34" charset="0"/>
                <a:ea typeface="IBM Plex Sans" pitchFamily="34" charset="-122"/>
                <a:cs typeface="IBM Plex Sans" pitchFamily="34" charset="-120"/>
              </a:rPr>
              <a:t>Look at the state</a:t>
            </a:r>
            <a:endParaRPr lang="en-US" sz="1500" dirty="0"/>
          </a:p>
        </p:txBody>
      </p:sp>
      <p:sp>
        <p:nvSpPr>
          <p:cNvPr id="6" name="Text 4"/>
          <p:cNvSpPr/>
          <p:nvPr/>
        </p:nvSpPr>
        <p:spPr>
          <a:xfrm>
            <a:off x="1020233" y="2371461"/>
            <a:ext cx="1824800" cy="688181"/>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5568"/>
                </a:solidFill>
                <a:latin typeface="IBM Plex Sans" pitchFamily="34" charset="0"/>
                <a:ea typeface="IBM Plex Sans" pitchFamily="34" charset="-122"/>
                <a:cs typeface="IBM Plex Sans" pitchFamily="34" charset="-120"/>
              </a:rPr>
              <a:t>120 molecules, 40 unscored, 60 of 120 units left, stalled 2 rounds.</a:t>
            </a:r>
            <a:endParaRPr lang="en-US" sz="1200" dirty="0"/>
          </a:p>
        </p:txBody>
      </p:sp>
      <p:pic>
        <p:nvPicPr>
          <p:cNvPr id="7" name="Image 0" descr="arrow-right">    </p:cNvPr>
          <p:cNvPicPr>
            <a:picLocks noChangeAspect="1"/>
          </p:cNvPicPr>
          <p:nvPr/>
        </p:nvPicPr>
        <p:blipFill>
          <a:blip r:embed="rId1"/>
          <a:srcRect l="0" r="0" t="0" b="0"/>
          <a:stretch/>
        </p:blipFill>
        <p:spPr>
          <a:xfrm>
            <a:off x="3126317" y="2329458"/>
            <a:ext cx="355600" cy="177800"/>
          </a:xfrm>
          <a:prstGeom prst="rect">
            <a:avLst/>
          </a:prstGeom>
        </p:spPr>
      </p:pic>
      <p:sp>
        <p:nvSpPr>
          <p:cNvPr id="8" name="Shape 5"/>
          <p:cNvSpPr/>
          <p:nvPr/>
        </p:nvSpPr>
        <p:spPr>
          <a:xfrm>
            <a:off x="3612092" y="1598282"/>
            <a:ext cx="2180167" cy="1640218"/>
          </a:xfrm>
          <a:prstGeom prst="roundRect">
            <a:avLst>
              <a:gd name="adj" fmla="val 6001"/>
            </a:avLst>
          </a:prstGeom>
          <a:solidFill>
            <a:srgbClr val="FFFFFF"/>
          </a:solidFill>
          <a:ln w="6350">
            <a:solidFill>
              <a:srgbClr val="DCE0E6"/>
            </a:solidFill>
            <a:prstDash val="solid"/>
          </a:ln>
        </p:spPr>
      </p:sp>
      <p:sp>
        <p:nvSpPr>
          <p:cNvPr id="9" name="Text 6"/>
          <p:cNvSpPr/>
          <p:nvPr/>
        </p:nvSpPr>
        <p:spPr>
          <a:xfrm>
            <a:off x="3816350" y="1802541"/>
            <a:ext cx="1824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A5BB0"/>
                </a:solidFill>
                <a:latin typeface="JetBrains Mono" pitchFamily="49" charset="0"/>
                <a:ea typeface="JetBrains Mono" pitchFamily="49" charset="-122"/>
                <a:cs typeface="JetBrains Mono" pitchFamily="49" charset="-120"/>
              </a:rPr>
              <a:t>2</a:t>
            </a:r>
            <a:endParaRPr lang="en-US" sz="1200" dirty="0"/>
          </a:p>
        </p:txBody>
      </p:sp>
      <p:sp>
        <p:nvSpPr>
          <p:cNvPr id="10" name="Text 7"/>
          <p:cNvSpPr/>
          <p:nvPr/>
        </p:nvSpPr>
        <p:spPr>
          <a:xfrm>
            <a:off x="3816350" y="2079361"/>
            <a:ext cx="182480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71A1F"/>
                </a:solidFill>
                <a:latin typeface="IBM Plex Sans" pitchFamily="34" charset="0"/>
                <a:ea typeface="IBM Plex Sans" pitchFamily="34" charset="-122"/>
                <a:cs typeface="IBM Plex Sans" pitchFamily="34" charset="-120"/>
              </a:rPr>
              <a:t>Choose one action</a:t>
            </a:r>
            <a:endParaRPr lang="en-US" sz="1500" dirty="0"/>
          </a:p>
        </p:txBody>
      </p:sp>
      <p:sp>
        <p:nvSpPr>
          <p:cNvPr id="11" name="Text 8"/>
          <p:cNvSpPr/>
          <p:nvPr/>
        </p:nvSpPr>
        <p:spPr>
          <a:xfrm>
            <a:off x="3816350" y="2371461"/>
            <a:ext cx="1824800" cy="688181"/>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5568"/>
                </a:solidFill>
                <a:latin typeface="IBM Plex Sans" pitchFamily="34" charset="0"/>
                <a:ea typeface="IBM Plex Sans" pitchFamily="34" charset="-122"/>
                <a:cs typeface="IBM Plex Sans" pitchFamily="34" charset="-120"/>
              </a:rPr>
              <a:t>The routing policy picks a subsystem and its parameters, or stops.</a:t>
            </a:r>
            <a:endParaRPr lang="en-US" sz="1200" dirty="0"/>
          </a:p>
        </p:txBody>
      </p:sp>
      <p:pic>
        <p:nvPicPr>
          <p:cNvPr id="12" name="Image 1" descr="arrow-right">    </p:cNvPr>
          <p:cNvPicPr>
            <a:picLocks noChangeAspect="1"/>
          </p:cNvPicPr>
          <p:nvPr/>
        </p:nvPicPr>
        <p:blipFill>
          <a:blip r:embed="rId2"/>
          <a:srcRect l="0" r="0" t="0" b="0"/>
          <a:stretch/>
        </p:blipFill>
        <p:spPr>
          <a:xfrm>
            <a:off x="5922433" y="2329458"/>
            <a:ext cx="355600" cy="177800"/>
          </a:xfrm>
          <a:prstGeom prst="rect">
            <a:avLst/>
          </a:prstGeom>
        </p:spPr>
      </p:pic>
      <p:sp>
        <p:nvSpPr>
          <p:cNvPr id="13" name="Shape 9"/>
          <p:cNvSpPr/>
          <p:nvPr/>
        </p:nvSpPr>
        <p:spPr>
          <a:xfrm>
            <a:off x="6408208" y="1598282"/>
            <a:ext cx="2180167" cy="1640218"/>
          </a:xfrm>
          <a:prstGeom prst="roundRect">
            <a:avLst>
              <a:gd name="adj" fmla="val 6001"/>
            </a:avLst>
          </a:prstGeom>
          <a:solidFill>
            <a:srgbClr val="FFFFFF"/>
          </a:solidFill>
          <a:ln w="6350">
            <a:solidFill>
              <a:srgbClr val="DCE0E6"/>
            </a:solidFill>
            <a:prstDash val="solid"/>
          </a:ln>
        </p:spPr>
      </p:sp>
      <p:sp>
        <p:nvSpPr>
          <p:cNvPr id="14" name="Text 10"/>
          <p:cNvSpPr/>
          <p:nvPr/>
        </p:nvSpPr>
        <p:spPr>
          <a:xfrm>
            <a:off x="6612467" y="1802541"/>
            <a:ext cx="1824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A5BB0"/>
                </a:solidFill>
                <a:latin typeface="JetBrains Mono" pitchFamily="49" charset="0"/>
                <a:ea typeface="JetBrains Mono" pitchFamily="49" charset="-122"/>
                <a:cs typeface="JetBrains Mono" pitchFamily="49" charset="-120"/>
              </a:rPr>
              <a:t>3</a:t>
            </a:r>
            <a:endParaRPr lang="en-US" sz="1200" dirty="0"/>
          </a:p>
        </p:txBody>
      </p:sp>
      <p:sp>
        <p:nvSpPr>
          <p:cNvPr id="15" name="Text 11"/>
          <p:cNvSpPr/>
          <p:nvPr/>
        </p:nvSpPr>
        <p:spPr>
          <a:xfrm>
            <a:off x="6612467" y="2079361"/>
            <a:ext cx="182480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71A1F"/>
                </a:solidFill>
                <a:latin typeface="IBM Plex Sans" pitchFamily="34" charset="0"/>
                <a:ea typeface="IBM Plex Sans" pitchFamily="34" charset="-122"/>
                <a:cs typeface="IBM Plex Sans" pitchFamily="34" charset="-120"/>
              </a:rPr>
              <a:t>Pay and run it</a:t>
            </a:r>
            <a:endParaRPr lang="en-US" sz="1500" dirty="0"/>
          </a:p>
        </p:txBody>
      </p:sp>
      <p:sp>
        <p:nvSpPr>
          <p:cNvPr id="16" name="Text 12"/>
          <p:cNvSpPr/>
          <p:nvPr/>
        </p:nvSpPr>
        <p:spPr>
          <a:xfrm>
            <a:off x="6612467" y="2371461"/>
            <a:ext cx="1824800" cy="688181"/>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5568"/>
                </a:solidFill>
                <a:latin typeface="IBM Plex Sans" pitchFamily="34" charset="0"/>
                <a:ea typeface="IBM Plex Sans" pitchFamily="34" charset="-122"/>
                <a:cs typeface="IBM Plex Sans" pitchFamily="34" charset="-120"/>
              </a:rPr>
              <a:t>Budget is charged, the subsystem runs, results merge into the state.</a:t>
            </a:r>
            <a:endParaRPr lang="en-US" sz="1200" dirty="0"/>
          </a:p>
        </p:txBody>
      </p:sp>
      <p:pic>
        <p:nvPicPr>
          <p:cNvPr id="17" name="Image 2" descr="arrow-right">    </p:cNvPr>
          <p:cNvPicPr>
            <a:picLocks noChangeAspect="1"/>
          </p:cNvPicPr>
          <p:nvPr/>
        </p:nvPicPr>
        <p:blipFill>
          <a:blip r:embed="rId3"/>
          <a:srcRect l="0" r="0" t="0" b="0"/>
          <a:stretch/>
        </p:blipFill>
        <p:spPr>
          <a:xfrm>
            <a:off x="8718550" y="2329458"/>
            <a:ext cx="355600" cy="177800"/>
          </a:xfrm>
          <a:prstGeom prst="rect">
            <a:avLst/>
          </a:prstGeom>
        </p:spPr>
      </p:pic>
      <p:sp>
        <p:nvSpPr>
          <p:cNvPr id="18" name="Shape 13"/>
          <p:cNvSpPr/>
          <p:nvPr/>
        </p:nvSpPr>
        <p:spPr>
          <a:xfrm>
            <a:off x="9201150" y="1599341"/>
            <a:ext cx="2178050" cy="1638102"/>
          </a:xfrm>
          <a:prstGeom prst="roundRect">
            <a:avLst>
              <a:gd name="adj" fmla="val 6202"/>
            </a:avLst>
          </a:prstGeom>
          <a:solidFill>
            <a:srgbClr val="171A1F"/>
          </a:solidFill>
          <a:ln/>
        </p:spPr>
      </p:sp>
      <p:sp>
        <p:nvSpPr>
          <p:cNvPr id="19" name="Text 14"/>
          <p:cNvSpPr/>
          <p:nvPr/>
        </p:nvSpPr>
        <p:spPr>
          <a:xfrm>
            <a:off x="9404350" y="1802541"/>
            <a:ext cx="1824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B4E8"/>
                </a:solidFill>
                <a:latin typeface="JetBrains Mono" pitchFamily="49" charset="0"/>
                <a:ea typeface="JetBrains Mono" pitchFamily="49" charset="-122"/>
                <a:cs typeface="JetBrains Mono" pitchFamily="49" charset="-120"/>
              </a:rPr>
              <a:t>4</a:t>
            </a:r>
            <a:endParaRPr lang="en-US" sz="1200" dirty="0"/>
          </a:p>
        </p:txBody>
      </p:sp>
      <p:sp>
        <p:nvSpPr>
          <p:cNvPr id="20" name="Text 15"/>
          <p:cNvSpPr/>
          <p:nvPr/>
        </p:nvSpPr>
        <p:spPr>
          <a:xfrm>
            <a:off x="9404350" y="2079361"/>
            <a:ext cx="182480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AFAF8"/>
                </a:solidFill>
                <a:latin typeface="IBM Plex Sans" pitchFamily="34" charset="0"/>
                <a:ea typeface="IBM Plex Sans" pitchFamily="34" charset="-122"/>
                <a:cs typeface="IBM Plex Sans" pitchFamily="34" charset="-120"/>
              </a:rPr>
              <a:t>Record why</a:t>
            </a:r>
            <a:endParaRPr lang="en-US" sz="1500" dirty="0"/>
          </a:p>
        </p:txBody>
      </p:sp>
      <p:sp>
        <p:nvSpPr>
          <p:cNvPr id="21" name="Text 16"/>
          <p:cNvSpPr/>
          <p:nvPr/>
        </p:nvSpPr>
        <p:spPr>
          <a:xfrm>
            <a:off x="9404350" y="2371461"/>
            <a:ext cx="1824800" cy="688181"/>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C3CAD4"/>
                </a:solidFill>
                <a:latin typeface="IBM Plex Sans" pitchFamily="34" charset="0"/>
                <a:ea typeface="IBM Plex Sans" pitchFamily="34" charset="-122"/>
                <a:cs typeface="IBM Plex Sans" pitchFamily="34" charset="-120"/>
              </a:rPr>
              <a:t>The decision, what it beat, and the exact state it saw.</a:t>
            </a:r>
            <a:endParaRPr lang="en-US" sz="1200" dirty="0"/>
          </a:p>
        </p:txBody>
      </p:sp>
      <p:sp>
        <p:nvSpPr>
          <p:cNvPr id="22" name="Text 17"/>
          <p:cNvSpPr/>
          <p:nvPr/>
        </p:nvSpPr>
        <p:spPr>
          <a:xfrm>
            <a:off x="812800" y="3521075"/>
            <a:ext cx="9810750" cy="31115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4A5568"/>
                </a:solidFill>
                <a:latin typeface="IBM Plex Sans" pitchFamily="34" charset="0"/>
                <a:ea typeface="IBM Plex Sans" pitchFamily="34" charset="-122"/>
                <a:cs typeface="IBM Plex Sans" pitchFamily="34" charset="-120"/>
              </a:rPr>
              <a:t>Step 4 is the part most systems skip. Without it a run is a result; with it a run is </a:t>
            </a:r>
            <a:r>
              <a:rPr lang="en-US" sz="1500" b="1" dirty="0">
                <a:solidFill>
                  <a:srgbClr val="171A1F"/>
                </a:solidFill>
                <a:latin typeface="IBM Plex Sans" pitchFamily="34" charset="0"/>
                <a:ea typeface="IBM Plex Sans" pitchFamily="34" charset="-122"/>
                <a:cs typeface="IBM Plex Sans" pitchFamily="34" charset="-120"/>
              </a:rPr>
              <a:t>evidence</a:t>
            </a:r>
            <a:r>
              <a:rPr lang="en-US" sz="1500" dirty="0">
                <a:solidFill>
                  <a:srgbClr val="4A5568"/>
                </a:solidFill>
                <a:latin typeface="IBM Plex Sans" pitchFamily="34" charset="0"/>
                <a:ea typeface="IBM Plex Sans" pitchFamily="34" charset="-122"/>
                <a:cs typeface="IBM Plex Sans" pitchFamily="34" charset="-120"/>
              </a:rPr>
              <a:t>.</a:t>
            </a:r>
            <a:endParaRPr lang="en-US" sz="1500" dirty="0"/>
          </a:p>
        </p:txBody>
      </p:sp>
      <p:sp>
        <p:nvSpPr>
          <p:cNvPr id="23" name="Text 18"/>
          <p:cNvSpPr/>
          <p:nvPr/>
        </p:nvSpPr>
        <p:spPr>
          <a:xfrm>
            <a:off x="812800" y="6238280"/>
            <a:ext cx="830024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8F98"/>
                </a:solidFill>
                <a:latin typeface="IBM Plex Sans" pitchFamily="34" charset="0"/>
                <a:ea typeface="IBM Plex Sans" pitchFamily="34" charset="-122"/>
                <a:cs typeface="IBM Plex Sans" pitchFamily="34" charset="-120"/>
              </a:rPr>
              <a:t>One decision, one call, one step — cancellable between steps, streamed to the browser as it happens.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AF8"/>
        </a:solidFill>
      </p:bgPr>
    </p:bg>
    <p:spTree>
      <p:nvGrpSpPr>
        <p:cNvPr id="1" name=""/>
        <p:cNvGrpSpPr/>
        <p:nvPr/>
      </p:nvGrpSpPr>
      <p:grpSpPr>
        <a:xfrm>
          <a:off x="0" y="0"/>
          <a:ext cx="0" cy="0"/>
          <a:chOff x="0" y="0"/>
          <a:chExt cx="0" cy="0"/>
        </a:xfrm>
      </p:grpSpPr>
      <p:sp>
        <p:nvSpPr>
          <p:cNvPr id="2" name="Text 0"/>
          <p:cNvSpPr/>
          <p:nvPr>
            <p:ph type="title"/>
          </p:nvPr>
        </p:nvSpPr>
        <p:spPr>
          <a:xfrm>
            <a:off x="812800" y="711200"/>
            <a:ext cx="8502650"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71A1F"/>
                </a:solidFill>
                <a:latin typeface="IBM Plex Sans" pitchFamily="34" charset="0"/>
                <a:ea typeface="IBM Plex Sans" pitchFamily="34" charset="-122"/>
                <a:cs typeface="IBM Plex Sans" pitchFamily="34" charset="-120"/>
              </a:rPr>
              <a:t>One step, and what moves between the parts</a:t>
            </a:r>
            <a:endParaRPr lang="en-US" sz="3000" dirty="0"/>
          </a:p>
        </p:txBody>
      </p:sp>
      <p:sp>
        <p:nvSpPr>
          <p:cNvPr id="3" name="Text 1"/>
          <p:cNvSpPr/>
          <p:nvPr/>
        </p:nvSpPr>
        <p:spPr>
          <a:xfrm>
            <a:off x="812800" y="1270000"/>
            <a:ext cx="9810750" cy="522552"/>
          </a:xfrm>
          <a:prstGeom prst="rect">
            <a:avLst/>
          </a:prstGeom>
          <a:noFill/>
          <a:ln/>
        </p:spPr>
        <p:txBody>
          <a:bodyPr wrap="square" lIns="0" tIns="0" rIns="0" bIns="0" rtlCol="0" anchor="t">
            <a:normAutofit/>
          </a:bodyPr>
          <a:lstStyle/>
          <a:p>
            <a:pPr algn="l" indent="0" marL="0">
              <a:lnSpc>
                <a:spcPts val="1958"/>
              </a:lnSpc>
              <a:buNone/>
            </a:pPr>
            <a:r>
              <a:rPr lang="en-US" sz="1350" dirty="0">
                <a:solidFill>
                  <a:srgbClr val="4A5568"/>
                </a:solidFill>
                <a:latin typeface="IBM Plex Sans" pitchFamily="34" charset="0"/>
                <a:ea typeface="IBM Plex Sans" pitchFamily="34" charset="-122"/>
                <a:cs typeface="IBM Plex Sans" pitchFamily="34" charset="-120"/>
              </a:rPr>
              <a:t>Each arrow is the only thing that crosses that boundary. Nothing else is shared — which is what makes any one box replaceable.</a:t>
            </a:r>
            <a:endParaRPr lang="en-US" sz="1350" dirty="0"/>
          </a:p>
        </p:txBody>
      </p:sp>
      <p:sp>
        <p:nvSpPr>
          <p:cNvPr id="4" name="Shape 2"/>
          <p:cNvSpPr/>
          <p:nvPr/>
        </p:nvSpPr>
        <p:spPr>
          <a:xfrm>
            <a:off x="815975" y="1908175"/>
            <a:ext cx="1708150" cy="1085850"/>
          </a:xfrm>
          <a:prstGeom prst="roundRect">
            <a:avLst>
              <a:gd name="adj" fmla="val 7895"/>
            </a:avLst>
          </a:prstGeom>
          <a:solidFill>
            <a:srgbClr val="FFFFFF"/>
          </a:solidFill>
          <a:ln w="6350">
            <a:solidFill>
              <a:srgbClr val="DCE0E6"/>
            </a:solidFill>
            <a:prstDash val="solid"/>
          </a:ln>
        </p:spPr>
      </p:sp>
      <p:sp>
        <p:nvSpPr>
          <p:cNvPr id="5" name="Text 3"/>
          <p:cNvSpPr/>
          <p:nvPr/>
        </p:nvSpPr>
        <p:spPr>
          <a:xfrm>
            <a:off x="956733" y="2048934"/>
            <a:ext cx="1477433" cy="230121"/>
          </a:xfrm>
          <a:prstGeom prst="rect">
            <a:avLst/>
          </a:prstGeom>
          <a:noFill/>
          <a:ln/>
        </p:spPr>
        <p:txBody>
          <a:bodyPr wrap="square" lIns="0" tIns="0" rIns="0" bIns="0" rtlCol="0" anchor="t">
            <a:normAutofit/>
          </a:bodyPr>
          <a:lstStyle/>
          <a:p>
            <a:pPr algn="l" indent="0" marL="0">
              <a:lnSpc>
                <a:spcPts val="1622"/>
              </a:lnSpc>
              <a:buNone/>
            </a:pPr>
            <a:r>
              <a:rPr lang="en-US" sz="1159" dirty="0">
                <a:solidFill>
                  <a:srgbClr val="2A5BB0"/>
                </a:solidFill>
                <a:latin typeface="JetBrains Mono" pitchFamily="49" charset="0"/>
                <a:ea typeface="JetBrains Mono" pitchFamily="49" charset="-122"/>
                <a:cs typeface="JetBrains Mono" pitchFamily="49" charset="-120"/>
              </a:rPr>
              <a:t>1</a:t>
            </a:r>
            <a:endParaRPr lang="en-US" sz="1159" dirty="0"/>
          </a:p>
        </p:txBody>
      </p:sp>
      <p:sp>
        <p:nvSpPr>
          <p:cNvPr id="6" name="Text 4"/>
          <p:cNvSpPr/>
          <p:nvPr/>
        </p:nvSpPr>
        <p:spPr>
          <a:xfrm>
            <a:off x="956733" y="2253655"/>
            <a:ext cx="1477433" cy="230121"/>
          </a:xfrm>
          <a:prstGeom prst="rect">
            <a:avLst/>
          </a:prstGeom>
          <a:noFill/>
          <a:ln/>
        </p:spPr>
        <p:txBody>
          <a:bodyPr wrap="square" lIns="0" tIns="0" rIns="0" bIns="0" rtlCol="0" anchor="t">
            <a:normAutofit/>
          </a:bodyPr>
          <a:lstStyle/>
          <a:p>
            <a:pPr algn="l" indent="0" marL="0">
              <a:lnSpc>
                <a:spcPts val="1622"/>
              </a:lnSpc>
              <a:buNone/>
            </a:pPr>
            <a:r>
              <a:rPr lang="en-US" sz="1352" b="1" dirty="0">
                <a:solidFill>
                  <a:srgbClr val="171A1F"/>
                </a:solidFill>
                <a:latin typeface="IBM Plex Sans" pitchFamily="34" charset="0"/>
                <a:ea typeface="IBM Plex Sans" pitchFamily="34" charset="-122"/>
                <a:cs typeface="IBM Plex Sans" pitchFamily="34" charset="-120"/>
              </a:rPr>
              <a:t>RunState</a:t>
            </a:r>
            <a:endParaRPr lang="en-US" sz="1352" dirty="0"/>
          </a:p>
        </p:txBody>
      </p:sp>
      <p:sp>
        <p:nvSpPr>
          <p:cNvPr id="7" name="Text 5"/>
          <p:cNvSpPr/>
          <p:nvPr/>
        </p:nvSpPr>
        <p:spPr>
          <a:xfrm>
            <a:off x="956733" y="2458377"/>
            <a:ext cx="1477433" cy="420291"/>
          </a:xfrm>
          <a:prstGeom prst="rect">
            <a:avLst/>
          </a:prstGeom>
          <a:noFill/>
          <a:ln/>
        </p:spPr>
        <p:txBody>
          <a:bodyPr wrap="square" lIns="0" tIns="0" rIns="0" bIns="0" rtlCol="0" anchor="t">
            <a:normAutofit/>
          </a:bodyPr>
          <a:lstStyle/>
          <a:p>
            <a:pPr algn="l" indent="0" marL="0">
              <a:lnSpc>
                <a:spcPts val="1559"/>
              </a:lnSpc>
              <a:buNone/>
            </a:pPr>
            <a:r>
              <a:rPr lang="en-US" sz="1155" dirty="0">
                <a:solidFill>
                  <a:srgbClr val="4A5568"/>
                </a:solidFill>
                <a:latin typeface="IBM Plex Sans" pitchFamily="34" charset="0"/>
                <a:ea typeface="IBM Plex Sans" pitchFamily="34" charset="-122"/>
                <a:cs typeface="IBM Plex Sans" pitchFamily="34" charset="-120"/>
              </a:rPr>
              <a:t>molecules, budget, facts, history</a:t>
            </a:r>
            <a:endParaRPr lang="en-US" sz="1155" dirty="0"/>
          </a:p>
        </p:txBody>
      </p:sp>
      <p:sp>
        <p:nvSpPr>
          <p:cNvPr id="8" name="Shape 6"/>
          <p:cNvSpPr/>
          <p:nvPr/>
        </p:nvSpPr>
        <p:spPr>
          <a:xfrm>
            <a:off x="2924175" y="1908175"/>
            <a:ext cx="1708150" cy="1085850"/>
          </a:xfrm>
          <a:prstGeom prst="roundRect">
            <a:avLst>
              <a:gd name="adj" fmla="val 7895"/>
            </a:avLst>
          </a:prstGeom>
          <a:solidFill>
            <a:srgbClr val="FFFFFF"/>
          </a:solidFill>
          <a:ln w="6350">
            <a:solidFill>
              <a:srgbClr val="DCE0E6"/>
            </a:solidFill>
            <a:prstDash val="solid"/>
          </a:ln>
        </p:spPr>
      </p:sp>
      <p:sp>
        <p:nvSpPr>
          <p:cNvPr id="9" name="Text 7"/>
          <p:cNvSpPr/>
          <p:nvPr/>
        </p:nvSpPr>
        <p:spPr>
          <a:xfrm>
            <a:off x="3064933" y="2048934"/>
            <a:ext cx="1477433" cy="230121"/>
          </a:xfrm>
          <a:prstGeom prst="rect">
            <a:avLst/>
          </a:prstGeom>
          <a:noFill/>
          <a:ln/>
        </p:spPr>
        <p:txBody>
          <a:bodyPr wrap="square" lIns="0" tIns="0" rIns="0" bIns="0" rtlCol="0" anchor="t">
            <a:normAutofit/>
          </a:bodyPr>
          <a:lstStyle/>
          <a:p>
            <a:pPr algn="l" indent="0" marL="0">
              <a:lnSpc>
                <a:spcPts val="1622"/>
              </a:lnSpc>
              <a:buNone/>
            </a:pPr>
            <a:r>
              <a:rPr lang="en-US" sz="1159" dirty="0">
                <a:solidFill>
                  <a:srgbClr val="5739AE"/>
                </a:solidFill>
                <a:latin typeface="JetBrains Mono" pitchFamily="49" charset="0"/>
                <a:ea typeface="JetBrains Mono" pitchFamily="49" charset="-122"/>
                <a:cs typeface="JetBrains Mono" pitchFamily="49" charset="-120"/>
              </a:rPr>
              <a:t>2</a:t>
            </a:r>
            <a:endParaRPr lang="en-US" sz="1159" dirty="0"/>
          </a:p>
        </p:txBody>
      </p:sp>
      <p:sp>
        <p:nvSpPr>
          <p:cNvPr id="10" name="Text 8"/>
          <p:cNvSpPr/>
          <p:nvPr/>
        </p:nvSpPr>
        <p:spPr>
          <a:xfrm>
            <a:off x="3064933" y="2253655"/>
            <a:ext cx="1477433" cy="230121"/>
          </a:xfrm>
          <a:prstGeom prst="rect">
            <a:avLst/>
          </a:prstGeom>
          <a:noFill/>
          <a:ln/>
        </p:spPr>
        <p:txBody>
          <a:bodyPr wrap="square" lIns="0" tIns="0" rIns="0" bIns="0" rtlCol="0" anchor="t">
            <a:normAutofit/>
          </a:bodyPr>
          <a:lstStyle/>
          <a:p>
            <a:pPr algn="l" indent="0" marL="0">
              <a:lnSpc>
                <a:spcPts val="1622"/>
              </a:lnSpc>
              <a:buNone/>
            </a:pPr>
            <a:r>
              <a:rPr lang="en-US" sz="1352" b="1" dirty="0">
                <a:solidFill>
                  <a:srgbClr val="171A1F"/>
                </a:solidFill>
                <a:latin typeface="IBM Plex Sans" pitchFamily="34" charset="0"/>
                <a:ea typeface="IBM Plex Sans" pitchFamily="34" charset="-122"/>
                <a:cs typeface="IBM Plex Sans" pitchFamily="34" charset="-120"/>
              </a:rPr>
              <a:t>Policy</a:t>
            </a:r>
            <a:endParaRPr lang="en-US" sz="1352" dirty="0"/>
          </a:p>
        </p:txBody>
      </p:sp>
      <p:sp>
        <p:nvSpPr>
          <p:cNvPr id="11" name="Text 9"/>
          <p:cNvSpPr/>
          <p:nvPr/>
        </p:nvSpPr>
        <p:spPr>
          <a:xfrm>
            <a:off x="3064933" y="2458377"/>
            <a:ext cx="1477433" cy="420291"/>
          </a:xfrm>
          <a:prstGeom prst="rect">
            <a:avLst/>
          </a:prstGeom>
          <a:noFill/>
          <a:ln/>
        </p:spPr>
        <p:txBody>
          <a:bodyPr wrap="square" lIns="0" tIns="0" rIns="0" bIns="0" rtlCol="0" anchor="t">
            <a:normAutofit/>
          </a:bodyPr>
          <a:lstStyle/>
          <a:p>
            <a:pPr algn="l" indent="0" marL="0">
              <a:lnSpc>
                <a:spcPts val="1559"/>
              </a:lnSpc>
              <a:buNone/>
            </a:pPr>
            <a:r>
              <a:rPr lang="en-US" sz="1155" dirty="0">
                <a:solidFill>
                  <a:srgbClr val="4A5568"/>
                </a:solidFill>
                <a:latin typeface="IBM Plex Sans" pitchFamily="34" charset="0"/>
                <a:ea typeface="IBM Plex Sans" pitchFamily="34" charset="-122"/>
                <a:cs typeface="IBM Plex Sans" pitchFamily="34" charset="-120"/>
              </a:rPr>
              <a:t>fixed · scripted · llm · …</a:t>
            </a:r>
            <a:endParaRPr lang="en-US" sz="1155" dirty="0"/>
          </a:p>
        </p:txBody>
      </p:sp>
      <p:sp>
        <p:nvSpPr>
          <p:cNvPr id="12" name="Shape 10"/>
          <p:cNvSpPr/>
          <p:nvPr/>
        </p:nvSpPr>
        <p:spPr>
          <a:xfrm>
            <a:off x="5032375" y="1908175"/>
            <a:ext cx="1708150" cy="1085850"/>
          </a:xfrm>
          <a:prstGeom prst="roundRect">
            <a:avLst>
              <a:gd name="adj" fmla="val 7895"/>
            </a:avLst>
          </a:prstGeom>
          <a:solidFill>
            <a:srgbClr val="FFFFFF"/>
          </a:solidFill>
          <a:ln w="6350">
            <a:solidFill>
              <a:srgbClr val="DCE0E6"/>
            </a:solidFill>
            <a:prstDash val="solid"/>
          </a:ln>
        </p:spPr>
      </p:sp>
      <p:sp>
        <p:nvSpPr>
          <p:cNvPr id="13" name="Text 11"/>
          <p:cNvSpPr/>
          <p:nvPr/>
        </p:nvSpPr>
        <p:spPr>
          <a:xfrm>
            <a:off x="5173133" y="2048934"/>
            <a:ext cx="1477433" cy="230121"/>
          </a:xfrm>
          <a:prstGeom prst="rect">
            <a:avLst/>
          </a:prstGeom>
          <a:noFill/>
          <a:ln/>
        </p:spPr>
        <p:txBody>
          <a:bodyPr wrap="square" lIns="0" tIns="0" rIns="0" bIns="0" rtlCol="0" anchor="t">
            <a:normAutofit/>
          </a:bodyPr>
          <a:lstStyle/>
          <a:p>
            <a:pPr algn="l" indent="0" marL="0">
              <a:lnSpc>
                <a:spcPts val="1622"/>
              </a:lnSpc>
              <a:buNone/>
            </a:pPr>
            <a:r>
              <a:rPr lang="en-US" sz="1159" dirty="0">
                <a:solidFill>
                  <a:srgbClr val="8A5F15"/>
                </a:solidFill>
                <a:latin typeface="JetBrains Mono" pitchFamily="49" charset="0"/>
                <a:ea typeface="JetBrains Mono" pitchFamily="49" charset="-122"/>
                <a:cs typeface="JetBrains Mono" pitchFamily="49" charset="-120"/>
              </a:rPr>
              <a:t>3</a:t>
            </a:r>
            <a:endParaRPr lang="en-US" sz="1159" dirty="0"/>
          </a:p>
        </p:txBody>
      </p:sp>
      <p:sp>
        <p:nvSpPr>
          <p:cNvPr id="14" name="Text 12"/>
          <p:cNvSpPr/>
          <p:nvPr/>
        </p:nvSpPr>
        <p:spPr>
          <a:xfrm>
            <a:off x="5173133" y="2253655"/>
            <a:ext cx="1477433" cy="230121"/>
          </a:xfrm>
          <a:prstGeom prst="rect">
            <a:avLst/>
          </a:prstGeom>
          <a:noFill/>
          <a:ln/>
        </p:spPr>
        <p:txBody>
          <a:bodyPr wrap="square" lIns="0" tIns="0" rIns="0" bIns="0" rtlCol="0" anchor="t">
            <a:normAutofit/>
          </a:bodyPr>
          <a:lstStyle/>
          <a:p>
            <a:pPr algn="l" indent="0" marL="0">
              <a:lnSpc>
                <a:spcPts val="1622"/>
              </a:lnSpc>
              <a:buNone/>
            </a:pPr>
            <a:r>
              <a:rPr lang="en-US" sz="1352" b="1" dirty="0">
                <a:solidFill>
                  <a:srgbClr val="171A1F"/>
                </a:solidFill>
                <a:latin typeface="IBM Plex Sans" pitchFamily="34" charset="0"/>
                <a:ea typeface="IBM Plex Sans" pitchFamily="34" charset="-122"/>
                <a:cs typeface="IBM Plex Sans" pitchFamily="34" charset="-120"/>
              </a:rPr>
              <a:t>Budget</a:t>
            </a:r>
            <a:endParaRPr lang="en-US" sz="1352" dirty="0"/>
          </a:p>
        </p:txBody>
      </p:sp>
      <p:sp>
        <p:nvSpPr>
          <p:cNvPr id="15" name="Text 13"/>
          <p:cNvSpPr/>
          <p:nvPr/>
        </p:nvSpPr>
        <p:spPr>
          <a:xfrm>
            <a:off x="5173133" y="2458377"/>
            <a:ext cx="1477433" cy="420291"/>
          </a:xfrm>
          <a:prstGeom prst="rect">
            <a:avLst/>
          </a:prstGeom>
          <a:noFill/>
          <a:ln/>
        </p:spPr>
        <p:txBody>
          <a:bodyPr wrap="square" lIns="0" tIns="0" rIns="0" bIns="0" rtlCol="0" anchor="t">
            <a:normAutofit/>
          </a:bodyPr>
          <a:lstStyle/>
          <a:p>
            <a:pPr algn="l" indent="0" marL="0">
              <a:lnSpc>
                <a:spcPts val="1559"/>
              </a:lnSpc>
              <a:buNone/>
            </a:pPr>
            <a:r>
              <a:rPr lang="en-US" sz="1155" dirty="0">
                <a:solidFill>
                  <a:srgbClr val="4A5568"/>
                </a:solidFill>
                <a:latin typeface="IBM Plex Sans" pitchFamily="34" charset="0"/>
                <a:ea typeface="IBM Plex Sans" pitchFamily="34" charset="-122"/>
                <a:cs typeface="IBM Plex Sans" pitchFamily="34" charset="-120"/>
              </a:rPr>
              <a:t>charges unique molecules</a:t>
            </a:r>
            <a:endParaRPr lang="en-US" sz="1155" dirty="0"/>
          </a:p>
        </p:txBody>
      </p:sp>
      <p:sp>
        <p:nvSpPr>
          <p:cNvPr id="16" name="Shape 14"/>
          <p:cNvSpPr/>
          <p:nvPr/>
        </p:nvSpPr>
        <p:spPr>
          <a:xfrm>
            <a:off x="7140575" y="1908175"/>
            <a:ext cx="1708150" cy="1085850"/>
          </a:xfrm>
          <a:prstGeom prst="roundRect">
            <a:avLst>
              <a:gd name="adj" fmla="val 7895"/>
            </a:avLst>
          </a:prstGeom>
          <a:solidFill>
            <a:srgbClr val="FFFFFF"/>
          </a:solidFill>
          <a:ln w="6350">
            <a:solidFill>
              <a:srgbClr val="DCE0E6"/>
            </a:solidFill>
            <a:prstDash val="solid"/>
          </a:ln>
        </p:spPr>
      </p:sp>
      <p:sp>
        <p:nvSpPr>
          <p:cNvPr id="17" name="Text 15"/>
          <p:cNvSpPr/>
          <p:nvPr/>
        </p:nvSpPr>
        <p:spPr>
          <a:xfrm>
            <a:off x="7281334" y="2048934"/>
            <a:ext cx="147743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16358"/>
                </a:solidFill>
                <a:latin typeface="JetBrains Mono" pitchFamily="49" charset="0"/>
                <a:ea typeface="JetBrains Mono" pitchFamily="49" charset="-122"/>
                <a:cs typeface="JetBrains Mono" pitchFamily="49" charset="-120"/>
              </a:rPr>
              <a:t>4</a:t>
            </a:r>
            <a:endParaRPr lang="en-US" sz="1200" dirty="0"/>
          </a:p>
        </p:txBody>
      </p:sp>
      <p:sp>
        <p:nvSpPr>
          <p:cNvPr id="18" name="Text 16"/>
          <p:cNvSpPr/>
          <p:nvPr/>
        </p:nvSpPr>
        <p:spPr>
          <a:xfrm>
            <a:off x="7281334" y="2262254"/>
            <a:ext cx="1477433"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71A1F"/>
                </a:solidFill>
                <a:latin typeface="IBM Plex Sans" pitchFamily="34" charset="0"/>
                <a:ea typeface="IBM Plex Sans" pitchFamily="34" charset="-122"/>
                <a:cs typeface="IBM Plex Sans" pitchFamily="34" charset="-120"/>
              </a:rPr>
              <a:t>Subsystem</a:t>
            </a:r>
            <a:endParaRPr lang="en-US" sz="1400" dirty="0"/>
          </a:p>
        </p:txBody>
      </p:sp>
      <p:sp>
        <p:nvSpPr>
          <p:cNvPr id="19" name="Text 17"/>
          <p:cNvSpPr/>
          <p:nvPr/>
        </p:nvSpPr>
        <p:spPr>
          <a:xfrm>
            <a:off x="7281334" y="2475574"/>
            <a:ext cx="1532466" cy="231114"/>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568"/>
                </a:solidFill>
                <a:latin typeface="IBM Plex Sans" pitchFamily="34" charset="0"/>
                <a:ea typeface="IBM Plex Sans" pitchFamily="34" charset="-122"/>
                <a:cs typeface="IBM Plex Sans" pitchFamily="34" charset="-120"/>
              </a:rPr>
              <a:t>does the actual work</a:t>
            </a:r>
            <a:endParaRPr lang="en-US" sz="1200" dirty="0"/>
          </a:p>
        </p:txBody>
      </p:sp>
      <p:sp>
        <p:nvSpPr>
          <p:cNvPr id="20" name="Shape 18"/>
          <p:cNvSpPr/>
          <p:nvPr/>
        </p:nvSpPr>
        <p:spPr>
          <a:xfrm>
            <a:off x="9245600" y="1905000"/>
            <a:ext cx="1714500" cy="1092200"/>
          </a:xfrm>
          <a:prstGeom prst="roundRect">
            <a:avLst>
              <a:gd name="adj" fmla="val 8140"/>
            </a:avLst>
          </a:prstGeom>
          <a:solidFill>
            <a:srgbClr val="171A1F"/>
          </a:solidFill>
          <a:ln/>
        </p:spPr>
      </p:sp>
      <p:sp>
        <p:nvSpPr>
          <p:cNvPr id="21" name="Text 19"/>
          <p:cNvSpPr/>
          <p:nvPr/>
        </p:nvSpPr>
        <p:spPr>
          <a:xfrm>
            <a:off x="9385300" y="2044700"/>
            <a:ext cx="14859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B4E8"/>
                </a:solidFill>
                <a:latin typeface="JetBrains Mono" pitchFamily="49" charset="0"/>
                <a:ea typeface="JetBrains Mono" pitchFamily="49" charset="-122"/>
                <a:cs typeface="JetBrains Mono" pitchFamily="49" charset="-120"/>
              </a:rPr>
              <a:t>5</a:t>
            </a:r>
            <a:endParaRPr lang="en-US" sz="1200" dirty="0"/>
          </a:p>
        </p:txBody>
      </p:sp>
      <p:sp>
        <p:nvSpPr>
          <p:cNvPr id="22" name="Text 20"/>
          <p:cNvSpPr/>
          <p:nvPr/>
        </p:nvSpPr>
        <p:spPr>
          <a:xfrm>
            <a:off x="9385300" y="2258020"/>
            <a:ext cx="148590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AFAF8"/>
                </a:solidFill>
                <a:latin typeface="IBM Plex Sans" pitchFamily="34" charset="0"/>
                <a:ea typeface="IBM Plex Sans" pitchFamily="34" charset="-122"/>
                <a:cs typeface="IBM Plex Sans" pitchFamily="34" charset="-120"/>
              </a:rPr>
              <a:t>Merge</a:t>
            </a:r>
            <a:endParaRPr lang="en-US" sz="1400" dirty="0"/>
          </a:p>
        </p:txBody>
      </p:sp>
      <p:sp>
        <p:nvSpPr>
          <p:cNvPr id="23" name="Text 21"/>
          <p:cNvSpPr/>
          <p:nvPr/>
        </p:nvSpPr>
        <p:spPr>
          <a:xfrm>
            <a:off x="9385300" y="2471341"/>
            <a:ext cx="1485900" cy="231114"/>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C3CAD4"/>
                </a:solidFill>
                <a:latin typeface="IBM Plex Sans" pitchFamily="34" charset="0"/>
                <a:ea typeface="IBM Plex Sans" pitchFamily="34" charset="-122"/>
                <a:cs typeface="IBM Plex Sans" pitchFamily="34" charset="-120"/>
              </a:rPr>
              <a:t>back into the state</a:t>
            </a:r>
            <a:endParaRPr lang="en-US" sz="1200" dirty="0"/>
          </a:p>
        </p:txBody>
      </p:sp>
      <p:pic>
        <p:nvPicPr>
          <p:cNvPr id="24" name="Image 0" descr="connector">    </p:cNvPr>
          <p:cNvPicPr>
            <a:picLocks noChangeAspect="1"/>
          </p:cNvPicPr>
          <p:nvPr/>
        </p:nvPicPr>
        <p:blipFill>
          <a:blip r:embed="rId1"/>
          <a:srcRect l="0" r="0" t="0" b="0"/>
          <a:stretch/>
        </p:blipFill>
        <p:spPr>
          <a:xfrm>
            <a:off x="2489200" y="2413000"/>
            <a:ext cx="469900" cy="76200"/>
          </a:xfrm>
          <a:prstGeom prst="rect">
            <a:avLst/>
          </a:prstGeom>
        </p:spPr>
      </p:pic>
      <p:pic>
        <p:nvPicPr>
          <p:cNvPr id="25" name="Image 1" descr="connector">    </p:cNvPr>
          <p:cNvPicPr>
            <a:picLocks noChangeAspect="1"/>
          </p:cNvPicPr>
          <p:nvPr/>
        </p:nvPicPr>
        <p:blipFill>
          <a:blip r:embed="rId2"/>
          <a:srcRect l="0" r="0" t="0" b="0"/>
          <a:stretch/>
        </p:blipFill>
        <p:spPr>
          <a:xfrm>
            <a:off x="4597400" y="2413000"/>
            <a:ext cx="469900" cy="76200"/>
          </a:xfrm>
          <a:prstGeom prst="rect">
            <a:avLst/>
          </a:prstGeom>
        </p:spPr>
      </p:pic>
      <p:pic>
        <p:nvPicPr>
          <p:cNvPr id="26" name="Image 2" descr="connector">    </p:cNvPr>
          <p:cNvPicPr>
            <a:picLocks noChangeAspect="1"/>
          </p:cNvPicPr>
          <p:nvPr/>
        </p:nvPicPr>
        <p:blipFill>
          <a:blip r:embed="rId3"/>
          <a:srcRect l="0" r="0" t="0" b="0"/>
          <a:stretch/>
        </p:blipFill>
        <p:spPr>
          <a:xfrm>
            <a:off x="6705600" y="2413000"/>
            <a:ext cx="469900" cy="76200"/>
          </a:xfrm>
          <a:prstGeom prst="rect">
            <a:avLst/>
          </a:prstGeom>
        </p:spPr>
      </p:pic>
      <p:pic>
        <p:nvPicPr>
          <p:cNvPr id="27" name="Image 3" descr="connector">    </p:cNvPr>
          <p:cNvPicPr>
            <a:picLocks noChangeAspect="1"/>
          </p:cNvPicPr>
          <p:nvPr/>
        </p:nvPicPr>
        <p:blipFill>
          <a:blip r:embed="rId4"/>
          <a:srcRect l="0" r="0" t="0" b="0"/>
          <a:stretch/>
        </p:blipFill>
        <p:spPr>
          <a:xfrm>
            <a:off x="8813800" y="2413000"/>
            <a:ext cx="469900" cy="76200"/>
          </a:xfrm>
          <a:prstGeom prst="rect">
            <a:avLst/>
          </a:prstGeom>
        </p:spPr>
      </p:pic>
      <p:sp>
        <p:nvSpPr>
          <p:cNvPr id="28" name="Text 22"/>
          <p:cNvSpPr/>
          <p:nvPr/>
        </p:nvSpPr>
        <p:spPr>
          <a:xfrm>
            <a:off x="2387600" y="3124200"/>
            <a:ext cx="1320800" cy="220927"/>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2A5BB0"/>
                </a:solidFill>
                <a:latin typeface="JetBrains Mono" pitchFamily="49" charset="0"/>
                <a:ea typeface="JetBrains Mono" pitchFamily="49" charset="-122"/>
                <a:cs typeface="JetBrains Mono" pitchFamily="49" charset="-120"/>
              </a:rPr>
              <a:t>summary()</a:t>
            </a:r>
            <a:endParaRPr lang="en-US" sz="1100" dirty="0"/>
          </a:p>
        </p:txBody>
      </p:sp>
      <p:sp>
        <p:nvSpPr>
          <p:cNvPr id="29" name="Text 23"/>
          <p:cNvSpPr/>
          <p:nvPr/>
        </p:nvSpPr>
        <p:spPr>
          <a:xfrm>
            <a:off x="4521200" y="3124200"/>
            <a:ext cx="1320800" cy="220927"/>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5739AE"/>
                </a:solidFill>
                <a:latin typeface="JetBrains Mono" pitchFamily="49" charset="0"/>
                <a:ea typeface="JetBrains Mono" pitchFamily="49" charset="-122"/>
                <a:cs typeface="JetBrains Mono" pitchFamily="49" charset="-120"/>
              </a:rPr>
              <a:t>Decision</a:t>
            </a:r>
            <a:endParaRPr lang="en-US" sz="1100" dirty="0"/>
          </a:p>
        </p:txBody>
      </p:sp>
      <p:sp>
        <p:nvSpPr>
          <p:cNvPr id="30" name="Text 24"/>
          <p:cNvSpPr/>
          <p:nvPr/>
        </p:nvSpPr>
        <p:spPr>
          <a:xfrm>
            <a:off x="6604000" y="3124200"/>
            <a:ext cx="1320800" cy="220927"/>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8A5F15"/>
                </a:solidFill>
                <a:latin typeface="JetBrains Mono" pitchFamily="49" charset="0"/>
                <a:ea typeface="JetBrains Mono" pitchFamily="49" charset="-122"/>
                <a:cs typeface="JetBrains Mono" pitchFamily="49" charset="-120"/>
              </a:rPr>
              <a:t>charge()</a:t>
            </a:r>
            <a:endParaRPr lang="en-US" sz="1100" dirty="0"/>
          </a:p>
        </p:txBody>
      </p:sp>
      <p:sp>
        <p:nvSpPr>
          <p:cNvPr id="31" name="Text 25"/>
          <p:cNvSpPr/>
          <p:nvPr/>
        </p:nvSpPr>
        <p:spPr>
          <a:xfrm>
            <a:off x="8636000" y="3124200"/>
            <a:ext cx="1447800" cy="220927"/>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116358"/>
                </a:solidFill>
                <a:latin typeface="JetBrains Mono" pitchFamily="49" charset="0"/>
                <a:ea typeface="JetBrains Mono" pitchFamily="49" charset="-122"/>
                <a:cs typeface="JetBrains Mono" pitchFamily="49" charset="-120"/>
              </a:rPr>
              <a:t>Result</a:t>
            </a:r>
            <a:endParaRPr lang="en-US" sz="1100" dirty="0"/>
          </a:p>
        </p:txBody>
      </p:sp>
      <p:pic>
        <p:nvPicPr>
          <p:cNvPr id="32" name="Image 4" descr="connector">    </p:cNvPr>
          <p:cNvPicPr>
            <a:picLocks noChangeAspect="1"/>
          </p:cNvPicPr>
          <p:nvPr/>
        </p:nvPicPr>
        <p:blipFill>
          <a:blip r:embed="rId5"/>
          <a:srcRect l="0" r="0" t="0" b="0"/>
          <a:stretch/>
        </p:blipFill>
        <p:spPr>
          <a:xfrm>
            <a:off x="10064750" y="2959100"/>
            <a:ext cx="76200" cy="762000"/>
          </a:xfrm>
          <a:prstGeom prst="rect">
            <a:avLst/>
          </a:prstGeom>
        </p:spPr>
      </p:pic>
      <p:pic>
        <p:nvPicPr>
          <p:cNvPr id="33" name="Image 5" descr="connector">    </p:cNvPr>
          <p:cNvPicPr>
            <a:picLocks noChangeAspect="1"/>
          </p:cNvPicPr>
          <p:nvPr/>
        </p:nvPicPr>
        <p:blipFill>
          <a:blip r:embed="rId6"/>
          <a:srcRect l="0" r="0" t="0" b="0"/>
          <a:stretch/>
        </p:blipFill>
        <p:spPr>
          <a:xfrm>
            <a:off x="1631950" y="3644900"/>
            <a:ext cx="8509000" cy="76200"/>
          </a:xfrm>
          <a:prstGeom prst="rect">
            <a:avLst/>
          </a:prstGeom>
        </p:spPr>
      </p:pic>
      <p:pic>
        <p:nvPicPr>
          <p:cNvPr id="34" name="Image 6" descr="connector">    </p:cNvPr>
          <p:cNvPicPr>
            <a:picLocks noChangeAspect="1"/>
          </p:cNvPicPr>
          <p:nvPr/>
        </p:nvPicPr>
        <p:blipFill>
          <a:blip r:embed="rId7"/>
          <a:srcRect l="0" r="0" t="0" b="0"/>
          <a:stretch/>
        </p:blipFill>
        <p:spPr>
          <a:xfrm>
            <a:off x="1631950" y="2997200"/>
            <a:ext cx="76200" cy="723900"/>
          </a:xfrm>
          <a:prstGeom prst="rect">
            <a:avLst/>
          </a:prstGeom>
        </p:spPr>
      </p:pic>
      <p:sp>
        <p:nvSpPr>
          <p:cNvPr id="35" name="Text 26"/>
          <p:cNvSpPr/>
          <p:nvPr/>
        </p:nvSpPr>
        <p:spPr>
          <a:xfrm>
            <a:off x="4512945" y="3784600"/>
            <a:ext cx="274701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8A8F98"/>
                </a:solidFill>
                <a:latin typeface="IBM Plex Sans" pitchFamily="34" charset="0"/>
                <a:ea typeface="IBM Plex Sans" pitchFamily="34" charset="-122"/>
                <a:cs typeface="IBM Plex Sans" pitchFamily="34" charset="-120"/>
              </a:rPr>
              <a:t>repeat until the budget is gone</a:t>
            </a:r>
            <a:endParaRPr lang="en-US" sz="1200" dirty="0"/>
          </a:p>
        </p:txBody>
      </p:sp>
      <p:sp>
        <p:nvSpPr>
          <p:cNvPr id="36" name="Shape 27"/>
          <p:cNvSpPr/>
          <p:nvPr/>
        </p:nvSpPr>
        <p:spPr>
          <a:xfrm>
            <a:off x="815975" y="4219575"/>
            <a:ext cx="4819650" cy="946150"/>
          </a:xfrm>
          <a:prstGeom prst="roundRect">
            <a:avLst>
              <a:gd name="adj" fmla="val 9060"/>
            </a:avLst>
          </a:prstGeom>
          <a:solidFill>
            <a:srgbClr val="FFFFFF"/>
          </a:solidFill>
          <a:ln w="6350">
            <a:solidFill>
              <a:srgbClr val="DCE0E6"/>
            </a:solidFill>
            <a:prstDash val="solid"/>
          </a:ln>
        </p:spPr>
      </p:sp>
      <p:sp>
        <p:nvSpPr>
          <p:cNvPr id="37" name="Text 28"/>
          <p:cNvSpPr/>
          <p:nvPr/>
        </p:nvSpPr>
        <p:spPr>
          <a:xfrm>
            <a:off x="969433" y="4373034"/>
            <a:ext cx="4648115" cy="180314"/>
          </a:xfrm>
          <a:prstGeom prst="rect">
            <a:avLst/>
          </a:prstGeom>
          <a:noFill/>
          <a:ln/>
        </p:spPr>
        <p:txBody>
          <a:bodyPr wrap="square" lIns="0" tIns="0" rIns="0" bIns="0" rtlCol="0" anchor="t">
            <a:normAutofit/>
          </a:bodyPr>
          <a:lstStyle/>
          <a:p>
            <a:pPr algn="l" indent="0" marL="0">
              <a:lnSpc>
                <a:spcPts val="1223"/>
              </a:lnSpc>
              <a:buNone/>
            </a:pPr>
            <a:r>
              <a:rPr lang="en-US" sz="1019" b="1" dirty="0">
                <a:solidFill>
                  <a:srgbClr val="2A5BB0"/>
                </a:solidFill>
                <a:latin typeface="IBM Plex Sans" pitchFamily="34" charset="0"/>
                <a:ea typeface="IBM Plex Sans" pitchFamily="34" charset="-122"/>
                <a:cs typeface="IBM Plex Sans" pitchFamily="34" charset="-120"/>
              </a:rPr>
              <a:t>Every step also emits an event</a:t>
            </a:r>
            <a:endParaRPr lang="en-US" sz="1019" dirty="0"/>
          </a:p>
        </p:txBody>
      </p:sp>
      <p:sp>
        <p:nvSpPr>
          <p:cNvPr id="38" name="Text 29"/>
          <p:cNvSpPr/>
          <p:nvPr/>
        </p:nvSpPr>
        <p:spPr>
          <a:xfrm>
            <a:off x="969433" y="4527947"/>
            <a:ext cx="4648115" cy="509720"/>
          </a:xfrm>
          <a:prstGeom prst="rect">
            <a:avLst/>
          </a:prstGeom>
          <a:noFill/>
          <a:ln/>
        </p:spPr>
        <p:txBody>
          <a:bodyPr wrap="square" lIns="0" tIns="0" rIns="0" bIns="0" rtlCol="0" anchor="t">
            <a:normAutofit/>
          </a:bodyPr>
          <a:lstStyle/>
          <a:p>
            <a:pPr algn="l" indent="0" marL="0">
              <a:lnSpc>
                <a:spcPts val="1734"/>
              </a:lnSpc>
              <a:buNone/>
            </a:pPr>
            <a:r>
              <a:rPr lang="en-US" sz="1238" dirty="0">
                <a:solidFill>
                  <a:srgbClr val="4A5568"/>
                </a:solidFill>
                <a:latin typeface="IBM Plex Sans" pitchFamily="34" charset="0"/>
                <a:ea typeface="IBM Plex Sans" pitchFamily="34" charset="-122"/>
                <a:cs typeface="IBM Plex Sans" pitchFamily="34" charset="-120"/>
              </a:rPr>
              <a:t>The decision, what it rejected, what the subsystem did and why — appended to a log and streamed to the browser as it happens.</a:t>
            </a:r>
            <a:endParaRPr lang="en-US" sz="1238" dirty="0"/>
          </a:p>
        </p:txBody>
      </p:sp>
      <p:sp>
        <p:nvSpPr>
          <p:cNvPr id="39" name="Shape 30"/>
          <p:cNvSpPr/>
          <p:nvPr/>
        </p:nvSpPr>
        <p:spPr>
          <a:xfrm>
            <a:off x="5943600" y="4216400"/>
            <a:ext cx="5016500" cy="952500"/>
          </a:xfrm>
          <a:custGeom>
            <a:avLst/>
            <a:gdLst/>
            <a:ahLst/>
            <a:cxnLst/>
            <a:rect l="l" t="t" r="r" b="b"/>
            <a:pathLst>
              <a:path w="5016500" h="952500">
                <a:moveTo>
                  <a:pt x="0" y="0"/>
                </a:moveTo>
                <a:lnTo>
                  <a:pt x="4927600" y="0"/>
                </a:lnTo>
                <a:arcTo hR="88900" wR="88900" stAng="16200000" swAng="5400000"/>
                <a:lnTo>
                  <a:pt x="5016500" y="863600"/>
                </a:lnTo>
                <a:arcTo hR="88900" wR="88900" stAng="0" swAng="5400000"/>
                <a:lnTo>
                  <a:pt x="0" y="952500"/>
                </a:lnTo>
                <a:lnTo>
                  <a:pt x="0" y="0"/>
                </a:lnTo>
                <a:close/>
              </a:path>
            </a:pathLst>
          </a:custGeom>
          <a:solidFill>
            <a:srgbClr val="FFF8E8"/>
          </a:solidFill>
          <a:ln/>
        </p:spPr>
      </p:sp>
      <p:sp>
        <p:nvSpPr>
          <p:cNvPr id="40" name="Shape 31"/>
          <p:cNvSpPr/>
          <p:nvPr/>
        </p:nvSpPr>
        <p:spPr>
          <a:xfrm>
            <a:off x="5943600" y="4216400"/>
            <a:ext cx="5016500" cy="952500"/>
          </a:xfrm>
          <a:custGeom>
            <a:avLst/>
            <a:gdLst/>
            <a:ahLst/>
            <a:cxnLst/>
            <a:rect l="l" t="t" r="r" b="b"/>
            <a:pathLst>
              <a:path w="5016500" h="952500">
                <a:moveTo>
                  <a:pt x="31750" y="952500"/>
                </a:moveTo>
                <a:lnTo>
                  <a:pt x="0" y="952500"/>
                </a:lnTo>
                <a:lnTo>
                  <a:pt x="0" y="0"/>
                </a:lnTo>
                <a:lnTo>
                  <a:pt x="31750" y="0"/>
                </a:lnTo>
                <a:lnTo>
                  <a:pt x="31750" y="952500"/>
                </a:lnTo>
                <a:close/>
              </a:path>
            </a:pathLst>
          </a:custGeom>
          <a:solidFill>
            <a:srgbClr val="8A5F15"/>
          </a:solidFill>
          <a:ln/>
        </p:spPr>
      </p:sp>
      <p:sp>
        <p:nvSpPr>
          <p:cNvPr id="41" name="Text 32"/>
          <p:cNvSpPr/>
          <p:nvPr/>
        </p:nvSpPr>
        <p:spPr>
          <a:xfrm>
            <a:off x="6125633" y="4368800"/>
            <a:ext cx="4822529" cy="182364"/>
          </a:xfrm>
          <a:prstGeom prst="rect">
            <a:avLst/>
          </a:prstGeom>
          <a:noFill/>
          <a:ln/>
        </p:spPr>
        <p:txBody>
          <a:bodyPr wrap="square" lIns="0" tIns="0" rIns="0" bIns="0" rtlCol="0" anchor="t">
            <a:normAutofit/>
          </a:bodyPr>
          <a:lstStyle/>
          <a:p>
            <a:pPr algn="l" indent="0" marL="0">
              <a:lnSpc>
                <a:spcPts val="1271"/>
              </a:lnSpc>
              <a:buNone/>
            </a:pPr>
            <a:r>
              <a:rPr lang="en-US" sz="1059" b="1" dirty="0">
                <a:solidFill>
                  <a:srgbClr val="171A1F"/>
                </a:solidFill>
                <a:latin typeface="IBM Plex Sans" pitchFamily="34" charset="0"/>
                <a:ea typeface="IBM Plex Sans" pitchFamily="34" charset="-122"/>
                <a:cs typeface="IBM Plex Sans" pitchFamily="34" charset="-120"/>
              </a:rPr>
              <a:t>The policy never touches a molecule</a:t>
            </a:r>
            <a:endParaRPr lang="en-US" sz="1059" dirty="0"/>
          </a:p>
        </p:txBody>
      </p:sp>
      <p:sp>
        <p:nvSpPr>
          <p:cNvPr id="42" name="Text 33"/>
          <p:cNvSpPr/>
          <p:nvPr/>
        </p:nvSpPr>
        <p:spPr>
          <a:xfrm>
            <a:off x="6125633" y="4525764"/>
            <a:ext cx="4822529" cy="516136"/>
          </a:xfrm>
          <a:prstGeom prst="rect">
            <a:avLst/>
          </a:prstGeom>
          <a:noFill/>
          <a:ln/>
        </p:spPr>
        <p:txBody>
          <a:bodyPr wrap="square" lIns="0" tIns="0" rIns="0" bIns="0" rtlCol="0" anchor="t">
            <a:normAutofit/>
          </a:bodyPr>
          <a:lstStyle/>
          <a:p>
            <a:pPr algn="l" indent="0" marL="0">
              <a:lnSpc>
                <a:spcPts val="1449"/>
              </a:lnSpc>
              <a:buNone/>
            </a:pPr>
            <a:r>
              <a:rPr lang="en-US" sz="1035" dirty="0">
                <a:solidFill>
                  <a:srgbClr val="4A5568"/>
                </a:solidFill>
                <a:latin typeface="IBM Plex Sans" pitchFamily="34" charset="0"/>
                <a:ea typeface="IBM Plex Sans" pitchFamily="34" charset="-122"/>
                <a:cs typeface="IBM Plex Sans" pitchFamily="34" charset="-120"/>
              </a:rPr>
              <a:t>It sees a compact summary and returns a choice. It cannot spend, cannot dock, cannot pick an answer — which is what keeps a result attributable to routing.</a:t>
            </a:r>
            <a:endParaRPr lang="en-US" sz="1035"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71A1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AFAF8"/>
                </a:solidFill>
                <a:latin typeface="IBM Plex Sans" pitchFamily="34" charset="0"/>
                <a:ea typeface="IBM Plex Sans" pitchFamily="34" charset="-122"/>
                <a:cs typeface="IBM Plex Sans" pitchFamily="34" charset="-120"/>
              </a:rPr>
              <a:t>Four layers, each replaceable on its own</a:t>
            </a:r>
            <a:endParaRPr lang="en-US" sz="3600" dirty="0"/>
          </a:p>
        </p:txBody>
      </p:sp>
      <p:sp>
        <p:nvSpPr>
          <p:cNvPr id="3" name="Shape 1"/>
          <p:cNvSpPr/>
          <p:nvPr/>
        </p:nvSpPr>
        <p:spPr>
          <a:xfrm>
            <a:off x="812800" y="1518909"/>
            <a:ext cx="10566400" cy="817827"/>
          </a:xfrm>
          <a:prstGeom prst="roundRect">
            <a:avLst>
              <a:gd name="adj" fmla="val 10870"/>
            </a:avLst>
          </a:prstGeom>
          <a:solidFill>
            <a:srgbClr val="232830"/>
          </a:solidFill>
          <a:ln/>
        </p:spPr>
      </p:sp>
      <p:sp>
        <p:nvSpPr>
          <p:cNvPr id="4" name="Shape 2"/>
          <p:cNvSpPr/>
          <p:nvPr/>
        </p:nvSpPr>
        <p:spPr>
          <a:xfrm>
            <a:off x="812800" y="1518909"/>
            <a:ext cx="10566400" cy="817827"/>
          </a:xfrm>
          <a:custGeom>
            <a:avLst/>
            <a:gdLst/>
            <a:ahLst/>
            <a:cxnLst/>
            <a:rect l="l" t="t" r="r" b="b"/>
            <a:pathLst>
              <a:path w="10566400" h="817827">
                <a:moveTo>
                  <a:pt x="88900" y="817827"/>
                </a:moveTo>
                <a:lnTo>
                  <a:pt x="88900" y="817827"/>
                </a:lnTo>
                <a:arcTo hR="88900" wR="88900" stAng="5400000" swAng="5400000"/>
                <a:lnTo>
                  <a:pt x="0" y="88900"/>
                </a:lnTo>
                <a:arcTo hR="88900" wR="88900" stAng="10800000" swAng="5400000"/>
                <a:lnTo>
                  <a:pt x="88900" y="0"/>
                </a:lnTo>
                <a:arcTo hR="88900" wR="50800" stAng="16200000" swAng="-5400000"/>
                <a:lnTo>
                  <a:pt x="38100" y="728927"/>
                </a:lnTo>
                <a:arcTo hR="88900" wR="50800" stAng="10800000" swAng="-5400000"/>
                <a:close/>
              </a:path>
            </a:pathLst>
          </a:custGeom>
          <a:solidFill>
            <a:srgbClr val="8CB4E8"/>
          </a:solidFill>
          <a:ln/>
        </p:spPr>
      </p:sp>
      <p:sp>
        <p:nvSpPr>
          <p:cNvPr id="5" name="Text 3"/>
          <p:cNvSpPr/>
          <p:nvPr/>
        </p:nvSpPr>
        <p:spPr>
          <a:xfrm>
            <a:off x="1079500" y="1812265"/>
            <a:ext cx="1574800"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8CB4E8"/>
                </a:solidFill>
                <a:latin typeface="JetBrains Mono" pitchFamily="49" charset="0"/>
                <a:ea typeface="JetBrains Mono" pitchFamily="49" charset="-122"/>
                <a:cs typeface="JetBrains Mono" pitchFamily="49" charset="-120"/>
              </a:rPr>
              <a:t>interface</a:t>
            </a:r>
            <a:endParaRPr lang="en-US" sz="1300" dirty="0"/>
          </a:p>
        </p:txBody>
      </p:sp>
      <p:sp>
        <p:nvSpPr>
          <p:cNvPr id="6" name="Text 4"/>
          <p:cNvSpPr/>
          <p:nvPr/>
        </p:nvSpPr>
        <p:spPr>
          <a:xfrm>
            <a:off x="2781300" y="1805915"/>
            <a:ext cx="2158365"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AFAF8"/>
                </a:solidFill>
                <a:latin typeface="IBM Plex Sans" pitchFamily="34" charset="0"/>
                <a:ea typeface="IBM Plex Sans" pitchFamily="34" charset="-122"/>
                <a:cs typeface="IBM Plex Sans" pitchFamily="34" charset="-120"/>
              </a:rPr>
              <a:t>Web UI</a:t>
            </a:r>
            <a:endParaRPr lang="en-US" sz="1600" dirty="0"/>
          </a:p>
        </p:txBody>
      </p:sp>
      <p:sp>
        <p:nvSpPr>
          <p:cNvPr id="7" name="Text 5"/>
          <p:cNvSpPr/>
          <p:nvPr/>
        </p:nvSpPr>
        <p:spPr>
          <a:xfrm>
            <a:off x="5054600" y="1696709"/>
            <a:ext cx="6278880"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3CAD4"/>
                </a:solidFill>
                <a:latin typeface="IBM Plex Sans" pitchFamily="34" charset="0"/>
                <a:ea typeface="IBM Plex Sans" pitchFamily="34" charset="-122"/>
                <a:cs typeface="IBM Plex Sans" pitchFamily="34" charset="-120"/>
              </a:rPr>
              <a:t>Live routing trace, decision inspector, molecule leaderboard, LLM log. No build step.</a:t>
            </a:r>
            <a:endParaRPr lang="en-US" sz="1300" dirty="0"/>
          </a:p>
        </p:txBody>
      </p:sp>
      <p:sp>
        <p:nvSpPr>
          <p:cNvPr id="8" name="Shape 6"/>
          <p:cNvSpPr/>
          <p:nvPr/>
        </p:nvSpPr>
        <p:spPr>
          <a:xfrm>
            <a:off x="812800" y="2425635"/>
            <a:ext cx="10566400" cy="817827"/>
          </a:xfrm>
          <a:prstGeom prst="roundRect">
            <a:avLst>
              <a:gd name="adj" fmla="val 10870"/>
            </a:avLst>
          </a:prstGeom>
          <a:solidFill>
            <a:srgbClr val="232830"/>
          </a:solidFill>
          <a:ln/>
        </p:spPr>
      </p:sp>
      <p:sp>
        <p:nvSpPr>
          <p:cNvPr id="9" name="Shape 7"/>
          <p:cNvSpPr/>
          <p:nvPr/>
        </p:nvSpPr>
        <p:spPr>
          <a:xfrm>
            <a:off x="812800" y="2425635"/>
            <a:ext cx="10566400" cy="817827"/>
          </a:xfrm>
          <a:custGeom>
            <a:avLst/>
            <a:gdLst/>
            <a:ahLst/>
            <a:cxnLst/>
            <a:rect l="l" t="t" r="r" b="b"/>
            <a:pathLst>
              <a:path w="10566400" h="817827">
                <a:moveTo>
                  <a:pt x="88900" y="817827"/>
                </a:moveTo>
                <a:lnTo>
                  <a:pt x="88900" y="817827"/>
                </a:lnTo>
                <a:arcTo hR="88900" wR="88900" stAng="5400000" swAng="5400000"/>
                <a:lnTo>
                  <a:pt x="0" y="88900"/>
                </a:lnTo>
                <a:arcTo hR="88900" wR="88900" stAng="10800000" swAng="5400000"/>
                <a:lnTo>
                  <a:pt x="88900" y="0"/>
                </a:lnTo>
                <a:arcTo hR="88900" wR="50800" stAng="16200000" swAng="-5400000"/>
                <a:lnTo>
                  <a:pt x="38100" y="728927"/>
                </a:lnTo>
                <a:arcTo hR="88900" wR="50800" stAng="10800000" swAng="-5400000"/>
                <a:close/>
              </a:path>
            </a:pathLst>
          </a:custGeom>
          <a:solidFill>
            <a:srgbClr val="9B86E8"/>
          </a:solidFill>
          <a:ln/>
        </p:spPr>
      </p:sp>
      <p:sp>
        <p:nvSpPr>
          <p:cNvPr id="10" name="Text 8"/>
          <p:cNvSpPr/>
          <p:nvPr/>
        </p:nvSpPr>
        <p:spPr>
          <a:xfrm>
            <a:off x="1079500" y="2718991"/>
            <a:ext cx="1574800"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9B86E8"/>
                </a:solidFill>
                <a:latin typeface="JetBrains Mono" pitchFamily="49" charset="0"/>
                <a:ea typeface="JetBrains Mono" pitchFamily="49" charset="-122"/>
                <a:cs typeface="JetBrains Mono" pitchFamily="49" charset="-120"/>
              </a:rPr>
              <a:t>policy</a:t>
            </a:r>
            <a:endParaRPr lang="en-US" sz="1300" dirty="0"/>
          </a:p>
        </p:txBody>
      </p:sp>
      <p:sp>
        <p:nvSpPr>
          <p:cNvPr id="11" name="Text 9"/>
          <p:cNvSpPr/>
          <p:nvPr/>
        </p:nvSpPr>
        <p:spPr>
          <a:xfrm>
            <a:off x="2781300" y="2712641"/>
            <a:ext cx="2158365"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AFAF8"/>
                </a:solidFill>
                <a:latin typeface="IBM Plex Sans" pitchFamily="34" charset="0"/>
                <a:ea typeface="IBM Plex Sans" pitchFamily="34" charset="-122"/>
                <a:cs typeface="IBM Plex Sans" pitchFamily="34" charset="-120"/>
              </a:rPr>
              <a:t>Routing policy</a:t>
            </a:r>
            <a:endParaRPr lang="en-US" sz="1600" dirty="0"/>
          </a:p>
        </p:txBody>
      </p:sp>
      <p:sp>
        <p:nvSpPr>
          <p:cNvPr id="12" name="Text 10"/>
          <p:cNvSpPr/>
          <p:nvPr/>
        </p:nvSpPr>
        <p:spPr>
          <a:xfrm>
            <a:off x="5054600" y="2603435"/>
            <a:ext cx="6278880"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3CAD4"/>
                </a:solidFill>
                <a:latin typeface="IBM Plex Sans" pitchFamily="34" charset="0"/>
                <a:ea typeface="IBM Plex Sans" pitchFamily="34" charset="-122"/>
                <a:cs typeface="IBM Plex Sans" pitchFamily="34" charset="-120"/>
              </a:rPr>
              <a:t>Six interchangeable arms. Sees only a compact state summary. Chosen by the human.</a:t>
            </a:r>
            <a:endParaRPr lang="en-US" sz="1300" dirty="0"/>
          </a:p>
        </p:txBody>
      </p:sp>
      <p:sp>
        <p:nvSpPr>
          <p:cNvPr id="13" name="Shape 11"/>
          <p:cNvSpPr/>
          <p:nvPr/>
        </p:nvSpPr>
        <p:spPr>
          <a:xfrm>
            <a:off x="812800" y="3332361"/>
            <a:ext cx="10566400" cy="817827"/>
          </a:xfrm>
          <a:prstGeom prst="roundRect">
            <a:avLst>
              <a:gd name="adj" fmla="val 10870"/>
            </a:avLst>
          </a:prstGeom>
          <a:solidFill>
            <a:srgbClr val="232830"/>
          </a:solidFill>
          <a:ln/>
        </p:spPr>
      </p:sp>
      <p:sp>
        <p:nvSpPr>
          <p:cNvPr id="14" name="Shape 12"/>
          <p:cNvSpPr/>
          <p:nvPr/>
        </p:nvSpPr>
        <p:spPr>
          <a:xfrm>
            <a:off x="812800" y="3332361"/>
            <a:ext cx="10566400" cy="817827"/>
          </a:xfrm>
          <a:custGeom>
            <a:avLst/>
            <a:gdLst/>
            <a:ahLst/>
            <a:cxnLst/>
            <a:rect l="l" t="t" r="r" b="b"/>
            <a:pathLst>
              <a:path w="10566400" h="817827">
                <a:moveTo>
                  <a:pt x="88900" y="817827"/>
                </a:moveTo>
                <a:lnTo>
                  <a:pt x="88900" y="817827"/>
                </a:lnTo>
                <a:arcTo hR="88900" wR="88900" stAng="5400000" swAng="5400000"/>
                <a:lnTo>
                  <a:pt x="0" y="88900"/>
                </a:lnTo>
                <a:arcTo hR="88900" wR="88900" stAng="10800000" swAng="5400000"/>
                <a:lnTo>
                  <a:pt x="88900" y="0"/>
                </a:lnTo>
                <a:arcTo hR="88900" wR="50800" stAng="16200000" swAng="-5400000"/>
                <a:lnTo>
                  <a:pt x="38100" y="728927"/>
                </a:lnTo>
                <a:arcTo hR="88900" wR="50800" stAng="10800000" swAng="-5400000"/>
                <a:close/>
              </a:path>
            </a:pathLst>
          </a:custGeom>
          <a:solidFill>
            <a:srgbClr val="E8B45F"/>
          </a:solidFill>
          <a:ln/>
        </p:spPr>
      </p:sp>
      <p:sp>
        <p:nvSpPr>
          <p:cNvPr id="15" name="Text 13"/>
          <p:cNvSpPr/>
          <p:nvPr/>
        </p:nvSpPr>
        <p:spPr>
          <a:xfrm>
            <a:off x="1079500" y="3625720"/>
            <a:ext cx="1574800"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E8B45F"/>
                </a:solidFill>
                <a:latin typeface="JetBrains Mono" pitchFamily="49" charset="0"/>
                <a:ea typeface="JetBrains Mono" pitchFamily="49" charset="-122"/>
                <a:cs typeface="JetBrains Mono" pitchFamily="49" charset="-120"/>
              </a:rPr>
              <a:t>orchestrator</a:t>
            </a:r>
            <a:endParaRPr lang="en-US" sz="1300" dirty="0"/>
          </a:p>
        </p:txBody>
      </p:sp>
      <p:sp>
        <p:nvSpPr>
          <p:cNvPr id="16" name="Text 14"/>
          <p:cNvSpPr/>
          <p:nvPr/>
        </p:nvSpPr>
        <p:spPr>
          <a:xfrm>
            <a:off x="2781300" y="3619370"/>
            <a:ext cx="2158365"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AFAF8"/>
                </a:solidFill>
                <a:latin typeface="IBM Plex Sans" pitchFamily="34" charset="0"/>
                <a:ea typeface="IBM Plex Sans" pitchFamily="34" charset="-122"/>
                <a:cs typeface="IBM Plex Sans" pitchFamily="34" charset="-120"/>
              </a:rPr>
              <a:t>Run loop</a:t>
            </a:r>
            <a:endParaRPr lang="en-US" sz="1600" dirty="0"/>
          </a:p>
        </p:txBody>
      </p:sp>
      <p:sp>
        <p:nvSpPr>
          <p:cNvPr id="17" name="Text 15"/>
          <p:cNvSpPr/>
          <p:nvPr/>
        </p:nvSpPr>
        <p:spPr>
          <a:xfrm>
            <a:off x="5054600" y="3510161"/>
            <a:ext cx="6278880"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3CAD4"/>
                </a:solidFill>
                <a:latin typeface="IBM Plex Sans" pitchFamily="34" charset="0"/>
                <a:ea typeface="IBM Plex Sans" pitchFamily="34" charset="-122"/>
                <a:cs typeface="IBM Plex Sans" pitchFamily="34" charset="-120"/>
              </a:rPr>
              <a:t>Charges budget, enforces termination, merges results, emits every event. The only thing that spends.</a:t>
            </a:r>
            <a:endParaRPr lang="en-US" sz="1300" dirty="0"/>
          </a:p>
        </p:txBody>
      </p:sp>
      <p:sp>
        <p:nvSpPr>
          <p:cNvPr id="18" name="Shape 16"/>
          <p:cNvSpPr/>
          <p:nvPr/>
        </p:nvSpPr>
        <p:spPr>
          <a:xfrm>
            <a:off x="812800" y="4239090"/>
            <a:ext cx="10566400" cy="599414"/>
          </a:xfrm>
          <a:prstGeom prst="roundRect">
            <a:avLst>
              <a:gd name="adj" fmla="val 14831"/>
            </a:avLst>
          </a:prstGeom>
          <a:solidFill>
            <a:srgbClr val="232830"/>
          </a:solidFill>
          <a:ln/>
        </p:spPr>
      </p:sp>
      <p:sp>
        <p:nvSpPr>
          <p:cNvPr id="19" name="Shape 17"/>
          <p:cNvSpPr/>
          <p:nvPr/>
        </p:nvSpPr>
        <p:spPr>
          <a:xfrm>
            <a:off x="812800" y="4239090"/>
            <a:ext cx="10566400" cy="599414"/>
          </a:xfrm>
          <a:custGeom>
            <a:avLst/>
            <a:gdLst/>
            <a:ahLst/>
            <a:cxnLst/>
            <a:rect l="l" t="t" r="r" b="b"/>
            <a:pathLst>
              <a:path w="10566400" h="599414">
                <a:moveTo>
                  <a:pt x="88900" y="599414"/>
                </a:moveTo>
                <a:lnTo>
                  <a:pt x="88900" y="599414"/>
                </a:lnTo>
                <a:arcTo hR="88900" wR="88900" stAng="5400000" swAng="5400000"/>
                <a:lnTo>
                  <a:pt x="0" y="88900"/>
                </a:lnTo>
                <a:arcTo hR="88900" wR="88900" stAng="10800000" swAng="5400000"/>
                <a:lnTo>
                  <a:pt x="88900" y="0"/>
                </a:lnTo>
                <a:arcTo hR="88900" wR="50800" stAng="16200000" swAng="-5400000"/>
                <a:lnTo>
                  <a:pt x="38100" y="510514"/>
                </a:lnTo>
                <a:arcTo hR="88900" wR="50800" stAng="10800000" swAng="-5400000"/>
                <a:close/>
              </a:path>
            </a:pathLst>
          </a:custGeom>
          <a:solidFill>
            <a:srgbClr val="5FBF95"/>
          </a:solidFill>
          <a:ln/>
        </p:spPr>
      </p:sp>
      <p:sp>
        <p:nvSpPr>
          <p:cNvPr id="20" name="Text 18"/>
          <p:cNvSpPr/>
          <p:nvPr/>
        </p:nvSpPr>
        <p:spPr>
          <a:xfrm>
            <a:off x="1079500" y="4423240"/>
            <a:ext cx="1574800"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FBF95"/>
                </a:solidFill>
                <a:latin typeface="JetBrains Mono" pitchFamily="49" charset="0"/>
                <a:ea typeface="JetBrains Mono" pitchFamily="49" charset="-122"/>
                <a:cs typeface="JetBrains Mono" pitchFamily="49" charset="-120"/>
              </a:rPr>
              <a:t>subsystems</a:t>
            </a:r>
            <a:endParaRPr lang="en-US" sz="1300" dirty="0"/>
          </a:p>
        </p:txBody>
      </p:sp>
      <p:sp>
        <p:nvSpPr>
          <p:cNvPr id="21" name="Text 19"/>
          <p:cNvSpPr/>
          <p:nvPr/>
        </p:nvSpPr>
        <p:spPr>
          <a:xfrm>
            <a:off x="2781300" y="4416890"/>
            <a:ext cx="2158365"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AFAF8"/>
                </a:solidFill>
                <a:latin typeface="IBM Plex Sans" pitchFamily="34" charset="0"/>
                <a:ea typeface="IBM Plex Sans" pitchFamily="34" charset="-122"/>
                <a:cs typeface="IBM Plex Sans" pitchFamily="34" charset="-120"/>
              </a:rPr>
              <a:t>The four tools</a:t>
            </a:r>
            <a:endParaRPr lang="en-US" sz="1600" dirty="0"/>
          </a:p>
        </p:txBody>
      </p:sp>
      <p:sp>
        <p:nvSpPr>
          <p:cNvPr id="22" name="Text 20"/>
          <p:cNvSpPr/>
          <p:nvPr/>
        </p:nvSpPr>
        <p:spPr>
          <a:xfrm>
            <a:off x="5054600" y="4423240"/>
            <a:ext cx="6278880"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3CAD4"/>
                </a:solidFill>
                <a:latin typeface="IBM Plex Sans" pitchFamily="34" charset="0"/>
                <a:ea typeface="IBM Plex Sans" pitchFamily="34" charset="-122"/>
                <a:cs typeface="IBM Plex Sans" pitchFamily="34" charset="-120"/>
              </a:rPr>
              <a:t>Retrieval, properties, docking, generation — all behind one interface.</a:t>
            </a:r>
            <a:endParaRPr lang="en-US" sz="1300" dirty="0"/>
          </a:p>
        </p:txBody>
      </p:sp>
      <p:sp>
        <p:nvSpPr>
          <p:cNvPr id="23" name="Text 21"/>
          <p:cNvSpPr/>
          <p:nvPr/>
        </p:nvSpPr>
        <p:spPr>
          <a:xfrm>
            <a:off x="812800" y="5041702"/>
            <a:ext cx="10072370" cy="5588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C3CAD4"/>
                </a:solidFill>
                <a:latin typeface="IBM Plex Sans" pitchFamily="34" charset="0"/>
                <a:ea typeface="IBM Plex Sans" pitchFamily="34" charset="-122"/>
                <a:cs typeface="IBM Plex Sans" pitchFamily="34" charset="-120"/>
              </a:rPr>
              <a:t>The separation is the point: a policy cannot spend budget, a subsystem cannot choose what runs next, and neither can reach the browser directly.</a:t>
            </a:r>
            <a:endParaRPr lang="en-US" sz="1400" dirty="0"/>
          </a:p>
        </p:txBody>
      </p:sp>
      <p:sp>
        <p:nvSpPr>
          <p:cNvPr id="24" name="Text 22"/>
          <p:cNvSpPr/>
          <p:nvPr/>
        </p:nvSpPr>
        <p:spPr>
          <a:xfrm>
            <a:off x="812800" y="6238280"/>
            <a:ext cx="409217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8F98"/>
                </a:solidFill>
                <a:latin typeface="IBM Plex Sans" pitchFamily="34" charset="0"/>
                <a:ea typeface="IBM Plex Sans" pitchFamily="34" charset="-122"/>
                <a:cs typeface="IBM Plex Sans" pitchFamily="34" charset="-120"/>
              </a:rPr>
              <a:t>~11,000 lines of Python · ~3,200 lines of frontend</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71A1F"/>
        </a:solidFill>
      </p:bgPr>
    </p:bg>
    <p:spTree>
      <p:nvGrpSpPr>
        <p:cNvPr id="1" name=""/>
        <p:cNvGrpSpPr/>
        <p:nvPr/>
      </p:nvGrpSpPr>
      <p:grpSpPr>
        <a:xfrm>
          <a:off x="0" y="0"/>
          <a:ext cx="0" cy="0"/>
          <a:chOff x="0" y="0"/>
          <a:chExt cx="0" cy="0"/>
        </a:xfrm>
      </p:grpSpPr>
      <p:sp>
        <p:nvSpPr>
          <p:cNvPr id="2" name="Text 0"/>
          <p:cNvSpPr/>
          <p:nvPr>
            <p:ph type="title"/>
          </p:nvPr>
        </p:nvSpPr>
        <p:spPr>
          <a:xfrm>
            <a:off x="812800" y="685800"/>
            <a:ext cx="9156700"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FAFAF8"/>
                </a:solidFill>
                <a:latin typeface="IBM Plex Sans" pitchFamily="34" charset="0"/>
                <a:ea typeface="IBM Plex Sans" pitchFamily="34" charset="-122"/>
                <a:cs typeface="IBM Plex Sans" pitchFamily="34" charset="-120"/>
              </a:rPr>
              <a:t>How a new tool joins the system</a:t>
            </a:r>
            <a:endParaRPr lang="en-US" sz="3000" dirty="0"/>
          </a:p>
        </p:txBody>
      </p:sp>
      <p:sp>
        <p:nvSpPr>
          <p:cNvPr id="3" name="Text 1"/>
          <p:cNvSpPr/>
          <p:nvPr/>
        </p:nvSpPr>
        <p:spPr>
          <a:xfrm>
            <a:off x="812800" y="1244600"/>
            <a:ext cx="10203180" cy="522552"/>
          </a:xfrm>
          <a:prstGeom prst="rect">
            <a:avLst/>
          </a:prstGeom>
          <a:noFill/>
          <a:ln/>
        </p:spPr>
        <p:txBody>
          <a:bodyPr wrap="square" lIns="0" tIns="0" rIns="0" bIns="0" rtlCol="0" anchor="t">
            <a:normAutofit/>
          </a:bodyPr>
          <a:lstStyle/>
          <a:p>
            <a:pPr algn="l" indent="0" marL="0">
              <a:lnSpc>
                <a:spcPts val="1958"/>
              </a:lnSpc>
              <a:buNone/>
            </a:pPr>
            <a:r>
              <a:rPr lang="en-US" sz="1350" dirty="0">
                <a:solidFill>
                  <a:srgbClr val="C3CAD4"/>
                </a:solidFill>
                <a:latin typeface="IBM Plex Sans" pitchFamily="34" charset="0"/>
                <a:ea typeface="IBM Plex Sans" pitchFamily="34" charset="-122"/>
                <a:cs typeface="IBM Plex Sans" pitchFamily="34" charset="-120"/>
              </a:rPr>
              <a:t>Three sources, one path. The four built-in subsystems load the same way a third-party plugin does — so if the mechanism breaks, docking stops working too.</a:t>
            </a:r>
            <a:endParaRPr lang="en-US" sz="1350" dirty="0"/>
          </a:p>
        </p:txBody>
      </p:sp>
      <p:sp>
        <p:nvSpPr>
          <p:cNvPr id="4" name="Shape 2"/>
          <p:cNvSpPr/>
          <p:nvPr/>
        </p:nvSpPr>
        <p:spPr>
          <a:xfrm>
            <a:off x="812800" y="1854200"/>
            <a:ext cx="2095500" cy="787400"/>
          </a:xfrm>
          <a:prstGeom prst="roundRect">
            <a:avLst>
              <a:gd name="adj" fmla="val 9677"/>
            </a:avLst>
          </a:prstGeom>
          <a:solidFill>
            <a:srgbClr val="232830"/>
          </a:solidFill>
          <a:ln/>
        </p:spPr>
      </p:sp>
      <p:sp>
        <p:nvSpPr>
          <p:cNvPr id="5" name="Shape 3"/>
          <p:cNvSpPr/>
          <p:nvPr/>
        </p:nvSpPr>
        <p:spPr>
          <a:xfrm>
            <a:off x="812800" y="1854200"/>
            <a:ext cx="2095500" cy="787400"/>
          </a:xfrm>
          <a:custGeom>
            <a:avLst/>
            <a:gdLst/>
            <a:ahLst/>
            <a:cxnLst/>
            <a:rect l="l" t="t" r="r" b="b"/>
            <a:pathLst>
              <a:path w="2095500" h="787400">
                <a:moveTo>
                  <a:pt x="76200" y="787400"/>
                </a:moveTo>
                <a:lnTo>
                  <a:pt x="76200" y="787400"/>
                </a:lnTo>
                <a:arcTo hR="76200" wR="76200" stAng="5400000" swAng="5400000"/>
                <a:lnTo>
                  <a:pt x="0" y="76200"/>
                </a:lnTo>
                <a:arcTo hR="76200" wR="76200" stAng="10800000" swAng="5400000"/>
                <a:lnTo>
                  <a:pt x="76200" y="0"/>
                </a:lnTo>
                <a:arcTo hR="76200" wR="44450" stAng="16200000" swAng="-5400000"/>
                <a:lnTo>
                  <a:pt x="31750" y="711200"/>
                </a:lnTo>
                <a:arcTo hR="76200" wR="44450" stAng="10800000" swAng="-5400000"/>
                <a:close/>
              </a:path>
            </a:pathLst>
          </a:custGeom>
          <a:solidFill>
            <a:srgbClr val="8CB4E8"/>
          </a:solidFill>
          <a:ln/>
        </p:spPr>
      </p:sp>
      <p:sp>
        <p:nvSpPr>
          <p:cNvPr id="6" name="Text 4"/>
          <p:cNvSpPr/>
          <p:nvPr/>
        </p:nvSpPr>
        <p:spPr>
          <a:xfrm>
            <a:off x="969433" y="1981200"/>
            <a:ext cx="1866223"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FAFAF8"/>
                </a:solidFill>
                <a:latin typeface="IBM Plex Sans" pitchFamily="34" charset="0"/>
                <a:ea typeface="IBM Plex Sans" pitchFamily="34" charset="-122"/>
                <a:cs typeface="IBM Plex Sans" pitchFamily="34" charset="-120"/>
              </a:rPr>
              <a:t>Entry points</a:t>
            </a:r>
            <a:endParaRPr lang="en-US" sz="1300" dirty="0"/>
          </a:p>
        </p:txBody>
      </p:sp>
      <p:sp>
        <p:nvSpPr>
          <p:cNvPr id="7" name="Text 5"/>
          <p:cNvSpPr/>
          <p:nvPr/>
        </p:nvSpPr>
        <p:spPr>
          <a:xfrm>
            <a:off x="969433" y="2179309"/>
            <a:ext cx="1866223" cy="215239"/>
          </a:xfrm>
          <a:prstGeom prst="rect">
            <a:avLst/>
          </a:prstGeom>
          <a:noFill/>
          <a:ln/>
        </p:spPr>
        <p:txBody>
          <a:bodyPr wrap="square" lIns="0" tIns="0" rIns="0" bIns="0" rtlCol="0" anchor="t">
            <a:normAutofit/>
          </a:bodyPr>
          <a:lstStyle/>
          <a:p>
            <a:pPr algn="l" indent="0" marL="0">
              <a:lnSpc>
                <a:spcPts val="1495"/>
              </a:lnSpc>
              <a:buNone/>
            </a:pPr>
            <a:r>
              <a:rPr lang="en-US" sz="1150" dirty="0">
                <a:solidFill>
                  <a:srgbClr val="C3CAD4"/>
                </a:solidFill>
                <a:latin typeface="IBM Plex Sans" pitchFamily="34" charset="0"/>
                <a:ea typeface="IBM Plex Sans" pitchFamily="34" charset="-122"/>
                <a:cs typeface="IBM Plex Sans" pitchFamily="34" charset="-120"/>
              </a:rPr>
              <a:t>any pip-installed package</a:t>
            </a:r>
            <a:endParaRPr lang="en-US" sz="1150" dirty="0"/>
          </a:p>
        </p:txBody>
      </p:sp>
      <p:sp>
        <p:nvSpPr>
          <p:cNvPr id="8" name="Shape 6"/>
          <p:cNvSpPr/>
          <p:nvPr/>
        </p:nvSpPr>
        <p:spPr>
          <a:xfrm>
            <a:off x="812800" y="2768600"/>
            <a:ext cx="2095500" cy="787400"/>
          </a:xfrm>
          <a:prstGeom prst="roundRect">
            <a:avLst>
              <a:gd name="adj" fmla="val 9677"/>
            </a:avLst>
          </a:prstGeom>
          <a:solidFill>
            <a:srgbClr val="232830"/>
          </a:solidFill>
          <a:ln/>
        </p:spPr>
      </p:sp>
      <p:sp>
        <p:nvSpPr>
          <p:cNvPr id="9" name="Shape 7"/>
          <p:cNvSpPr/>
          <p:nvPr/>
        </p:nvSpPr>
        <p:spPr>
          <a:xfrm>
            <a:off x="812800" y="2768600"/>
            <a:ext cx="2095500" cy="787400"/>
          </a:xfrm>
          <a:custGeom>
            <a:avLst/>
            <a:gdLst/>
            <a:ahLst/>
            <a:cxnLst/>
            <a:rect l="l" t="t" r="r" b="b"/>
            <a:pathLst>
              <a:path w="2095500" h="787400">
                <a:moveTo>
                  <a:pt x="76200" y="787400"/>
                </a:moveTo>
                <a:lnTo>
                  <a:pt x="76200" y="787400"/>
                </a:lnTo>
                <a:arcTo hR="76200" wR="76200" stAng="5400000" swAng="5400000"/>
                <a:lnTo>
                  <a:pt x="0" y="76200"/>
                </a:lnTo>
                <a:arcTo hR="76200" wR="76200" stAng="10800000" swAng="5400000"/>
                <a:lnTo>
                  <a:pt x="76200" y="0"/>
                </a:lnTo>
                <a:arcTo hR="76200" wR="44450" stAng="16200000" swAng="-5400000"/>
                <a:lnTo>
                  <a:pt x="31750" y="711200"/>
                </a:lnTo>
                <a:arcTo hR="76200" wR="44450" stAng="10800000" swAng="-5400000"/>
                <a:close/>
              </a:path>
            </a:pathLst>
          </a:custGeom>
          <a:solidFill>
            <a:srgbClr val="E8B45F"/>
          </a:solidFill>
          <a:ln/>
        </p:spPr>
      </p:sp>
      <p:sp>
        <p:nvSpPr>
          <p:cNvPr id="10" name="Text 8"/>
          <p:cNvSpPr/>
          <p:nvPr/>
        </p:nvSpPr>
        <p:spPr>
          <a:xfrm>
            <a:off x="969433" y="2895600"/>
            <a:ext cx="1866223"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FAFAF8"/>
                </a:solidFill>
                <a:latin typeface="IBM Plex Sans" pitchFamily="34" charset="0"/>
                <a:ea typeface="IBM Plex Sans" pitchFamily="34" charset="-122"/>
                <a:cs typeface="IBM Plex Sans" pitchFamily="34" charset="-120"/>
              </a:rPr>
              <a:t>plugins/ folder</a:t>
            </a:r>
            <a:endParaRPr lang="en-US" sz="1300" dirty="0"/>
          </a:p>
        </p:txBody>
      </p:sp>
      <p:sp>
        <p:nvSpPr>
          <p:cNvPr id="11" name="Text 9"/>
          <p:cNvSpPr/>
          <p:nvPr/>
        </p:nvSpPr>
        <p:spPr>
          <a:xfrm>
            <a:off x="969433" y="3093709"/>
            <a:ext cx="1866223" cy="215239"/>
          </a:xfrm>
          <a:prstGeom prst="rect">
            <a:avLst/>
          </a:prstGeom>
          <a:noFill/>
          <a:ln/>
        </p:spPr>
        <p:txBody>
          <a:bodyPr wrap="square" lIns="0" tIns="0" rIns="0" bIns="0" rtlCol="0" anchor="t">
            <a:normAutofit/>
          </a:bodyPr>
          <a:lstStyle/>
          <a:p>
            <a:pPr algn="l" indent="0" marL="0">
              <a:lnSpc>
                <a:spcPts val="1495"/>
              </a:lnSpc>
              <a:buNone/>
            </a:pPr>
            <a:r>
              <a:rPr lang="en-US" sz="1150" dirty="0">
                <a:solidFill>
                  <a:srgbClr val="C3CAD4"/>
                </a:solidFill>
                <a:latin typeface="IBM Plex Sans" pitchFamily="34" charset="0"/>
                <a:ea typeface="IBM Plex Sans" pitchFamily="34" charset="-122"/>
                <a:cs typeface="IBM Plex Sans" pitchFamily="34" charset="-120"/>
              </a:rPr>
              <a:t>a file you are still writing</a:t>
            </a:r>
            <a:endParaRPr lang="en-US" sz="1150" dirty="0"/>
          </a:p>
        </p:txBody>
      </p:sp>
      <p:sp>
        <p:nvSpPr>
          <p:cNvPr id="12" name="Shape 10"/>
          <p:cNvSpPr/>
          <p:nvPr/>
        </p:nvSpPr>
        <p:spPr>
          <a:xfrm>
            <a:off x="812800" y="3683000"/>
            <a:ext cx="2095500" cy="787400"/>
          </a:xfrm>
          <a:prstGeom prst="roundRect">
            <a:avLst>
              <a:gd name="adj" fmla="val 9677"/>
            </a:avLst>
          </a:prstGeom>
          <a:solidFill>
            <a:srgbClr val="232830"/>
          </a:solidFill>
          <a:ln/>
        </p:spPr>
      </p:sp>
      <p:sp>
        <p:nvSpPr>
          <p:cNvPr id="13" name="Shape 11"/>
          <p:cNvSpPr/>
          <p:nvPr/>
        </p:nvSpPr>
        <p:spPr>
          <a:xfrm>
            <a:off x="812800" y="3683000"/>
            <a:ext cx="2095500" cy="787400"/>
          </a:xfrm>
          <a:custGeom>
            <a:avLst/>
            <a:gdLst/>
            <a:ahLst/>
            <a:cxnLst/>
            <a:rect l="l" t="t" r="r" b="b"/>
            <a:pathLst>
              <a:path w="2095500" h="787400">
                <a:moveTo>
                  <a:pt x="76200" y="787400"/>
                </a:moveTo>
                <a:lnTo>
                  <a:pt x="76200" y="787400"/>
                </a:lnTo>
                <a:arcTo hR="76200" wR="76200" stAng="5400000" swAng="5400000"/>
                <a:lnTo>
                  <a:pt x="0" y="76200"/>
                </a:lnTo>
                <a:arcTo hR="76200" wR="76200" stAng="10800000" swAng="5400000"/>
                <a:lnTo>
                  <a:pt x="76200" y="0"/>
                </a:lnTo>
                <a:arcTo hR="76200" wR="44450" stAng="16200000" swAng="-5400000"/>
                <a:lnTo>
                  <a:pt x="31750" y="711200"/>
                </a:lnTo>
                <a:arcTo hR="76200" wR="44450" stAng="10800000" swAng="-5400000"/>
                <a:close/>
              </a:path>
            </a:pathLst>
          </a:custGeom>
          <a:solidFill>
            <a:srgbClr val="5FBF95"/>
          </a:solidFill>
          <a:ln/>
        </p:spPr>
      </p:sp>
      <p:sp>
        <p:nvSpPr>
          <p:cNvPr id="14" name="Text 12"/>
          <p:cNvSpPr/>
          <p:nvPr/>
        </p:nvSpPr>
        <p:spPr>
          <a:xfrm>
            <a:off x="969433" y="3810000"/>
            <a:ext cx="1866223"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FAFAF8"/>
                </a:solidFill>
                <a:latin typeface="IBM Plex Sans" pitchFamily="34" charset="0"/>
                <a:ea typeface="IBM Plex Sans" pitchFamily="34" charset="-122"/>
                <a:cs typeface="IBM Plex Sans" pitchFamily="34" charset="-120"/>
              </a:rPr>
              <a:t>The built-ins</a:t>
            </a:r>
            <a:endParaRPr lang="en-US" sz="1300" dirty="0"/>
          </a:p>
        </p:txBody>
      </p:sp>
      <p:sp>
        <p:nvSpPr>
          <p:cNvPr id="15" name="Text 13"/>
          <p:cNvSpPr/>
          <p:nvPr/>
        </p:nvSpPr>
        <p:spPr>
          <a:xfrm>
            <a:off x="969433" y="4008109"/>
            <a:ext cx="1866223" cy="215239"/>
          </a:xfrm>
          <a:prstGeom prst="rect">
            <a:avLst/>
          </a:prstGeom>
          <a:noFill/>
          <a:ln/>
        </p:spPr>
        <p:txBody>
          <a:bodyPr wrap="square" lIns="0" tIns="0" rIns="0" bIns="0" rtlCol="0" anchor="t">
            <a:normAutofit/>
          </a:bodyPr>
          <a:lstStyle/>
          <a:p>
            <a:pPr algn="l" indent="0" marL="0">
              <a:lnSpc>
                <a:spcPts val="1495"/>
              </a:lnSpc>
              <a:buNone/>
            </a:pPr>
            <a:r>
              <a:rPr lang="en-US" sz="1150" dirty="0">
                <a:solidFill>
                  <a:srgbClr val="C3CAD4"/>
                </a:solidFill>
                <a:latin typeface="IBM Plex Sans" pitchFamily="34" charset="0"/>
                <a:ea typeface="IBM Plex Sans" pitchFamily="34" charset="-122"/>
                <a:cs typeface="IBM Plex Sans" pitchFamily="34" charset="-120"/>
              </a:rPr>
              <a:t>no privileged tier</a:t>
            </a:r>
            <a:endParaRPr lang="en-US" sz="1150" dirty="0"/>
          </a:p>
        </p:txBody>
      </p:sp>
      <p:pic>
        <p:nvPicPr>
          <p:cNvPr id="16" name="Image 0" descr="connector">    </p:cNvPr>
          <p:cNvPicPr>
            <a:picLocks noChangeAspect="1"/>
          </p:cNvPicPr>
          <p:nvPr/>
        </p:nvPicPr>
        <p:blipFill>
          <a:blip r:embed="rId1"/>
          <a:srcRect l="0" r="0" t="0" b="0"/>
          <a:stretch/>
        </p:blipFill>
        <p:spPr>
          <a:xfrm>
            <a:off x="2870200" y="2209800"/>
            <a:ext cx="1003300" cy="812800"/>
          </a:xfrm>
          <a:prstGeom prst="rect">
            <a:avLst/>
          </a:prstGeom>
        </p:spPr>
      </p:pic>
      <p:pic>
        <p:nvPicPr>
          <p:cNvPr id="17" name="Image 1" descr="connector">    </p:cNvPr>
          <p:cNvPicPr>
            <a:picLocks noChangeAspect="1"/>
          </p:cNvPicPr>
          <p:nvPr/>
        </p:nvPicPr>
        <p:blipFill>
          <a:blip r:embed="rId2"/>
          <a:srcRect l="0" r="0" t="0" b="0"/>
          <a:stretch/>
        </p:blipFill>
        <p:spPr>
          <a:xfrm>
            <a:off x="2870200" y="3124200"/>
            <a:ext cx="1003300" cy="76200"/>
          </a:xfrm>
          <a:prstGeom prst="rect">
            <a:avLst/>
          </a:prstGeom>
        </p:spPr>
      </p:pic>
      <p:pic>
        <p:nvPicPr>
          <p:cNvPr id="18" name="Image 2" descr="connector">    </p:cNvPr>
          <p:cNvPicPr>
            <a:picLocks noChangeAspect="1"/>
          </p:cNvPicPr>
          <p:nvPr/>
        </p:nvPicPr>
        <p:blipFill>
          <a:blip r:embed="rId3"/>
          <a:srcRect l="0" r="0" t="0" b="0"/>
          <a:stretch/>
        </p:blipFill>
        <p:spPr>
          <a:xfrm>
            <a:off x="2870200" y="3302000"/>
            <a:ext cx="1003300" cy="812800"/>
          </a:xfrm>
          <a:prstGeom prst="rect">
            <a:avLst/>
          </a:prstGeom>
        </p:spPr>
      </p:pic>
      <p:sp>
        <p:nvSpPr>
          <p:cNvPr id="19" name="Shape 14"/>
          <p:cNvSpPr/>
          <p:nvPr/>
        </p:nvSpPr>
        <p:spPr>
          <a:xfrm>
            <a:off x="3835400" y="2603500"/>
            <a:ext cx="1905000" cy="1117600"/>
          </a:xfrm>
          <a:prstGeom prst="roundRect">
            <a:avLst>
              <a:gd name="adj" fmla="val 7955"/>
            </a:avLst>
          </a:prstGeom>
          <a:solidFill>
            <a:srgbClr val="2A5BB0"/>
          </a:solidFill>
          <a:ln/>
        </p:spPr>
      </p:sp>
      <p:sp>
        <p:nvSpPr>
          <p:cNvPr id="20" name="Text 15"/>
          <p:cNvSpPr/>
          <p:nvPr/>
        </p:nvSpPr>
        <p:spPr>
          <a:xfrm>
            <a:off x="3987800" y="2755900"/>
            <a:ext cx="1651000" cy="245070"/>
          </a:xfrm>
          <a:prstGeom prst="rect">
            <a:avLst/>
          </a:prstGeom>
          <a:noFill/>
          <a:ln/>
        </p:spPr>
        <p:txBody>
          <a:bodyPr wrap="square" lIns="0" tIns="0" rIns="0" bIns="0" rtlCol="0" anchor="t">
            <a:normAutofit/>
          </a:bodyPr>
          <a:lstStyle/>
          <a:p>
            <a:pPr algn="l" indent="0" marL="0">
              <a:lnSpc>
                <a:spcPts val="1772"/>
              </a:lnSpc>
              <a:buNone/>
            </a:pPr>
            <a:r>
              <a:rPr lang="en-US" sz="1477" b="1" dirty="0">
                <a:solidFill>
                  <a:srgbClr val="FAFAF8"/>
                </a:solidFill>
                <a:latin typeface="IBM Plex Sans" pitchFamily="34" charset="0"/>
                <a:ea typeface="IBM Plex Sans" pitchFamily="34" charset="-122"/>
                <a:cs typeface="IBM Plex Sans" pitchFamily="34" charset="-120"/>
              </a:rPr>
              <a:t>Registry</a:t>
            </a:r>
            <a:endParaRPr lang="en-US" sz="1477" dirty="0"/>
          </a:p>
        </p:txBody>
      </p:sp>
      <p:sp>
        <p:nvSpPr>
          <p:cNvPr id="21" name="Text 16"/>
          <p:cNvSpPr/>
          <p:nvPr/>
        </p:nvSpPr>
        <p:spPr>
          <a:xfrm>
            <a:off x="3987800" y="2975570"/>
            <a:ext cx="1651000" cy="618530"/>
          </a:xfrm>
          <a:prstGeom prst="rect">
            <a:avLst/>
          </a:prstGeom>
          <a:noFill/>
          <a:ln/>
        </p:spPr>
        <p:txBody>
          <a:bodyPr wrap="square" lIns="0" tIns="0" rIns="0" bIns="0" rtlCol="0" anchor="t">
            <a:normAutofit/>
          </a:bodyPr>
          <a:lstStyle/>
          <a:p>
            <a:pPr algn="l" indent="0" marL="0">
              <a:lnSpc>
                <a:spcPts val="1554"/>
              </a:lnSpc>
              <a:buNone/>
            </a:pPr>
            <a:r>
              <a:rPr lang="en-US" sz="1151" dirty="0">
                <a:solidFill>
                  <a:srgbClr val="DCE6F6"/>
                </a:solidFill>
                <a:latin typeface="IBM Plex Sans" pitchFamily="34" charset="0"/>
                <a:ea typeface="IBM Plex Sans" pitchFamily="34" charset="-122"/>
                <a:cs typeface="IBM Plex Sans" pitchFamily="34" charset="-120"/>
              </a:rPr>
              <a:t>calls </a:t>
            </a:r>
            <a:r>
              <a:rPr lang="en-US" sz="1151" dirty="0">
                <a:solidFill>
                  <a:srgbClr val="FAFAF8"/>
                </a:solidFill>
                <a:latin typeface="IBM Plex Sans" pitchFamily="34" charset="0"/>
                <a:ea typeface="IBM Plex Sans" pitchFamily="34" charset="-122"/>
                <a:cs typeface="IBM Plex Sans" pitchFamily="34" charset="-120"/>
              </a:rPr>
              <a:t>build(ctx)</a:t>
            </a:r>
            <a:r>
              <a:rPr lang="en-US" sz="1151" dirty="0">
                <a:solidFill>
                  <a:srgbClr val="DCE6F6"/>
                </a:solidFill>
                <a:latin typeface="IBM Plex Sans" pitchFamily="34" charset="0"/>
                <a:ea typeface="IBM Plex Sans" pitchFamily="34" charset="-122"/>
                <a:cs typeface="IBM Plex Sans" pitchFamily="34" charset="-120"/>
              </a:rPr>
              <a:t>, checks the contract, records what failed</a:t>
            </a:r>
            <a:endParaRPr lang="en-US" sz="1151" dirty="0"/>
          </a:p>
        </p:txBody>
      </p:sp>
      <p:pic>
        <p:nvPicPr>
          <p:cNvPr id="22" name="Image 3" descr="connector">    </p:cNvPr>
          <p:cNvPicPr>
            <a:picLocks noChangeAspect="1"/>
          </p:cNvPicPr>
          <p:nvPr/>
        </p:nvPicPr>
        <p:blipFill>
          <a:blip r:embed="rId4"/>
          <a:srcRect l="0" r="0" t="0" b="0"/>
          <a:stretch/>
        </p:blipFill>
        <p:spPr>
          <a:xfrm>
            <a:off x="5702300" y="3124200"/>
            <a:ext cx="965200" cy="76200"/>
          </a:xfrm>
          <a:prstGeom prst="rect">
            <a:avLst/>
          </a:prstGeom>
        </p:spPr>
      </p:pic>
      <p:sp>
        <p:nvSpPr>
          <p:cNvPr id="23" name="Text 17"/>
          <p:cNvSpPr/>
          <p:nvPr/>
        </p:nvSpPr>
        <p:spPr>
          <a:xfrm>
            <a:off x="5778500" y="3352800"/>
            <a:ext cx="876300" cy="212064"/>
          </a:xfrm>
          <a:prstGeom prst="rect">
            <a:avLst/>
          </a:prstGeom>
          <a:noFill/>
          <a:ln/>
        </p:spPr>
        <p:txBody>
          <a:bodyPr wrap="square" lIns="0" tIns="0" rIns="0" bIns="0" rtlCol="0" anchor="t">
            <a:normAutofit/>
          </a:bodyPr>
          <a:lstStyle/>
          <a:p>
            <a:pPr algn="ctr" indent="0" marL="0">
              <a:lnSpc>
                <a:spcPts val="1470"/>
              </a:lnSpc>
              <a:buNone/>
            </a:pPr>
            <a:r>
              <a:rPr lang="en-US" sz="1050" dirty="0">
                <a:solidFill>
                  <a:srgbClr val="8CB4E8"/>
                </a:solidFill>
                <a:latin typeface="JetBrains Mono" pitchFamily="49" charset="0"/>
                <a:ea typeface="JetBrains Mono" pitchFamily="49" charset="-122"/>
                <a:cs typeface="JetBrains Mono" pitchFamily="49" charset="-120"/>
              </a:rPr>
              <a:t>Capability</a:t>
            </a:r>
            <a:endParaRPr lang="en-US" sz="1050" dirty="0"/>
          </a:p>
        </p:txBody>
      </p:sp>
      <p:sp>
        <p:nvSpPr>
          <p:cNvPr id="24" name="Text 18"/>
          <p:cNvSpPr/>
          <p:nvPr/>
        </p:nvSpPr>
        <p:spPr>
          <a:xfrm>
            <a:off x="6629400" y="1905000"/>
            <a:ext cx="1905000" cy="584200"/>
          </a:xfrm>
          <a:prstGeom prst="roundRect">
            <a:avLst>
              <a:gd name="adj" fmla="val 13043"/>
            </a:avLst>
          </a:prstGeom>
          <a:solidFill>
            <a:srgbClr val="232830"/>
          </a:solidFill>
          <a:ln/>
        </p:spPr>
        <p:txBody>
          <a:bodyPr wrap="square" lIns="91982" tIns="91982" rIns="41182" bIns="91982" rtlCol="0" anchor="t">
            <a:normAutofit/>
          </a:bodyPr>
          <a:lstStyle/>
          <a:p>
            <a:pPr algn="l" indent="0" marL="0">
              <a:lnSpc>
                <a:spcPts val="1750"/>
              </a:lnSpc>
              <a:buNone/>
            </a:pPr>
            <a:r>
              <a:rPr lang="en-US" sz="1250" dirty="0">
                <a:solidFill>
                  <a:srgbClr val="FAFAF8"/>
                </a:solidFill>
                <a:latin typeface="IBM Plex Sans" pitchFamily="34" charset="0"/>
                <a:ea typeface="IBM Plex Sans" pitchFamily="34" charset="-122"/>
                <a:cs typeface="IBM Plex Sans" pitchFamily="34" charset="-120"/>
              </a:rPr>
              <a:t>LLM action enum</a:t>
            </a:r>
            <a:endParaRPr lang="en-US" sz="1250" dirty="0"/>
          </a:p>
        </p:txBody>
      </p:sp>
      <p:sp>
        <p:nvSpPr>
          <p:cNvPr id="25" name="Text 19"/>
          <p:cNvSpPr/>
          <p:nvPr/>
        </p:nvSpPr>
        <p:spPr>
          <a:xfrm>
            <a:off x="6629400" y="2590800"/>
            <a:ext cx="1905000" cy="584200"/>
          </a:xfrm>
          <a:prstGeom prst="roundRect">
            <a:avLst>
              <a:gd name="adj" fmla="val 13043"/>
            </a:avLst>
          </a:prstGeom>
          <a:solidFill>
            <a:srgbClr val="232830"/>
          </a:solidFill>
          <a:ln/>
        </p:spPr>
        <p:txBody>
          <a:bodyPr wrap="none" lIns="0" tIns="91982" rIns="0" bIns="66582" rtlCol="0" anchor="t">
            <a:normAutofit/>
          </a:bodyPr>
          <a:lstStyle/>
          <a:p>
            <a:pPr algn="ctr" indent="0" marL="0">
              <a:lnSpc>
                <a:spcPts val="1723"/>
              </a:lnSpc>
              <a:buNone/>
            </a:pPr>
            <a:r>
              <a:rPr lang="en-US" sz="1230" dirty="0">
                <a:solidFill>
                  <a:srgbClr val="FAFAF8"/>
                </a:solidFill>
                <a:latin typeface="IBM Plex Sans" pitchFamily="34" charset="0"/>
                <a:ea typeface="IBM Plex Sans" pitchFamily="34" charset="-122"/>
                <a:cs typeface="IBM Plex Sans" pitchFamily="34" charset="-120"/>
              </a:rPr>
              <a:t>JSON schema &amp; prompt</a:t>
            </a:r>
            <a:endParaRPr lang="en-US" sz="1230" dirty="0"/>
          </a:p>
        </p:txBody>
      </p:sp>
      <p:sp>
        <p:nvSpPr>
          <p:cNvPr id="26" name="Text 20"/>
          <p:cNvSpPr/>
          <p:nvPr/>
        </p:nvSpPr>
        <p:spPr>
          <a:xfrm>
            <a:off x="6629400" y="3276600"/>
            <a:ext cx="1905000" cy="584200"/>
          </a:xfrm>
          <a:prstGeom prst="roundRect">
            <a:avLst>
              <a:gd name="adj" fmla="val 13043"/>
            </a:avLst>
          </a:prstGeom>
          <a:solidFill>
            <a:srgbClr val="232830"/>
          </a:solidFill>
          <a:ln/>
        </p:spPr>
        <p:txBody>
          <a:bodyPr wrap="square" lIns="91982" tIns="91982" rIns="41182" bIns="91982" rtlCol="0" anchor="t">
            <a:normAutofit/>
          </a:bodyPr>
          <a:lstStyle/>
          <a:p>
            <a:pPr algn="l" indent="0" marL="0">
              <a:lnSpc>
                <a:spcPts val="1750"/>
              </a:lnSpc>
              <a:buNone/>
            </a:pPr>
            <a:r>
              <a:rPr lang="en-US" sz="1250" dirty="0">
                <a:solidFill>
                  <a:srgbClr val="FAFAF8"/>
                </a:solidFill>
                <a:latin typeface="IBM Plex Sans" pitchFamily="34" charset="0"/>
                <a:ea typeface="IBM Plex Sans" pitchFamily="34" charset="-122"/>
                <a:cs typeface="IBM Plex Sans" pitchFamily="34" charset="-120"/>
              </a:rPr>
              <a:t>Web form &amp; trace lane</a:t>
            </a:r>
            <a:endParaRPr lang="en-US" sz="1250" dirty="0"/>
          </a:p>
        </p:txBody>
      </p:sp>
      <p:sp>
        <p:nvSpPr>
          <p:cNvPr id="27" name="Text 21"/>
          <p:cNvSpPr/>
          <p:nvPr/>
        </p:nvSpPr>
        <p:spPr>
          <a:xfrm>
            <a:off x="6629400" y="3962400"/>
            <a:ext cx="1905000" cy="584200"/>
          </a:xfrm>
          <a:prstGeom prst="roundRect">
            <a:avLst>
              <a:gd name="adj" fmla="val 13043"/>
            </a:avLst>
          </a:prstGeom>
          <a:solidFill>
            <a:srgbClr val="232830"/>
          </a:solidFill>
          <a:ln/>
        </p:spPr>
        <p:txBody>
          <a:bodyPr wrap="square" lIns="91982" tIns="91982" rIns="41182" bIns="91982" rtlCol="0" anchor="t">
            <a:normAutofit/>
          </a:bodyPr>
          <a:lstStyle/>
          <a:p>
            <a:pPr algn="l" indent="0" marL="0">
              <a:lnSpc>
                <a:spcPts val="1750"/>
              </a:lnSpc>
              <a:buNone/>
            </a:pPr>
            <a:r>
              <a:rPr lang="en-US" sz="1250" dirty="0">
                <a:solidFill>
                  <a:srgbClr val="FAFAF8"/>
                </a:solidFill>
                <a:latin typeface="IBM Plex Sans" pitchFamily="34" charset="0"/>
                <a:ea typeface="IBM Plex Sans" pitchFamily="34" charset="-122"/>
                <a:cs typeface="IBM Plex Sans" pitchFamily="34" charset="-120"/>
              </a:rPr>
              <a:t>Run provenance</a:t>
            </a:r>
            <a:endParaRPr lang="en-US" sz="1250" dirty="0"/>
          </a:p>
        </p:txBody>
      </p:sp>
      <p:sp>
        <p:nvSpPr>
          <p:cNvPr id="28" name="Shape 22"/>
          <p:cNvSpPr/>
          <p:nvPr/>
        </p:nvSpPr>
        <p:spPr>
          <a:xfrm>
            <a:off x="9017000" y="1905000"/>
            <a:ext cx="1943100" cy="2641600"/>
          </a:xfrm>
          <a:prstGeom prst="roundRect">
            <a:avLst>
              <a:gd name="adj" fmla="val 4575"/>
            </a:avLst>
          </a:prstGeom>
          <a:solidFill>
            <a:srgbClr val="16382B"/>
          </a:solidFill>
          <a:ln/>
        </p:spPr>
      </p:sp>
      <p:sp>
        <p:nvSpPr>
          <p:cNvPr id="29" name="Text 23"/>
          <p:cNvSpPr/>
          <p:nvPr/>
        </p:nvSpPr>
        <p:spPr>
          <a:xfrm>
            <a:off x="9182100" y="2070100"/>
            <a:ext cx="1663700" cy="206177"/>
          </a:xfrm>
          <a:prstGeom prst="rect">
            <a:avLst/>
          </a:prstGeom>
          <a:noFill/>
          <a:ln/>
        </p:spPr>
        <p:txBody>
          <a:bodyPr wrap="square" lIns="0" tIns="0" rIns="0" bIns="0" rtlCol="0" anchor="t">
            <a:normAutofit/>
          </a:bodyPr>
          <a:lstStyle/>
          <a:p>
            <a:pPr algn="l" indent="0" marL="0">
              <a:lnSpc>
                <a:spcPts val="1423"/>
              </a:lnSpc>
              <a:buNone/>
            </a:pPr>
            <a:r>
              <a:rPr lang="en-US" sz="1186" b="1" dirty="0">
                <a:solidFill>
                  <a:srgbClr val="5FBF95"/>
                </a:solidFill>
                <a:latin typeface="IBM Plex Sans" pitchFamily="34" charset="0"/>
                <a:ea typeface="IBM Plex Sans" pitchFamily="34" charset="-122"/>
                <a:cs typeface="IBM Plex Sans" pitchFamily="34" charset="-120"/>
              </a:rPr>
              <a:t>All of it, free</a:t>
            </a:r>
            <a:endParaRPr lang="en-US" sz="1186" dirty="0"/>
          </a:p>
        </p:txBody>
      </p:sp>
      <p:sp>
        <p:nvSpPr>
          <p:cNvPr id="30" name="Text 24"/>
          <p:cNvSpPr/>
          <p:nvPr/>
        </p:nvSpPr>
        <p:spPr>
          <a:xfrm>
            <a:off x="9182100" y="2250877"/>
            <a:ext cx="1663700" cy="1187516"/>
          </a:xfrm>
          <a:prstGeom prst="rect">
            <a:avLst/>
          </a:prstGeom>
          <a:noFill/>
          <a:ln/>
        </p:spPr>
        <p:txBody>
          <a:bodyPr wrap="square" lIns="0" tIns="0" rIns="0" bIns="0" rtlCol="0" anchor="t">
            <a:normAutofit/>
          </a:bodyPr>
          <a:lstStyle/>
          <a:p>
            <a:pPr algn="l" indent="0" marL="0">
              <a:lnSpc>
                <a:spcPts val="1626"/>
              </a:lnSpc>
              <a:buNone/>
            </a:pPr>
            <a:r>
              <a:rPr lang="en-US" sz="1084" dirty="0">
                <a:solidFill>
                  <a:srgbClr val="B8D4C6"/>
                </a:solidFill>
                <a:latin typeface="IBM Plex Sans" pitchFamily="34" charset="0"/>
                <a:ea typeface="IBM Plex Sans" pitchFamily="34" charset="-122"/>
                <a:cs typeface="IBM Plex Sans" pitchFamily="34" charset="-120"/>
              </a:rPr>
              <a:t>One </a:t>
            </a:r>
            <a:r>
              <a:rPr lang="en-US" sz="1084" dirty="0">
                <a:solidFill>
                  <a:srgbClr val="FAFAF8"/>
                </a:solidFill>
                <a:latin typeface="IBM Plex Sans" pitchFamily="34" charset="0"/>
                <a:ea typeface="IBM Plex Sans" pitchFamily="34" charset="-122"/>
                <a:cs typeface="IBM Plex Sans" pitchFamily="34" charset="-120"/>
              </a:rPr>
              <a:t>Capability</a:t>
            </a:r>
            <a:r>
              <a:rPr lang="en-US" sz="1084" dirty="0">
                <a:solidFill>
                  <a:srgbClr val="B8D4C6"/>
                </a:solidFill>
                <a:latin typeface="IBM Plex Sans" pitchFamily="34" charset="0"/>
                <a:ea typeface="IBM Plex Sans" pitchFamily="34" charset="-122"/>
                <a:cs typeface="IBM Plex Sans" pitchFamily="34" charset="-120"/>
              </a:rPr>
              <a:t> declaration drives every one of those. A plugin author writes no prompt text, no form, no renderer.</a:t>
            </a:r>
            <a:endParaRPr lang="en-US" sz="1084" dirty="0"/>
          </a:p>
        </p:txBody>
      </p:sp>
      <p:sp>
        <p:nvSpPr>
          <p:cNvPr id="31" name="Text 25"/>
          <p:cNvSpPr/>
          <p:nvPr/>
        </p:nvSpPr>
        <p:spPr>
          <a:xfrm>
            <a:off x="9182100" y="3412995"/>
            <a:ext cx="1663700" cy="993907"/>
          </a:xfrm>
          <a:prstGeom prst="rect">
            <a:avLst/>
          </a:prstGeom>
          <a:noFill/>
          <a:ln/>
        </p:spPr>
        <p:txBody>
          <a:bodyPr wrap="square" lIns="0" tIns="0" rIns="0" bIns="0" rtlCol="0" anchor="t">
            <a:normAutofit/>
          </a:bodyPr>
          <a:lstStyle/>
          <a:p>
            <a:pPr algn="l" indent="0" marL="0">
              <a:lnSpc>
                <a:spcPts val="1637"/>
              </a:lnSpc>
              <a:buNone/>
            </a:pPr>
            <a:r>
              <a:rPr lang="en-US" sz="1091" dirty="0">
                <a:solidFill>
                  <a:srgbClr val="B8D4C6"/>
                </a:solidFill>
                <a:latin typeface="IBM Plex Sans" pitchFamily="34" charset="0"/>
                <a:ea typeface="IBM Plex Sans" pitchFamily="34" charset="-122"/>
                <a:cs typeface="IBM Plex Sans" pitchFamily="34" charset="-120"/>
              </a:rPr>
              <a:t>Proven twice: a toxicity screener and a constraint checker, both loaded from outside the package.</a:t>
            </a:r>
            <a:endParaRPr lang="en-US" sz="1091" dirty="0"/>
          </a:p>
        </p:txBody>
      </p:sp>
      <p:sp>
        <p:nvSpPr>
          <p:cNvPr id="32" name="Text 26"/>
          <p:cNvSpPr/>
          <p:nvPr/>
        </p:nvSpPr>
        <p:spPr>
          <a:xfrm>
            <a:off x="812800" y="4838700"/>
            <a:ext cx="10147300" cy="622300"/>
          </a:xfrm>
          <a:custGeom>
            <a:avLst/>
            <a:gdLst/>
            <a:ahLst/>
            <a:cxnLst/>
            <a:rect l="l" t="t" r="r" b="b"/>
            <a:pathLst>
              <a:path w="10147300" h="622300">
                <a:moveTo>
                  <a:pt x="0" y="0"/>
                </a:moveTo>
                <a:lnTo>
                  <a:pt x="10071100" y="0"/>
                </a:lnTo>
                <a:arcTo hR="76200" wR="76200" stAng="16200000" swAng="5400000"/>
                <a:lnTo>
                  <a:pt x="10147300" y="546100"/>
                </a:lnTo>
                <a:arcTo hR="76200" wR="76200" stAng="0" swAng="5400000"/>
                <a:lnTo>
                  <a:pt x="0" y="622300"/>
                </a:lnTo>
                <a:lnTo>
                  <a:pt x="0" y="0"/>
                </a:lnTo>
                <a:close/>
              </a:path>
            </a:pathLst>
          </a:custGeom>
          <a:solidFill>
            <a:srgbClr val="2F2416"/>
          </a:solidFill>
          <a:ln/>
        </p:spPr>
        <p:txBody>
          <a:bodyPr wrap="square" lIns="169333" tIns="139700" rIns="0" bIns="114300" rtlCol="0" anchor="t">
            <a:normAutofit/>
          </a:bodyPr>
          <a:lstStyle/>
          <a:p>
            <a:pPr algn="l" indent="0" marL="0">
              <a:lnSpc>
                <a:spcPts val="1359"/>
              </a:lnSpc>
              <a:buNone/>
            </a:pPr>
            <a:r>
              <a:rPr lang="en-US" sz="938" b="1" dirty="0">
                <a:solidFill>
                  <a:srgbClr val="FAFAF8"/>
                </a:solidFill>
                <a:latin typeface="IBM Plex Sans" pitchFamily="34" charset="0"/>
                <a:ea typeface="IBM Plex Sans" pitchFamily="34" charset="-122"/>
                <a:cs typeface="IBM Plex Sans" pitchFamily="34" charset="-120"/>
              </a:rPr>
              <a:t>The fix that made it real:</a:t>
            </a:r>
            <a:r>
              <a:rPr lang="en-US" sz="938" dirty="0">
                <a:solidFill>
                  <a:srgbClr val="C3CAD4"/>
                </a:solidFill>
                <a:latin typeface="IBM Plex Sans" pitchFamily="34" charset="0"/>
                <a:ea typeface="IBM Plex Sans" pitchFamily="34" charset="-122"/>
                <a:cs typeface="IBM Plex Sans" pitchFamily="34" charset="-120"/>
              </a:rPr>
              <a:t> the rule-based policies scored subsystems by name, so a plugin they had never heard of was never chosen </a:t>
            </a:r>
            <a:r>
              <a:rPr lang="en-US" sz="938" i="1" dirty="0">
                <a:solidFill>
                  <a:srgbClr val="C3CAD4"/>
                </a:solidFill>
                <a:latin typeface="IBM Plex Sans" pitchFamily="34" charset="0"/>
                <a:ea typeface="IBM Plex Sans" pitchFamily="34" charset="-122"/>
                <a:cs typeface="IBM Plex Sans" pitchFamily="34" charset="-120"/>
              </a:rPr>
              <a:t>and never appeared in the trace</a:t>
            </a:r>
            <a:r>
              <a:rPr lang="en-US" sz="938" dirty="0">
                <a:solidFill>
                  <a:srgbClr val="C3CAD4"/>
                </a:solidFill>
                <a:latin typeface="IBM Plex Sans" pitchFamily="34" charset="0"/>
                <a:ea typeface="IBM Plex Sans" pitchFamily="34" charset="-122"/>
                <a:cs typeface="IBM Plex Sans" pitchFamily="34" charset="-120"/>
              </a:rPr>
              <a:t> — unroutable and invisible. Each subsystem now reports its own urgency, so it can lose, but it is always seen losing.</a:t>
            </a:r>
            <a:endParaRPr lang="en-US" sz="938" dirty="0"/>
          </a:p>
        </p:txBody>
      </p:sp>
      <p:sp>
        <p:nvSpPr>
          <p:cNvPr id="33" name="Shape 27"/>
          <p:cNvSpPr/>
          <p:nvPr/>
        </p:nvSpPr>
        <p:spPr>
          <a:xfrm>
            <a:off x="812800" y="4838700"/>
            <a:ext cx="10147300" cy="622300"/>
          </a:xfrm>
          <a:custGeom>
            <a:avLst/>
            <a:gdLst/>
            <a:ahLst/>
            <a:cxnLst/>
            <a:rect l="l" t="t" r="r" b="b"/>
            <a:pathLst>
              <a:path w="10147300" h="622300">
                <a:moveTo>
                  <a:pt x="31750" y="622300"/>
                </a:moveTo>
                <a:lnTo>
                  <a:pt x="0" y="622300"/>
                </a:lnTo>
                <a:lnTo>
                  <a:pt x="0" y="0"/>
                </a:lnTo>
                <a:lnTo>
                  <a:pt x="31750" y="0"/>
                </a:lnTo>
                <a:lnTo>
                  <a:pt x="31750" y="622300"/>
                </a:lnTo>
                <a:close/>
              </a:path>
            </a:pathLst>
          </a:custGeom>
          <a:solidFill>
            <a:srgbClr val="E8B45F"/>
          </a:solidFill>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AF8"/>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09918"/>
          </a:xfrm>
          <a:prstGeom prst="rect">
            <a:avLst/>
          </a:prstGeom>
          <a:noFill/>
          <a:ln/>
        </p:spPr>
        <p:txBody>
          <a:bodyPr wrap="square" lIns="0" tIns="0" rIns="0" bIns="0" rtlCol="0" anchor="t">
            <a:normAutofit/>
          </a:bodyPr>
          <a:lstStyle/>
          <a:p>
            <a:pPr algn="l" indent="0" marL="0">
              <a:lnSpc>
                <a:spcPts val="3824"/>
              </a:lnSpc>
              <a:buNone/>
            </a:pPr>
            <a:r>
              <a:rPr lang="en-US" sz="3476" b="1" i="0" dirty="0">
                <a:solidFill>
                  <a:srgbClr val="171A1F"/>
                </a:solidFill>
                <a:latin typeface="IBM Plex Sans" pitchFamily="34" charset="0"/>
                <a:ea typeface="IBM Plex Sans" pitchFamily="34" charset="-122"/>
                <a:cs typeface="IBM Plex Sans" pitchFamily="34" charset="-120"/>
              </a:rPr>
              <a:t>The four subsystems</a:t>
            </a:r>
            <a:endParaRPr lang="en-US" sz="3476" dirty="0"/>
          </a:p>
        </p:txBody>
      </p:sp>
      <p:sp>
        <p:nvSpPr>
          <p:cNvPr id="3" name="Text 1"/>
          <p:cNvSpPr/>
          <p:nvPr/>
        </p:nvSpPr>
        <p:spPr>
          <a:xfrm>
            <a:off x="812800" y="1360819"/>
            <a:ext cx="10883392" cy="265179"/>
          </a:xfrm>
          <a:prstGeom prst="rect">
            <a:avLst/>
          </a:prstGeom>
          <a:noFill/>
          <a:ln/>
        </p:spPr>
        <p:txBody>
          <a:bodyPr wrap="square" lIns="0" tIns="0" rIns="0" bIns="0" rtlCol="0" anchor="t">
            <a:normAutofit/>
          </a:bodyPr>
          <a:lstStyle/>
          <a:p>
            <a:pPr algn="l" indent="0" marL="0">
              <a:lnSpc>
                <a:spcPts val="1923"/>
              </a:lnSpc>
              <a:buNone/>
            </a:pPr>
            <a:r>
              <a:rPr lang="en-US" sz="1374" dirty="0">
                <a:solidFill>
                  <a:srgbClr val="4A5568"/>
                </a:solidFill>
                <a:latin typeface="IBM Plex Sans" pitchFamily="34" charset="0"/>
                <a:ea typeface="IBM Plex Sans" pitchFamily="34" charset="-122"/>
                <a:cs typeface="IBM Plex Sans" pitchFamily="34" charset="-120"/>
              </a:rPr>
              <a:t>All real. None stubbed. Each costs budget at a different rate — which is what makes routing a decision at all.</a:t>
            </a:r>
            <a:endParaRPr lang="en-US" sz="1374"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41897"/>
          <a:ext cx="10553700" cy="2884951"/>
        </p:xfrm>
        <a:graphic>
          <a:graphicData uri="http://schemas.openxmlformats.org/drawingml/2006/table">
            <a:tbl>
              <a:tblPr/>
              <a:tblGrid>
                <a:gridCol w="1794129"/>
                <a:gridCol w="1477518"/>
                <a:gridCol w="2955036"/>
                <a:gridCol w="4327017"/>
              </a:tblGrid>
              <a:tr h="393898">
                <a:tc>
                  <a:txBody>
                    <a:bodyPr/>
                    <a:lstStyle/>
                    <a:p>
                      <a:pPr indent="0" marL="0">
                        <a:lnSpc>
                          <a:spcPts val="1801"/>
                        </a:lnSpc>
                        <a:buNone/>
                      </a:pPr>
                      <a:r>
                        <a:rPr lang="en-US" sz="1287" b="1" dirty="0">
                          <a:solidFill>
                            <a:srgbClr val="171A1F"/>
                          </a:solidFill>
                          <a:latin typeface="IBM Plex Sans" pitchFamily="34" charset="0"/>
                          <a:ea typeface="IBM Plex Sans" pitchFamily="34" charset="-122"/>
                          <a:cs typeface="IBM Plex Sans" pitchFamily="34" charset="-120"/>
                        </a:rPr>
                        <a:t>Subsystem</a:t>
                      </a:r>
                      <a:endParaRPr lang="en-US" sz="1287" dirty="0">
                        <a:latin typeface="IBM Plex Sans" charset="0"/>
                        <a:ea typeface="IBM Plex Sans" charset="0"/>
                        <a:cs typeface="IBM Plex Sans" charset="0"/>
                      </a:endParaRPr>
                    </a:p>
                  </a:txBody>
                  <a:tcPr marL="88900" marR="88900" marT="76200" marB="76200" anchor="t">
                    <a:lnL w="12700" cap="flat" cmpd="sng" algn="ctr">
                      <a:solidFill>
                        <a:srgbClr val="C7C7C6"/>
                      </a:solidFill>
                      <a:prstDash val="solid"/>
                      <a:round/>
                      <a:headEnd type="none" w="med" len="med"/>
                      <a:tailEnd type="none" w="med" len="med"/>
                    </a:lnL>
                    <a:lnR w="12700" cap="flat" cmpd="sng" algn="ctr">
                      <a:solidFill>
                        <a:srgbClr val="B9B9B8"/>
                      </a:solidFill>
                      <a:prstDash val="solid"/>
                      <a:round/>
                      <a:headEnd type="none" w="med" len="med"/>
                      <a:tailEnd type="none" w="med" len="med"/>
                    </a:lnR>
                    <a:lnT w="12700" cap="flat" cmpd="sng" algn="ctr">
                      <a:solidFill>
                        <a:srgbClr val="C7C7C6"/>
                      </a:solidFill>
                      <a:prstDash val="solid"/>
                      <a:round/>
                      <a:headEnd type="none" w="med" len="med"/>
                      <a:tailEnd type="none" w="med" len="med"/>
                    </a:lnT>
                    <a:lnB w="12700" cap="flat" cmpd="sng" algn="ctr">
                      <a:solidFill>
                        <a:srgbClr val="B9B9B8"/>
                      </a:solidFill>
                      <a:prstDash val="solid"/>
                      <a:round/>
                      <a:headEnd type="none" w="med" len="med"/>
                      <a:tailEnd type="none" w="med" len="med"/>
                    </a:lnB>
                    <a:solidFill>
                      <a:srgbClr val="E8E8E6"/>
                    </a:solidFill>
                  </a:tcPr>
                </a:tc>
                <a:tc>
                  <a:txBody>
                    <a:bodyPr/>
                    <a:lstStyle/>
                    <a:p>
                      <a:pPr indent="0" marL="0">
                        <a:lnSpc>
                          <a:spcPts val="1801"/>
                        </a:lnSpc>
                        <a:buNone/>
                      </a:pPr>
                      <a:r>
                        <a:rPr lang="en-US" sz="1287" b="1" dirty="0">
                          <a:solidFill>
                            <a:srgbClr val="171A1F"/>
                          </a:solidFill>
                          <a:latin typeface="IBM Plex Sans" pitchFamily="34" charset="0"/>
                          <a:ea typeface="IBM Plex Sans" pitchFamily="34" charset="-122"/>
                          <a:cs typeface="IBM Plex Sans" pitchFamily="34" charset="-120"/>
                        </a:rPr>
                        <a:t>Cost</a:t>
                      </a:r>
                      <a:endParaRPr lang="en-US" sz="1287" dirty="0">
                        <a:latin typeface="IBM Plex Sans" charset="0"/>
                        <a:ea typeface="IBM Plex Sans" charset="0"/>
                        <a:cs typeface="IBM Plex Sans" charset="0"/>
                      </a:endParaRPr>
                    </a:p>
                  </a:txBody>
                  <a:tcPr marL="88900" marR="88900" marT="76200" marB="76200" anchor="t">
                    <a:lnL w="12700" cap="flat" cmpd="sng" algn="ctr">
                      <a:solidFill>
                        <a:srgbClr val="B9B9B8"/>
                      </a:solidFill>
                      <a:prstDash val="solid"/>
                      <a:round/>
                      <a:headEnd type="none" w="med" len="med"/>
                      <a:tailEnd type="none" w="med" len="med"/>
                    </a:lnL>
                    <a:lnR w="12700" cap="flat" cmpd="sng" algn="ctr">
                      <a:solidFill>
                        <a:srgbClr val="B9B9B8"/>
                      </a:solidFill>
                      <a:prstDash val="solid"/>
                      <a:round/>
                      <a:headEnd type="none" w="med" len="med"/>
                      <a:tailEnd type="none" w="med" len="med"/>
                    </a:lnR>
                    <a:lnT w="12700" cap="flat" cmpd="sng" algn="ctr">
                      <a:solidFill>
                        <a:srgbClr val="C7C7C6"/>
                      </a:solidFill>
                      <a:prstDash val="solid"/>
                      <a:round/>
                      <a:headEnd type="none" w="med" len="med"/>
                      <a:tailEnd type="none" w="med" len="med"/>
                    </a:lnT>
                    <a:lnB w="12700" cap="flat" cmpd="sng" algn="ctr">
                      <a:solidFill>
                        <a:srgbClr val="B9B9B8"/>
                      </a:solidFill>
                      <a:prstDash val="solid"/>
                      <a:round/>
                      <a:headEnd type="none" w="med" len="med"/>
                      <a:tailEnd type="none" w="med" len="med"/>
                    </a:lnB>
                    <a:solidFill>
                      <a:srgbClr val="E8E8E6"/>
                    </a:solidFill>
                  </a:tcPr>
                </a:tc>
                <a:tc>
                  <a:txBody>
                    <a:bodyPr/>
                    <a:lstStyle/>
                    <a:p>
                      <a:pPr indent="0" marL="0">
                        <a:lnSpc>
                          <a:spcPts val="1801"/>
                        </a:lnSpc>
                        <a:buNone/>
                      </a:pPr>
                      <a:r>
                        <a:rPr lang="en-US" sz="1287" b="1" dirty="0">
                          <a:solidFill>
                            <a:srgbClr val="171A1F"/>
                          </a:solidFill>
                          <a:latin typeface="IBM Plex Sans" pitchFamily="34" charset="0"/>
                          <a:ea typeface="IBM Plex Sans" pitchFamily="34" charset="-122"/>
                          <a:cs typeface="IBM Plex Sans" pitchFamily="34" charset="-120"/>
                        </a:rPr>
                        <a:t>What it does</a:t>
                      </a:r>
                      <a:endParaRPr lang="en-US" sz="1287" dirty="0">
                        <a:latin typeface="IBM Plex Sans" charset="0"/>
                        <a:ea typeface="IBM Plex Sans" charset="0"/>
                        <a:cs typeface="IBM Plex Sans" charset="0"/>
                      </a:endParaRPr>
                    </a:p>
                  </a:txBody>
                  <a:tcPr marL="88900" marR="88900" marT="76200" marB="76200" anchor="t">
                    <a:lnL w="12700" cap="flat" cmpd="sng" algn="ctr">
                      <a:solidFill>
                        <a:srgbClr val="B9B9B8"/>
                      </a:solidFill>
                      <a:prstDash val="solid"/>
                      <a:round/>
                      <a:headEnd type="none" w="med" len="med"/>
                      <a:tailEnd type="none" w="med" len="med"/>
                    </a:lnL>
                    <a:lnR w="12700" cap="flat" cmpd="sng" algn="ctr">
                      <a:solidFill>
                        <a:srgbClr val="B9B9B8"/>
                      </a:solidFill>
                      <a:prstDash val="solid"/>
                      <a:round/>
                      <a:headEnd type="none" w="med" len="med"/>
                      <a:tailEnd type="none" w="med" len="med"/>
                    </a:lnR>
                    <a:lnT w="12700" cap="flat" cmpd="sng" algn="ctr">
                      <a:solidFill>
                        <a:srgbClr val="C7C7C6"/>
                      </a:solidFill>
                      <a:prstDash val="solid"/>
                      <a:round/>
                      <a:headEnd type="none" w="med" len="med"/>
                      <a:tailEnd type="none" w="med" len="med"/>
                    </a:lnT>
                    <a:lnB w="12700" cap="flat" cmpd="sng" algn="ctr">
                      <a:solidFill>
                        <a:srgbClr val="B9B9B8"/>
                      </a:solidFill>
                      <a:prstDash val="solid"/>
                      <a:round/>
                      <a:headEnd type="none" w="med" len="med"/>
                      <a:tailEnd type="none" w="med" len="med"/>
                    </a:lnB>
                    <a:solidFill>
                      <a:srgbClr val="E8E8E6"/>
                    </a:solidFill>
                  </a:tcPr>
                </a:tc>
                <a:tc>
                  <a:txBody>
                    <a:bodyPr/>
                    <a:lstStyle/>
                    <a:p>
                      <a:pPr indent="0" marL="0">
                        <a:lnSpc>
                          <a:spcPts val="1801"/>
                        </a:lnSpc>
                        <a:buNone/>
                      </a:pPr>
                      <a:r>
                        <a:rPr lang="en-US" sz="1287" b="1" dirty="0">
                          <a:solidFill>
                            <a:srgbClr val="171A1F"/>
                          </a:solidFill>
                          <a:latin typeface="IBM Plex Sans" pitchFamily="34" charset="0"/>
                          <a:ea typeface="IBM Plex Sans" pitchFamily="34" charset="-122"/>
                          <a:cs typeface="IBM Plex Sans" pitchFamily="34" charset="-120"/>
                        </a:rPr>
                        <a:t>Where the data comes from</a:t>
                      </a:r>
                      <a:endParaRPr lang="en-US" sz="1287" dirty="0">
                        <a:latin typeface="IBM Plex Sans" charset="0"/>
                        <a:ea typeface="IBM Plex Sans" charset="0"/>
                        <a:cs typeface="IBM Plex Sans" charset="0"/>
                      </a:endParaRPr>
                    </a:p>
                  </a:txBody>
                  <a:tcPr marL="88900" marR="88900" marT="76200" marB="76200" anchor="t">
                    <a:lnL w="12700" cap="flat" cmpd="sng" algn="ctr">
                      <a:solidFill>
                        <a:srgbClr val="B9B9B8"/>
                      </a:solidFill>
                      <a:prstDash val="solid"/>
                      <a:round/>
                      <a:headEnd type="none" w="med" len="med"/>
                      <a:tailEnd type="none" w="med" len="med"/>
                    </a:lnL>
                    <a:lnR w="12700" cap="flat" cmpd="sng" algn="ctr">
                      <a:solidFill>
                        <a:srgbClr val="B9B9B8"/>
                      </a:solidFill>
                      <a:prstDash val="solid"/>
                      <a:round/>
                      <a:headEnd type="none" w="med" len="med"/>
                      <a:tailEnd type="none" w="med" len="med"/>
                    </a:lnR>
                    <a:lnT w="12700" cap="flat" cmpd="sng" algn="ctr">
                      <a:solidFill>
                        <a:srgbClr val="C7C7C6"/>
                      </a:solidFill>
                      <a:prstDash val="solid"/>
                      <a:round/>
                      <a:headEnd type="none" w="med" len="med"/>
                      <a:tailEnd type="none" w="med" len="med"/>
                    </a:lnT>
                    <a:lnB w="12700" cap="flat" cmpd="sng" algn="ctr">
                      <a:solidFill>
                        <a:srgbClr val="B9B9B8"/>
                      </a:solidFill>
                      <a:prstDash val="solid"/>
                      <a:round/>
                      <a:headEnd type="none" w="med" len="med"/>
                      <a:tailEnd type="none" w="med" len="med"/>
                    </a:lnB>
                    <a:solidFill>
                      <a:srgbClr val="E8E8E6"/>
                    </a:solidFill>
                  </a:tcPr>
                </a:tc>
              </a:tr>
              <a:tr h="622763">
                <a:tc>
                  <a:txBody>
                    <a:bodyPr/>
                    <a:lstStyle/>
                    <a:p>
                      <a:pPr indent="0" marL="0">
                        <a:lnSpc>
                          <a:spcPts val="1801"/>
                        </a:lnSpc>
                        <a:buNone/>
                      </a:pPr>
                      <a:r>
                        <a:rPr lang="en-US" sz="1287" dirty="0">
                          <a:solidFill>
                            <a:srgbClr val="2A5BB0"/>
                          </a:solidFill>
                          <a:latin typeface="IBM Plex Sans" pitchFamily="34" charset="0"/>
                          <a:ea typeface="IBM Plex Sans" pitchFamily="34" charset="-122"/>
                          <a:cs typeface="IBM Plex Sans" pitchFamily="34" charset="-120"/>
                        </a:rPr>
                        <a:t>retrieval</a:t>
                      </a:r>
                      <a:endParaRPr lang="en-US" sz="1287" dirty="0">
                        <a:latin typeface="IBM Plex Sans" charset="0"/>
                        <a:ea typeface="IBM Plex Sans" charset="0"/>
                        <a:cs typeface="IBM Plex Sans" charset="0"/>
                      </a:endParaRPr>
                    </a:p>
                  </a:txBody>
                  <a:tcPr marL="88900" marR="88900" marT="76200" marB="76200" anchor="t">
                    <a:lnL w="12700" cap="flat" cmpd="sng" algn="ctr">
                      <a:solidFill>
                        <a:srgbClr val="C7C7C6"/>
                      </a:solidFill>
                      <a:prstDash val="solid"/>
                      <a:round/>
                      <a:headEnd type="none" w="med" len="med"/>
                      <a:tailEnd type="none" w="med" len="med"/>
                    </a:lnL>
                    <a:lnR w="12700" cap="flat" cmpd="sng" algn="ctr">
                      <a:solidFill>
                        <a:srgbClr val="C7C7C6"/>
                      </a:solidFill>
                      <a:prstDash val="solid"/>
                      <a:round/>
                      <a:headEnd type="none" w="med" len="med"/>
                      <a:tailEnd type="none" w="med" len="med"/>
                    </a:lnR>
                    <a:lnT w="12700" cap="flat" cmpd="sng" algn="ctr">
                      <a:solidFill>
                        <a:srgbClr val="B9B9B8"/>
                      </a:solidFill>
                      <a:prstDash val="solid"/>
                      <a:round/>
                      <a:headEnd type="none" w="med" len="med"/>
                      <a:tailEnd type="none" w="med" len="med"/>
                    </a:lnT>
                    <a:lnB w="12700" cap="flat" cmpd="sng" algn="ctr">
                      <a:solidFill>
                        <a:srgbClr val="C7C7C6"/>
                      </a:solidFill>
                      <a:prstDash val="solid"/>
                      <a:round/>
                      <a:headEnd type="none" w="med" len="med"/>
                      <a:tailEnd type="none" w="med" len="med"/>
                    </a:lnB>
                  </a:tcPr>
                </a:tc>
                <a:tc>
                  <a:txBody>
                    <a:bodyPr/>
                    <a:lstStyle/>
                    <a:p>
                      <a:pPr indent="0" marL="0">
                        <a:lnSpc>
                          <a:spcPts val="1801"/>
                        </a:lnSpc>
                        <a:buNone/>
                      </a:pPr>
                      <a:r>
                        <a:rPr lang="en-US" sz="1287" dirty="0">
                          <a:solidFill>
                            <a:srgbClr val="171A1F"/>
                          </a:solidFill>
                          <a:latin typeface="IBM Plex Sans" pitchFamily="34" charset="0"/>
                          <a:ea typeface="IBM Plex Sans" pitchFamily="34" charset="-122"/>
                          <a:cs typeface="IBM Plex Sans" pitchFamily="34" charset="-120"/>
                        </a:rPr>
                        <a:t>1 / call</a:t>
                      </a:r>
                      <a:endParaRPr lang="en-US" sz="1287" dirty="0">
                        <a:latin typeface="IBM Plex Sans" charset="0"/>
                        <a:ea typeface="IBM Plex Sans" charset="0"/>
                        <a:cs typeface="IBM Plex Sans" charset="0"/>
                      </a:endParaRPr>
                    </a:p>
                  </a:txBody>
                  <a:tcPr marL="88900" marR="88900" marT="76200" marB="76200" anchor="t">
                    <a:lnL w="12700" cap="flat" cmpd="sng" algn="ctr">
                      <a:solidFill>
                        <a:srgbClr val="C7C7C6"/>
                      </a:solidFill>
                      <a:prstDash val="solid"/>
                      <a:round/>
                      <a:headEnd type="none" w="med" len="med"/>
                      <a:tailEnd type="none" w="med" len="med"/>
                    </a:lnL>
                    <a:lnR w="12700" cap="flat" cmpd="sng" algn="ctr">
                      <a:solidFill>
                        <a:srgbClr val="C7C7C6"/>
                      </a:solidFill>
                      <a:prstDash val="solid"/>
                      <a:round/>
                      <a:headEnd type="none" w="med" len="med"/>
                      <a:tailEnd type="none" w="med" len="med"/>
                    </a:lnR>
                    <a:lnT w="12700" cap="flat" cmpd="sng" algn="ctr">
                      <a:solidFill>
                        <a:srgbClr val="B9B9B8"/>
                      </a:solidFill>
                      <a:prstDash val="solid"/>
                      <a:round/>
                      <a:headEnd type="none" w="med" len="med"/>
                      <a:tailEnd type="none" w="med" len="med"/>
                    </a:lnT>
                    <a:lnB w="12700" cap="flat" cmpd="sng" algn="ctr">
                      <a:solidFill>
                        <a:srgbClr val="C7C7C6"/>
                      </a:solidFill>
                      <a:prstDash val="solid"/>
                      <a:round/>
                      <a:headEnd type="none" w="med" len="med"/>
                      <a:tailEnd type="none" w="med" len="med"/>
                    </a:lnB>
                  </a:tcPr>
                </a:tc>
                <a:tc>
                  <a:txBody>
                    <a:bodyPr/>
                    <a:lstStyle/>
                    <a:p>
                      <a:pPr indent="0" marL="0">
                        <a:lnSpc>
                          <a:spcPts val="1801"/>
                        </a:lnSpc>
                        <a:buNone/>
                      </a:pPr>
                      <a:r>
                        <a:rPr lang="en-US" sz="1287" dirty="0">
                          <a:solidFill>
                            <a:srgbClr val="171A1F"/>
                          </a:solidFill>
                          <a:latin typeface="IBM Plex Sans" pitchFamily="34" charset="0"/>
                          <a:ea typeface="IBM Plex Sans" pitchFamily="34" charset="-122"/>
                          <a:cs typeface="IBM Plex Sans" pitchFamily="34" charset="-120"/>
                        </a:rPr>
                        <a:t>Resolve the target, rank structures, pull known actives</a:t>
                      </a:r>
                      <a:endParaRPr lang="en-US" sz="1287" dirty="0">
                        <a:latin typeface="IBM Plex Sans" charset="0"/>
                        <a:ea typeface="IBM Plex Sans" charset="0"/>
                        <a:cs typeface="IBM Plex Sans" charset="0"/>
                      </a:endParaRPr>
                    </a:p>
                  </a:txBody>
                  <a:tcPr marL="88900" marR="88900" marT="76200" marB="76200" anchor="t">
                    <a:lnL w="12700" cap="flat" cmpd="sng" algn="ctr">
                      <a:solidFill>
                        <a:srgbClr val="C7C7C6"/>
                      </a:solidFill>
                      <a:prstDash val="solid"/>
                      <a:round/>
                      <a:headEnd type="none" w="med" len="med"/>
                      <a:tailEnd type="none" w="med" len="med"/>
                    </a:lnL>
                    <a:lnR w="12700" cap="flat" cmpd="sng" algn="ctr">
                      <a:solidFill>
                        <a:srgbClr val="C7C7C6"/>
                      </a:solidFill>
                      <a:prstDash val="solid"/>
                      <a:round/>
                      <a:headEnd type="none" w="med" len="med"/>
                      <a:tailEnd type="none" w="med" len="med"/>
                    </a:lnR>
                    <a:lnT w="12700" cap="flat" cmpd="sng" algn="ctr">
                      <a:solidFill>
                        <a:srgbClr val="B9B9B8"/>
                      </a:solidFill>
                      <a:prstDash val="solid"/>
                      <a:round/>
                      <a:headEnd type="none" w="med" len="med"/>
                      <a:tailEnd type="none" w="med" len="med"/>
                    </a:lnT>
                    <a:lnB w="12700" cap="flat" cmpd="sng" algn="ctr">
                      <a:solidFill>
                        <a:srgbClr val="C7C7C6"/>
                      </a:solidFill>
                      <a:prstDash val="solid"/>
                      <a:round/>
                      <a:headEnd type="none" w="med" len="med"/>
                      <a:tailEnd type="none" w="med" len="med"/>
                    </a:lnB>
                  </a:tcPr>
                </a:tc>
                <a:tc>
                  <a:txBody>
                    <a:bodyPr/>
                    <a:lstStyle/>
                    <a:p>
                      <a:pPr indent="0" marL="0">
                        <a:lnSpc>
                          <a:spcPts val="1801"/>
                        </a:lnSpc>
                        <a:buNone/>
                      </a:pPr>
                      <a:r>
                        <a:rPr lang="en-US" sz="1287" dirty="0">
                          <a:solidFill>
                            <a:srgbClr val="4A5568"/>
                          </a:solidFill>
                          <a:latin typeface="IBM Plex Sans" pitchFamily="34" charset="0"/>
                          <a:ea typeface="IBM Plex Sans" pitchFamily="34" charset="-122"/>
                          <a:cs typeface="IBM Plex Sans" pitchFamily="34" charset="-120"/>
                        </a:rPr>
                        <a:t>UniProt, RCSB PDB, ChEMBL, PubChem — free, no key</a:t>
                      </a:r>
                      <a:endParaRPr lang="en-US" sz="1287" dirty="0">
                        <a:latin typeface="IBM Plex Sans" charset="0"/>
                        <a:ea typeface="IBM Plex Sans" charset="0"/>
                        <a:cs typeface="IBM Plex Sans" charset="0"/>
                      </a:endParaRPr>
                    </a:p>
                  </a:txBody>
                  <a:tcPr marL="88900" marR="88900" marT="76200" marB="76200" anchor="t">
                    <a:lnL w="12700" cap="flat" cmpd="sng" algn="ctr">
                      <a:solidFill>
                        <a:srgbClr val="C7C7C6"/>
                      </a:solidFill>
                      <a:prstDash val="solid"/>
                      <a:round/>
                      <a:headEnd type="none" w="med" len="med"/>
                      <a:tailEnd type="none" w="med" len="med"/>
                    </a:lnL>
                    <a:lnR w="12700" cap="flat" cmpd="sng" algn="ctr">
                      <a:solidFill>
                        <a:srgbClr val="C7C7C6"/>
                      </a:solidFill>
                      <a:prstDash val="solid"/>
                      <a:round/>
                      <a:headEnd type="none" w="med" len="med"/>
                      <a:tailEnd type="none" w="med" len="med"/>
                    </a:lnR>
                    <a:lnT w="12700" cap="flat" cmpd="sng" algn="ctr">
                      <a:solidFill>
                        <a:srgbClr val="B9B9B8"/>
                      </a:solidFill>
                      <a:prstDash val="solid"/>
                      <a:round/>
                      <a:headEnd type="none" w="med" len="med"/>
                      <a:tailEnd type="none" w="med" len="med"/>
                    </a:lnT>
                    <a:lnB w="12700" cap="flat" cmpd="sng" algn="ctr">
                      <a:solidFill>
                        <a:srgbClr val="C7C7C6"/>
                      </a:solidFill>
                      <a:prstDash val="solid"/>
                      <a:round/>
                      <a:headEnd type="none" w="med" len="med"/>
                      <a:tailEnd type="none" w="med" len="med"/>
                    </a:lnB>
                  </a:tcPr>
                </a:tc>
              </a:tr>
              <a:tr h="622763">
                <a:tc>
                  <a:txBody>
                    <a:bodyPr/>
                    <a:lstStyle/>
                    <a:p>
                      <a:pPr indent="0" marL="0">
                        <a:lnSpc>
                          <a:spcPts val="1801"/>
                        </a:lnSpc>
                        <a:buNone/>
                      </a:pPr>
                      <a:r>
                        <a:rPr lang="en-US" sz="1287" dirty="0">
                          <a:solidFill>
                            <a:srgbClr val="116358"/>
                          </a:solidFill>
                          <a:latin typeface="IBM Plex Sans" pitchFamily="34" charset="0"/>
                          <a:ea typeface="IBM Plex Sans" pitchFamily="34" charset="-122"/>
                          <a:cs typeface="IBM Plex Sans" pitchFamily="34" charset="-120"/>
                        </a:rPr>
                        <a:t>properties</a:t>
                      </a:r>
                      <a:endParaRPr lang="en-US" sz="1287" dirty="0">
                        <a:latin typeface="IBM Plex Sans" charset="0"/>
                        <a:ea typeface="IBM Plex Sans" charset="0"/>
                        <a:cs typeface="IBM Plex Sans" charset="0"/>
                      </a:endParaRPr>
                    </a:p>
                  </a:txBody>
                  <a:tcPr marL="88900" marR="88900" marT="76200" marB="76200" anchor="t">
                    <a:lnL w="12700" cap="flat" cmpd="sng" algn="ctr">
                      <a:solidFill>
                        <a:srgbClr val="C7C7C6"/>
                      </a:solidFill>
                      <a:prstDash val="solid"/>
                      <a:round/>
                      <a:headEnd type="none" w="med" len="med"/>
                      <a:tailEnd type="none" w="med" len="med"/>
                    </a:lnL>
                    <a:lnR w="12700" cap="flat" cmpd="sng" algn="ctr">
                      <a:solidFill>
                        <a:srgbClr val="C0C2BF"/>
                      </a:solidFill>
                      <a:prstDash val="solid"/>
                      <a:round/>
                      <a:headEnd type="none" w="med" len="med"/>
                      <a:tailEnd type="none" w="med" len="med"/>
                    </a:lnR>
                    <a:lnT w="12700" cap="flat" cmpd="sng" algn="ctr">
                      <a:solidFill>
                        <a:srgbClr val="C7C7C6"/>
                      </a:solidFill>
                      <a:prstDash val="solid"/>
                      <a:round/>
                      <a:headEnd type="none" w="med" len="med"/>
                      <a:tailEnd type="none" w="med" len="med"/>
                    </a:lnT>
                    <a:lnB w="12700" cap="flat" cmpd="sng" algn="ctr">
                      <a:solidFill>
                        <a:srgbClr val="C0C2BF"/>
                      </a:solidFill>
                      <a:prstDash val="solid"/>
                      <a:round/>
                      <a:headEnd type="none" w="med" len="med"/>
                      <a:tailEnd type="none" w="med" len="med"/>
                    </a:lnB>
                    <a:solidFill>
                      <a:srgbClr val="F1F3F0"/>
                    </a:solidFill>
                  </a:tcPr>
                </a:tc>
                <a:tc>
                  <a:txBody>
                    <a:bodyPr/>
                    <a:lstStyle/>
                    <a:p>
                      <a:pPr indent="0" marL="0">
                        <a:lnSpc>
                          <a:spcPts val="1801"/>
                        </a:lnSpc>
                        <a:buNone/>
                      </a:pPr>
                      <a:r>
                        <a:rPr lang="en-US" sz="1287" dirty="0">
                          <a:solidFill>
                            <a:srgbClr val="171A1F"/>
                          </a:solidFill>
                          <a:latin typeface="IBM Plex Sans" pitchFamily="34" charset="0"/>
                          <a:ea typeface="IBM Plex Sans" pitchFamily="34" charset="-122"/>
                          <a:cs typeface="IBM Plex Sans" pitchFamily="34" charset="-120"/>
                        </a:rPr>
                        <a:t>0.05 / mol</a:t>
                      </a:r>
                      <a:endParaRPr lang="en-US" sz="1287" dirty="0">
                        <a:latin typeface="IBM Plex Sans" charset="0"/>
                        <a:ea typeface="IBM Plex Sans" charset="0"/>
                        <a:cs typeface="IBM Plex Sans" charset="0"/>
                      </a:endParaRPr>
                    </a:p>
                  </a:txBody>
                  <a:tcPr marL="88900" marR="88900" marT="76200" marB="76200" anchor="t">
                    <a:lnL w="12700" cap="flat" cmpd="sng" algn="ctr">
                      <a:solidFill>
                        <a:srgbClr val="C0C2BF"/>
                      </a:solidFill>
                      <a:prstDash val="solid"/>
                      <a:round/>
                      <a:headEnd type="none" w="med" len="med"/>
                      <a:tailEnd type="none" w="med" len="med"/>
                    </a:lnL>
                    <a:lnR w="12700" cap="flat" cmpd="sng" algn="ctr">
                      <a:solidFill>
                        <a:srgbClr val="C0C2BF"/>
                      </a:solidFill>
                      <a:prstDash val="solid"/>
                      <a:round/>
                      <a:headEnd type="none" w="med" len="med"/>
                      <a:tailEnd type="none" w="med" len="med"/>
                    </a:lnR>
                    <a:lnT w="12700" cap="flat" cmpd="sng" algn="ctr">
                      <a:solidFill>
                        <a:srgbClr val="C7C7C6"/>
                      </a:solidFill>
                      <a:prstDash val="solid"/>
                      <a:round/>
                      <a:headEnd type="none" w="med" len="med"/>
                      <a:tailEnd type="none" w="med" len="med"/>
                    </a:lnT>
                    <a:lnB w="12700" cap="flat" cmpd="sng" algn="ctr">
                      <a:solidFill>
                        <a:srgbClr val="C0C2BF"/>
                      </a:solidFill>
                      <a:prstDash val="solid"/>
                      <a:round/>
                      <a:headEnd type="none" w="med" len="med"/>
                      <a:tailEnd type="none" w="med" len="med"/>
                    </a:lnB>
                    <a:solidFill>
                      <a:srgbClr val="F1F3F0"/>
                    </a:solidFill>
                  </a:tcPr>
                </a:tc>
                <a:tc>
                  <a:txBody>
                    <a:bodyPr/>
                    <a:lstStyle/>
                    <a:p>
                      <a:pPr indent="0" marL="0">
                        <a:lnSpc>
                          <a:spcPts val="1801"/>
                        </a:lnSpc>
                        <a:buNone/>
                      </a:pPr>
                      <a:r>
                        <a:rPr lang="en-US" sz="1287" dirty="0">
                          <a:solidFill>
                            <a:srgbClr val="171A1F"/>
                          </a:solidFill>
                          <a:latin typeface="IBM Plex Sans" pitchFamily="34" charset="0"/>
                          <a:ea typeface="IBM Plex Sans" pitchFamily="34" charset="-122"/>
                          <a:cs typeface="IBM Plex Sans" pitchFamily="34" charset="-120"/>
                        </a:rPr>
                        <a:t>QED, logP, TPSA, synthetic accessibility, PAINS, Lipinski</a:t>
                      </a:r>
                      <a:endParaRPr lang="en-US" sz="1287" dirty="0">
                        <a:latin typeface="IBM Plex Sans" charset="0"/>
                        <a:ea typeface="IBM Plex Sans" charset="0"/>
                        <a:cs typeface="IBM Plex Sans" charset="0"/>
                      </a:endParaRPr>
                    </a:p>
                  </a:txBody>
                  <a:tcPr marL="88900" marR="88900" marT="76200" marB="76200" anchor="t">
                    <a:lnL w="12700" cap="flat" cmpd="sng" algn="ctr">
                      <a:solidFill>
                        <a:srgbClr val="C0C2BF"/>
                      </a:solidFill>
                      <a:prstDash val="solid"/>
                      <a:round/>
                      <a:headEnd type="none" w="med" len="med"/>
                      <a:tailEnd type="none" w="med" len="med"/>
                    </a:lnL>
                    <a:lnR w="12700" cap="flat" cmpd="sng" algn="ctr">
                      <a:solidFill>
                        <a:srgbClr val="C0C2BF"/>
                      </a:solidFill>
                      <a:prstDash val="solid"/>
                      <a:round/>
                      <a:headEnd type="none" w="med" len="med"/>
                      <a:tailEnd type="none" w="med" len="med"/>
                    </a:lnR>
                    <a:lnT w="12700" cap="flat" cmpd="sng" algn="ctr">
                      <a:solidFill>
                        <a:srgbClr val="C7C7C6"/>
                      </a:solidFill>
                      <a:prstDash val="solid"/>
                      <a:round/>
                      <a:headEnd type="none" w="med" len="med"/>
                      <a:tailEnd type="none" w="med" len="med"/>
                    </a:lnT>
                    <a:lnB w="12700" cap="flat" cmpd="sng" algn="ctr">
                      <a:solidFill>
                        <a:srgbClr val="C0C2BF"/>
                      </a:solidFill>
                      <a:prstDash val="solid"/>
                      <a:round/>
                      <a:headEnd type="none" w="med" len="med"/>
                      <a:tailEnd type="none" w="med" len="med"/>
                    </a:lnB>
                    <a:solidFill>
                      <a:srgbClr val="F1F3F0"/>
                    </a:solidFill>
                  </a:tcPr>
                </a:tc>
                <a:tc>
                  <a:txBody>
                    <a:bodyPr/>
                    <a:lstStyle/>
                    <a:p>
                      <a:pPr indent="0" marL="0">
                        <a:lnSpc>
                          <a:spcPts val="1801"/>
                        </a:lnSpc>
                        <a:buNone/>
                      </a:pPr>
                      <a:r>
                        <a:rPr lang="en-US" sz="1287" dirty="0">
                          <a:solidFill>
                            <a:srgbClr val="4A5568"/>
                          </a:solidFill>
                          <a:latin typeface="IBM Plex Sans" pitchFamily="34" charset="0"/>
                          <a:ea typeface="IBM Plex Sans" pitchFamily="34" charset="-122"/>
                          <a:cs typeface="IBM Plex Sans" pitchFamily="34" charset="-120"/>
                        </a:rPr>
                        <a:t>RDKit, local — nearly free, so rarely worth skipping</a:t>
                      </a:r>
                      <a:endParaRPr lang="en-US" sz="1287" dirty="0">
                        <a:latin typeface="IBM Plex Sans" charset="0"/>
                        <a:ea typeface="IBM Plex Sans" charset="0"/>
                        <a:cs typeface="IBM Plex Sans" charset="0"/>
                      </a:endParaRPr>
                    </a:p>
                  </a:txBody>
                  <a:tcPr marL="88900" marR="88900" marT="76200" marB="76200" anchor="t">
                    <a:lnL w="12700" cap="flat" cmpd="sng" algn="ctr">
                      <a:solidFill>
                        <a:srgbClr val="C0C2BF"/>
                      </a:solidFill>
                      <a:prstDash val="solid"/>
                      <a:round/>
                      <a:headEnd type="none" w="med" len="med"/>
                      <a:tailEnd type="none" w="med" len="med"/>
                    </a:lnL>
                    <a:lnR w="12700" cap="flat" cmpd="sng" algn="ctr">
                      <a:solidFill>
                        <a:srgbClr val="C0C2BF"/>
                      </a:solidFill>
                      <a:prstDash val="solid"/>
                      <a:round/>
                      <a:headEnd type="none" w="med" len="med"/>
                      <a:tailEnd type="none" w="med" len="med"/>
                    </a:lnR>
                    <a:lnT w="12700" cap="flat" cmpd="sng" algn="ctr">
                      <a:solidFill>
                        <a:srgbClr val="C7C7C6"/>
                      </a:solidFill>
                      <a:prstDash val="solid"/>
                      <a:round/>
                      <a:headEnd type="none" w="med" len="med"/>
                      <a:tailEnd type="none" w="med" len="med"/>
                    </a:lnT>
                    <a:lnB w="12700" cap="flat" cmpd="sng" algn="ctr">
                      <a:solidFill>
                        <a:srgbClr val="C0C2BF"/>
                      </a:solidFill>
                      <a:prstDash val="solid"/>
                      <a:round/>
                      <a:headEnd type="none" w="med" len="med"/>
                      <a:tailEnd type="none" w="med" len="med"/>
                    </a:lnB>
                    <a:solidFill>
                      <a:srgbClr val="F1F3F0"/>
                    </a:solidFill>
                  </a:tcPr>
                </a:tc>
              </a:tr>
              <a:tr h="622763">
                <a:tc>
                  <a:txBody>
                    <a:bodyPr/>
                    <a:lstStyle/>
                    <a:p>
                      <a:pPr indent="0" marL="0">
                        <a:lnSpc>
                          <a:spcPts val="1801"/>
                        </a:lnSpc>
                        <a:buNone/>
                      </a:pPr>
                      <a:r>
                        <a:rPr lang="en-US" sz="1287" dirty="0">
                          <a:solidFill>
                            <a:srgbClr val="5739AE"/>
                          </a:solidFill>
                          <a:latin typeface="IBM Plex Sans" pitchFamily="34" charset="0"/>
                          <a:ea typeface="IBM Plex Sans" pitchFamily="34" charset="-122"/>
                          <a:cs typeface="IBM Plex Sans" pitchFamily="34" charset="-120"/>
                        </a:rPr>
                        <a:t>docking</a:t>
                      </a:r>
                      <a:endParaRPr lang="en-US" sz="1287" dirty="0">
                        <a:latin typeface="IBM Plex Sans" charset="0"/>
                        <a:ea typeface="IBM Plex Sans" charset="0"/>
                        <a:cs typeface="IBM Plex Sans" charset="0"/>
                      </a:endParaRPr>
                    </a:p>
                  </a:txBody>
                  <a:tcPr marL="88900" marR="88900" marT="76200" marB="76200" anchor="t">
                    <a:lnL w="12700" cap="flat" cmpd="sng" algn="ctr">
                      <a:solidFill>
                        <a:srgbClr val="C7C7C6"/>
                      </a:solidFill>
                      <a:prstDash val="solid"/>
                      <a:round/>
                      <a:headEnd type="none" w="med" len="med"/>
                      <a:tailEnd type="none" w="med" len="med"/>
                    </a:lnL>
                    <a:lnR w="12700" cap="flat" cmpd="sng" algn="ctr">
                      <a:solidFill>
                        <a:srgbClr val="C7C7C6"/>
                      </a:solidFill>
                      <a:prstDash val="solid"/>
                      <a:round/>
                      <a:headEnd type="none" w="med" len="med"/>
                      <a:tailEnd type="none" w="med" len="med"/>
                    </a:lnR>
                    <a:lnT w="12700" cap="flat" cmpd="sng" algn="ctr">
                      <a:solidFill>
                        <a:srgbClr val="C0C2BF"/>
                      </a:solidFill>
                      <a:prstDash val="solid"/>
                      <a:round/>
                      <a:headEnd type="none" w="med" len="med"/>
                      <a:tailEnd type="none" w="med" len="med"/>
                    </a:lnT>
                    <a:lnB w="12700" cap="flat" cmpd="sng" algn="ctr">
                      <a:solidFill>
                        <a:srgbClr val="C7C7C6"/>
                      </a:solidFill>
                      <a:prstDash val="solid"/>
                      <a:round/>
                      <a:headEnd type="none" w="med" len="med"/>
                      <a:tailEnd type="none" w="med" len="med"/>
                    </a:lnB>
                  </a:tcPr>
                </a:tc>
                <a:tc>
                  <a:txBody>
                    <a:bodyPr/>
                    <a:lstStyle/>
                    <a:p>
                      <a:pPr indent="0" marL="0">
                        <a:lnSpc>
                          <a:spcPts val="1801"/>
                        </a:lnSpc>
                        <a:buNone/>
                      </a:pPr>
                      <a:r>
                        <a:rPr lang="en-US" sz="1287" dirty="0">
                          <a:solidFill>
                            <a:srgbClr val="171A1F"/>
                          </a:solidFill>
                          <a:latin typeface="IBM Plex Sans" pitchFamily="34" charset="0"/>
                          <a:ea typeface="IBM Plex Sans" pitchFamily="34" charset="-122"/>
                          <a:cs typeface="IBM Plex Sans" pitchFamily="34" charset="-120"/>
                        </a:rPr>
                        <a:t>1.0 / mol</a:t>
                      </a:r>
                      <a:endParaRPr lang="en-US" sz="1287" dirty="0">
                        <a:latin typeface="IBM Plex Sans" charset="0"/>
                        <a:ea typeface="IBM Plex Sans" charset="0"/>
                        <a:cs typeface="IBM Plex Sans" charset="0"/>
                      </a:endParaRPr>
                    </a:p>
                  </a:txBody>
                  <a:tcPr marL="88900" marR="88900" marT="76200" marB="76200" anchor="t">
                    <a:lnL w="12700" cap="flat" cmpd="sng" algn="ctr">
                      <a:solidFill>
                        <a:srgbClr val="C7C7C6"/>
                      </a:solidFill>
                      <a:prstDash val="solid"/>
                      <a:round/>
                      <a:headEnd type="none" w="med" len="med"/>
                      <a:tailEnd type="none" w="med" len="med"/>
                    </a:lnL>
                    <a:lnR w="12700" cap="flat" cmpd="sng" algn="ctr">
                      <a:solidFill>
                        <a:srgbClr val="C7C7C6"/>
                      </a:solidFill>
                      <a:prstDash val="solid"/>
                      <a:round/>
                      <a:headEnd type="none" w="med" len="med"/>
                      <a:tailEnd type="none" w="med" len="med"/>
                    </a:lnR>
                    <a:lnT w="12700" cap="flat" cmpd="sng" algn="ctr">
                      <a:solidFill>
                        <a:srgbClr val="C0C2BF"/>
                      </a:solidFill>
                      <a:prstDash val="solid"/>
                      <a:round/>
                      <a:headEnd type="none" w="med" len="med"/>
                      <a:tailEnd type="none" w="med" len="med"/>
                    </a:lnT>
                    <a:lnB w="12700" cap="flat" cmpd="sng" algn="ctr">
                      <a:solidFill>
                        <a:srgbClr val="C7C7C6"/>
                      </a:solidFill>
                      <a:prstDash val="solid"/>
                      <a:round/>
                      <a:headEnd type="none" w="med" len="med"/>
                      <a:tailEnd type="none" w="med" len="med"/>
                    </a:lnB>
                  </a:tcPr>
                </a:tc>
                <a:tc>
                  <a:txBody>
                    <a:bodyPr/>
                    <a:lstStyle/>
                    <a:p>
                      <a:pPr indent="0" marL="0">
                        <a:lnSpc>
                          <a:spcPts val="1801"/>
                        </a:lnSpc>
                        <a:buNone/>
                      </a:pPr>
                      <a:r>
                        <a:rPr lang="en-US" sz="1287" dirty="0">
                          <a:solidFill>
                            <a:srgbClr val="171A1F"/>
                          </a:solidFill>
                          <a:latin typeface="IBM Plex Sans" pitchFamily="34" charset="0"/>
                          <a:ea typeface="IBM Plex Sans" pitchFamily="34" charset="-122"/>
                          <a:cs typeface="IBM Plex Sans" pitchFamily="34" charset="-120"/>
                        </a:rPr>
                        <a:t>Estimate binding affinity against the chosen structure</a:t>
                      </a:r>
                      <a:endParaRPr lang="en-US" sz="1287" dirty="0">
                        <a:latin typeface="IBM Plex Sans" charset="0"/>
                        <a:ea typeface="IBM Plex Sans" charset="0"/>
                        <a:cs typeface="IBM Plex Sans" charset="0"/>
                      </a:endParaRPr>
                    </a:p>
                  </a:txBody>
                  <a:tcPr marL="88900" marR="88900" marT="76200" marB="76200" anchor="t">
                    <a:lnL w="12700" cap="flat" cmpd="sng" algn="ctr">
                      <a:solidFill>
                        <a:srgbClr val="C7C7C6"/>
                      </a:solidFill>
                      <a:prstDash val="solid"/>
                      <a:round/>
                      <a:headEnd type="none" w="med" len="med"/>
                      <a:tailEnd type="none" w="med" len="med"/>
                    </a:lnL>
                    <a:lnR w="12700" cap="flat" cmpd="sng" algn="ctr">
                      <a:solidFill>
                        <a:srgbClr val="C7C7C6"/>
                      </a:solidFill>
                      <a:prstDash val="solid"/>
                      <a:round/>
                      <a:headEnd type="none" w="med" len="med"/>
                      <a:tailEnd type="none" w="med" len="med"/>
                    </a:lnR>
                    <a:lnT w="12700" cap="flat" cmpd="sng" algn="ctr">
                      <a:solidFill>
                        <a:srgbClr val="C0C2BF"/>
                      </a:solidFill>
                      <a:prstDash val="solid"/>
                      <a:round/>
                      <a:headEnd type="none" w="med" len="med"/>
                      <a:tailEnd type="none" w="med" len="med"/>
                    </a:lnT>
                    <a:lnB w="12700" cap="flat" cmpd="sng" algn="ctr">
                      <a:solidFill>
                        <a:srgbClr val="C7C7C6"/>
                      </a:solidFill>
                      <a:prstDash val="solid"/>
                      <a:round/>
                      <a:headEnd type="none" w="med" len="med"/>
                      <a:tailEnd type="none" w="med" len="med"/>
                    </a:lnB>
                  </a:tcPr>
                </a:tc>
                <a:tc>
                  <a:txBody>
                    <a:bodyPr/>
                    <a:lstStyle/>
                    <a:p>
                      <a:pPr indent="0" marL="0">
                        <a:lnSpc>
                          <a:spcPts val="1801"/>
                        </a:lnSpc>
                        <a:buNone/>
                      </a:pPr>
                      <a:r>
                        <a:rPr lang="en-US" sz="1287" dirty="0">
                          <a:solidFill>
                            <a:srgbClr val="4A5568"/>
                          </a:solidFill>
                          <a:latin typeface="IBM Plex Sans" pitchFamily="34" charset="0"/>
                          <a:ea typeface="IBM Plex Sans" pitchFamily="34" charset="-122"/>
                          <a:cs typeface="IBM Plex Sans" pitchFamily="34" charset="-120"/>
                        </a:rPr>
                        <a:t>AutoDock Vina — the expensive oracle, 10–30s per molecule</a:t>
                      </a:r>
                      <a:endParaRPr lang="en-US" sz="1287" dirty="0">
                        <a:latin typeface="IBM Plex Sans" charset="0"/>
                        <a:ea typeface="IBM Plex Sans" charset="0"/>
                        <a:cs typeface="IBM Plex Sans" charset="0"/>
                      </a:endParaRPr>
                    </a:p>
                  </a:txBody>
                  <a:tcPr marL="88900" marR="88900" marT="76200" marB="76200" anchor="t">
                    <a:lnL w="12700" cap="flat" cmpd="sng" algn="ctr">
                      <a:solidFill>
                        <a:srgbClr val="C7C7C6"/>
                      </a:solidFill>
                      <a:prstDash val="solid"/>
                      <a:round/>
                      <a:headEnd type="none" w="med" len="med"/>
                      <a:tailEnd type="none" w="med" len="med"/>
                    </a:lnL>
                    <a:lnR w="12700" cap="flat" cmpd="sng" algn="ctr">
                      <a:solidFill>
                        <a:srgbClr val="C7C7C6"/>
                      </a:solidFill>
                      <a:prstDash val="solid"/>
                      <a:round/>
                      <a:headEnd type="none" w="med" len="med"/>
                      <a:tailEnd type="none" w="med" len="med"/>
                    </a:lnR>
                    <a:lnT w="12700" cap="flat" cmpd="sng" algn="ctr">
                      <a:solidFill>
                        <a:srgbClr val="C0C2BF"/>
                      </a:solidFill>
                      <a:prstDash val="solid"/>
                      <a:round/>
                      <a:headEnd type="none" w="med" len="med"/>
                      <a:tailEnd type="none" w="med" len="med"/>
                    </a:lnT>
                    <a:lnB w="12700" cap="flat" cmpd="sng" algn="ctr">
                      <a:solidFill>
                        <a:srgbClr val="C7C7C6"/>
                      </a:solidFill>
                      <a:prstDash val="solid"/>
                      <a:round/>
                      <a:headEnd type="none" w="med" len="med"/>
                      <a:tailEnd type="none" w="med" len="med"/>
                    </a:lnB>
                  </a:tcPr>
                </a:tc>
              </a:tr>
              <a:tr h="622763">
                <a:tc>
                  <a:txBody>
                    <a:bodyPr/>
                    <a:lstStyle/>
                    <a:p>
                      <a:pPr indent="0" marL="0">
                        <a:lnSpc>
                          <a:spcPts val="1801"/>
                        </a:lnSpc>
                        <a:buNone/>
                      </a:pPr>
                      <a:r>
                        <a:rPr lang="en-US" sz="1287" dirty="0">
                          <a:solidFill>
                            <a:srgbClr val="8A5F15"/>
                          </a:solidFill>
                          <a:latin typeface="IBM Plex Sans" pitchFamily="34" charset="0"/>
                          <a:ea typeface="IBM Plex Sans" pitchFamily="34" charset="-122"/>
                          <a:cs typeface="IBM Plex Sans" pitchFamily="34" charset="-120"/>
                        </a:rPr>
                        <a:t>generation</a:t>
                      </a:r>
                      <a:endParaRPr lang="en-US" sz="1287" dirty="0">
                        <a:latin typeface="IBM Plex Sans" charset="0"/>
                        <a:ea typeface="IBM Plex Sans" charset="0"/>
                        <a:cs typeface="IBM Plex Sans" charset="0"/>
                      </a:endParaRPr>
                    </a:p>
                  </a:txBody>
                  <a:tcPr marL="88900" marR="88900" marT="76200" marB="76200" anchor="t">
                    <a:lnL w="12700" cap="flat" cmpd="sng" algn="ctr">
                      <a:solidFill>
                        <a:srgbClr val="C7C7C6"/>
                      </a:solidFill>
                      <a:prstDash val="solid"/>
                      <a:round/>
                      <a:headEnd type="none" w="med" len="med"/>
                      <a:tailEnd type="none" w="med" len="med"/>
                    </a:lnL>
                    <a:lnR w="12700" cap="flat" cmpd="sng" algn="ctr">
                      <a:solidFill>
                        <a:srgbClr val="C0C2BF"/>
                      </a:solidFill>
                      <a:prstDash val="solid"/>
                      <a:round/>
                      <a:headEnd type="none" w="med" len="med"/>
                      <a:tailEnd type="none" w="med" len="med"/>
                    </a:lnR>
                    <a:lnT w="12700" cap="flat" cmpd="sng" algn="ctr">
                      <a:solidFill>
                        <a:srgbClr val="C7C7C6"/>
                      </a:solidFill>
                      <a:prstDash val="solid"/>
                      <a:round/>
                      <a:headEnd type="none" w="med" len="med"/>
                      <a:tailEnd type="none" w="med" len="med"/>
                    </a:lnT>
                    <a:lnB w="12700" cap="flat" cmpd="sng" algn="ctr">
                      <a:solidFill>
                        <a:srgbClr val="C0C2BF"/>
                      </a:solidFill>
                      <a:prstDash val="solid"/>
                      <a:round/>
                      <a:headEnd type="none" w="med" len="med"/>
                      <a:tailEnd type="none" w="med" len="med"/>
                    </a:lnB>
                    <a:solidFill>
                      <a:srgbClr val="F1F3F0"/>
                    </a:solidFill>
                  </a:tcPr>
                </a:tc>
                <a:tc>
                  <a:txBody>
                    <a:bodyPr/>
                    <a:lstStyle/>
                    <a:p>
                      <a:pPr indent="0" marL="0">
                        <a:lnSpc>
                          <a:spcPts val="1801"/>
                        </a:lnSpc>
                        <a:buNone/>
                      </a:pPr>
                      <a:r>
                        <a:rPr lang="en-US" sz="1287" dirty="0">
                          <a:solidFill>
                            <a:srgbClr val="171A1F"/>
                          </a:solidFill>
                          <a:latin typeface="IBM Plex Sans" pitchFamily="34" charset="0"/>
                          <a:ea typeface="IBM Plex Sans" pitchFamily="34" charset="-122"/>
                          <a:cs typeface="IBM Plex Sans" pitchFamily="34" charset="-120"/>
                        </a:rPr>
                        <a:t>2 / call</a:t>
                      </a:r>
                      <a:endParaRPr lang="en-US" sz="1287" dirty="0">
                        <a:latin typeface="IBM Plex Sans" charset="0"/>
                        <a:ea typeface="IBM Plex Sans" charset="0"/>
                        <a:cs typeface="IBM Plex Sans" charset="0"/>
                      </a:endParaRPr>
                    </a:p>
                  </a:txBody>
                  <a:tcPr marL="88900" marR="88900" marT="76200" marB="76200" anchor="t">
                    <a:lnL w="12700" cap="flat" cmpd="sng" algn="ctr">
                      <a:solidFill>
                        <a:srgbClr val="C0C2BF"/>
                      </a:solidFill>
                      <a:prstDash val="solid"/>
                      <a:round/>
                      <a:headEnd type="none" w="med" len="med"/>
                      <a:tailEnd type="none" w="med" len="med"/>
                    </a:lnL>
                    <a:lnR w="12700" cap="flat" cmpd="sng" algn="ctr">
                      <a:solidFill>
                        <a:srgbClr val="C0C2BF"/>
                      </a:solidFill>
                      <a:prstDash val="solid"/>
                      <a:round/>
                      <a:headEnd type="none" w="med" len="med"/>
                      <a:tailEnd type="none" w="med" len="med"/>
                    </a:lnR>
                    <a:lnT w="12700" cap="flat" cmpd="sng" algn="ctr">
                      <a:solidFill>
                        <a:srgbClr val="C7C7C6"/>
                      </a:solidFill>
                      <a:prstDash val="solid"/>
                      <a:round/>
                      <a:headEnd type="none" w="med" len="med"/>
                      <a:tailEnd type="none" w="med" len="med"/>
                    </a:lnT>
                    <a:lnB w="12700" cap="flat" cmpd="sng" algn="ctr">
                      <a:solidFill>
                        <a:srgbClr val="C0C2BF"/>
                      </a:solidFill>
                      <a:prstDash val="solid"/>
                      <a:round/>
                      <a:headEnd type="none" w="med" len="med"/>
                      <a:tailEnd type="none" w="med" len="med"/>
                    </a:lnB>
                    <a:solidFill>
                      <a:srgbClr val="F1F3F0"/>
                    </a:solidFill>
                  </a:tcPr>
                </a:tc>
                <a:tc>
                  <a:txBody>
                    <a:bodyPr/>
                    <a:lstStyle/>
                    <a:p>
                      <a:pPr indent="0" marL="0">
                        <a:lnSpc>
                          <a:spcPts val="1801"/>
                        </a:lnSpc>
                        <a:buNone/>
                      </a:pPr>
                      <a:r>
                        <a:rPr lang="en-US" sz="1287" dirty="0">
                          <a:solidFill>
                            <a:srgbClr val="171A1F"/>
                          </a:solidFill>
                          <a:latin typeface="IBM Plex Sans" pitchFamily="34" charset="0"/>
                          <a:ea typeface="IBM Plex Sans" pitchFamily="34" charset="-122"/>
                          <a:cs typeface="IBM Plex Sans" pitchFamily="34" charset="-120"/>
                        </a:rPr>
                        <a:t>Breed new molecules from the best seen so far</a:t>
                      </a:r>
                      <a:endParaRPr lang="en-US" sz="1287" dirty="0">
                        <a:latin typeface="IBM Plex Sans" charset="0"/>
                        <a:ea typeface="IBM Plex Sans" charset="0"/>
                        <a:cs typeface="IBM Plex Sans" charset="0"/>
                      </a:endParaRPr>
                    </a:p>
                  </a:txBody>
                  <a:tcPr marL="88900" marR="88900" marT="76200" marB="76200" anchor="t">
                    <a:lnL w="12700" cap="flat" cmpd="sng" algn="ctr">
                      <a:solidFill>
                        <a:srgbClr val="C0C2BF"/>
                      </a:solidFill>
                      <a:prstDash val="solid"/>
                      <a:round/>
                      <a:headEnd type="none" w="med" len="med"/>
                      <a:tailEnd type="none" w="med" len="med"/>
                    </a:lnL>
                    <a:lnR w="12700" cap="flat" cmpd="sng" algn="ctr">
                      <a:solidFill>
                        <a:srgbClr val="C0C2BF"/>
                      </a:solidFill>
                      <a:prstDash val="solid"/>
                      <a:round/>
                      <a:headEnd type="none" w="med" len="med"/>
                      <a:tailEnd type="none" w="med" len="med"/>
                    </a:lnR>
                    <a:lnT w="12700" cap="flat" cmpd="sng" algn="ctr">
                      <a:solidFill>
                        <a:srgbClr val="C7C7C6"/>
                      </a:solidFill>
                      <a:prstDash val="solid"/>
                      <a:round/>
                      <a:headEnd type="none" w="med" len="med"/>
                      <a:tailEnd type="none" w="med" len="med"/>
                    </a:lnT>
                    <a:lnB w="12700" cap="flat" cmpd="sng" algn="ctr">
                      <a:solidFill>
                        <a:srgbClr val="C0C2BF"/>
                      </a:solidFill>
                      <a:prstDash val="solid"/>
                      <a:round/>
                      <a:headEnd type="none" w="med" len="med"/>
                      <a:tailEnd type="none" w="med" len="med"/>
                    </a:lnB>
                    <a:solidFill>
                      <a:srgbClr val="F1F3F0"/>
                    </a:solidFill>
                  </a:tcPr>
                </a:tc>
                <a:tc>
                  <a:txBody>
                    <a:bodyPr/>
                    <a:lstStyle/>
                    <a:p>
                      <a:pPr indent="0" marL="0">
                        <a:lnSpc>
                          <a:spcPts val="1801"/>
                        </a:lnSpc>
                        <a:buNone/>
                      </a:pPr>
                      <a:r>
                        <a:rPr lang="en-US" sz="1287" dirty="0">
                          <a:solidFill>
                            <a:srgbClr val="4A5568"/>
                          </a:solidFill>
                          <a:latin typeface="IBM Plex Sans" pitchFamily="34" charset="0"/>
                          <a:ea typeface="IBM Plex Sans" pitchFamily="34" charset="-122"/>
                          <a:cs typeface="IBM Plex Sans" pitchFamily="34" charset="-120"/>
                        </a:rPr>
                        <a:t>GraphGA — crossover plus SMARTS mutation, seeded by retrieval</a:t>
                      </a:r>
                      <a:endParaRPr lang="en-US" sz="1287" dirty="0">
                        <a:latin typeface="IBM Plex Sans" charset="0"/>
                        <a:ea typeface="IBM Plex Sans" charset="0"/>
                        <a:cs typeface="IBM Plex Sans" charset="0"/>
                      </a:endParaRPr>
                    </a:p>
                  </a:txBody>
                  <a:tcPr marL="88900" marR="88900" marT="76200" marB="76200" anchor="t">
                    <a:lnL w="12700" cap="flat" cmpd="sng" algn="ctr">
                      <a:solidFill>
                        <a:srgbClr val="C0C2BF"/>
                      </a:solidFill>
                      <a:prstDash val="solid"/>
                      <a:round/>
                      <a:headEnd type="none" w="med" len="med"/>
                      <a:tailEnd type="none" w="med" len="med"/>
                    </a:lnL>
                    <a:lnR w="12700" cap="flat" cmpd="sng" algn="ctr">
                      <a:solidFill>
                        <a:srgbClr val="C0C2BF"/>
                      </a:solidFill>
                      <a:prstDash val="solid"/>
                      <a:round/>
                      <a:headEnd type="none" w="med" len="med"/>
                      <a:tailEnd type="none" w="med" len="med"/>
                    </a:lnR>
                    <a:lnT w="12700" cap="flat" cmpd="sng" algn="ctr">
                      <a:solidFill>
                        <a:srgbClr val="C7C7C6"/>
                      </a:solidFill>
                      <a:prstDash val="solid"/>
                      <a:round/>
                      <a:headEnd type="none" w="med" len="med"/>
                      <a:tailEnd type="none" w="med" len="med"/>
                    </a:lnT>
                    <a:lnB w="12700" cap="flat" cmpd="sng" algn="ctr">
                      <a:solidFill>
                        <a:srgbClr val="C0C2BF"/>
                      </a:solidFill>
                      <a:prstDash val="solid"/>
                      <a:round/>
                      <a:headEnd type="none" w="med" len="med"/>
                      <a:tailEnd type="none" w="med" len="med"/>
                    </a:lnB>
                    <a:solidFill>
                      <a:srgbClr val="F1F3F0"/>
                    </a:solidFill>
                  </a:tcPr>
                </a:tc>
              </a:tr>
            </a:tbl>
          </a:graphicData>
        </a:graphic>
      </p:graphicFrame>
      <p:sp>
        <p:nvSpPr>
          <p:cNvPr id="5" name="Shape 2"/>
          <p:cNvSpPr/>
          <p:nvPr/>
        </p:nvSpPr>
        <p:spPr>
          <a:xfrm>
            <a:off x="815975" y="4958624"/>
            <a:ext cx="10560050" cy="880203"/>
          </a:xfrm>
          <a:prstGeom prst="roundRect">
            <a:avLst>
              <a:gd name="adj" fmla="val 11182"/>
            </a:avLst>
          </a:prstGeom>
          <a:solidFill>
            <a:srgbClr val="FFFFFF"/>
          </a:solidFill>
          <a:ln w="6350">
            <a:solidFill>
              <a:srgbClr val="DCE0E6"/>
            </a:solidFill>
            <a:prstDash val="solid"/>
          </a:ln>
        </p:spPr>
      </p:sp>
      <p:pic>
        <p:nvPicPr>
          <p:cNvPr id="6" name="Image 0" descr="Lightbulb">    </p:cNvPr>
          <p:cNvPicPr>
            <a:picLocks noChangeAspect="1"/>
          </p:cNvPicPr>
          <p:nvPr/>
        </p:nvPicPr>
        <p:blipFill>
          <a:blip r:embed="rId1"/>
          <a:srcRect l="0" r="0" t="0" b="0"/>
          <a:stretch/>
        </p:blipFill>
        <p:spPr>
          <a:xfrm>
            <a:off x="1045633" y="5150182"/>
            <a:ext cx="254000" cy="254000"/>
          </a:xfrm>
          <a:prstGeom prst="rect">
            <a:avLst/>
          </a:prstGeom>
        </p:spPr>
      </p:pic>
      <p:sp>
        <p:nvSpPr>
          <p:cNvPr id="7" name="Text 3"/>
          <p:cNvSpPr/>
          <p:nvPr/>
        </p:nvSpPr>
        <p:spPr>
          <a:xfrm>
            <a:off x="1452033" y="5150182"/>
            <a:ext cx="9985164" cy="522486"/>
          </a:xfrm>
          <a:prstGeom prst="rect">
            <a:avLst/>
          </a:prstGeom>
          <a:noFill/>
          <a:ln/>
        </p:spPr>
        <p:txBody>
          <a:bodyPr wrap="square" lIns="0" tIns="0" rIns="0" bIns="0" rtlCol="0" anchor="t">
            <a:normAutofit/>
          </a:bodyPr>
          <a:lstStyle/>
          <a:p>
            <a:pPr algn="l" indent="0" marL="0">
              <a:lnSpc>
                <a:spcPts val="2025"/>
              </a:lnSpc>
              <a:buNone/>
            </a:pPr>
            <a:r>
              <a:rPr lang="en-US" sz="1350" dirty="0">
                <a:solidFill>
                  <a:srgbClr val="4A5568"/>
                </a:solidFill>
                <a:latin typeface="IBM Plex Sans" pitchFamily="34" charset="0"/>
                <a:ea typeface="IBM Plex Sans" pitchFamily="34" charset="-122"/>
                <a:cs typeface="IBM Plex Sans" pitchFamily="34" charset="-120"/>
              </a:rPr>
              <a:t>Docking costs </a:t>
            </a:r>
            <a:r>
              <a:rPr lang="en-US" sz="1350" b="1" dirty="0">
                <a:solidFill>
                  <a:srgbClr val="171A1F"/>
                </a:solidFill>
                <a:latin typeface="IBM Plex Sans" pitchFamily="34" charset="0"/>
                <a:ea typeface="IBM Plex Sans" pitchFamily="34" charset="-122"/>
                <a:cs typeface="IBM Plex Sans" pitchFamily="34" charset="-120"/>
              </a:rPr>
              <a:t>20×</a:t>
            </a:r>
            <a:r>
              <a:rPr lang="en-US" sz="1350" dirty="0">
                <a:solidFill>
                  <a:srgbClr val="4A5568"/>
                </a:solidFill>
                <a:latin typeface="IBM Plex Sans" pitchFamily="34" charset="0"/>
                <a:ea typeface="IBM Plex Sans" pitchFamily="34" charset="-122"/>
                <a:cs typeface="IBM Plex Sans" pitchFamily="34" charset="-120"/>
              </a:rPr>
              <a:t> what a property panel costs. That ratio is the whole tension the routing policy exists to resolve: profile cheaply and guess, or pay for certainty on a few.</a:t>
            </a:r>
            <a:endParaRPr lang="en-US" sz="1350" dirty="0"/>
          </a:p>
        </p:txBody>
      </p:sp>
      <p:sp>
        <p:nvSpPr>
          <p:cNvPr id="8" name="Text 4"/>
          <p:cNvSpPr/>
          <p:nvPr/>
        </p:nvSpPr>
        <p:spPr>
          <a:xfrm>
            <a:off x="812800" y="6238280"/>
            <a:ext cx="725217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8F98"/>
                </a:solidFill>
                <a:latin typeface="IBM Plex Sans" pitchFamily="34" charset="0"/>
                <a:ea typeface="IBM Plex Sans" pitchFamily="34" charset="-122"/>
                <a:cs typeface="IBM Plex Sans" pitchFamily="34" charset="-120"/>
              </a:rPr>
              <a:t>A subsystem never chooses what runs next, and never spends budget it was not granted.</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A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5739AE"/>
                </a:solidFill>
                <a:latin typeface="JetBrains Mono" pitchFamily="49" charset="0"/>
                <a:ea typeface="JetBrains Mono" pitchFamily="49" charset="-122"/>
                <a:cs typeface="JetBrains Mono" pitchFamily="49" charset="-120"/>
              </a:rPr>
              <a:t>THE CORE OF THE METHOD</a:t>
            </a:r>
            <a:endParaRPr lang="en-US" sz="1200" dirty="0"/>
          </a:p>
        </p:txBody>
      </p:sp>
      <p:sp>
        <p:nvSpPr>
          <p:cNvPr id="3" name="Text 1"/>
          <p:cNvSpPr/>
          <p:nvPr>
            <p:ph type="title"/>
          </p:nvPr>
        </p:nvSpPr>
        <p:spPr>
          <a:xfrm>
            <a:off x="812800" y="10896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71A1F"/>
                </a:solidFill>
                <a:latin typeface="IBM Plex Sans" pitchFamily="34" charset="0"/>
                <a:ea typeface="IBM Plex Sans" pitchFamily="34" charset="-122"/>
                <a:cs typeface="IBM Plex Sans" pitchFamily="34" charset="-120"/>
              </a:rPr>
              <a:t>A ladder, so a result can be attributed</a:t>
            </a:r>
            <a:endParaRPr lang="en-US" sz="3600" dirty="0"/>
          </a:p>
        </p:txBody>
      </p:sp>
      <p:sp>
        <p:nvSpPr>
          <p:cNvPr id="4" name="Text 2"/>
          <p:cNvSpPr/>
          <p:nvPr/>
        </p:nvSpPr>
        <p:spPr>
          <a:xfrm>
            <a:off x="812800" y="1795729"/>
            <a:ext cx="10203180" cy="577850"/>
          </a:xfrm>
          <a:prstGeom prst="rect">
            <a:avLst/>
          </a:prstGeom>
          <a:noFill/>
          <a:ln/>
        </p:spPr>
        <p:txBody>
          <a:bodyPr wrap="square" lIns="0" tIns="0" rIns="0" bIns="0" rtlCol="0" anchor="t">
            <a:normAutofit/>
          </a:bodyPr>
          <a:lstStyle/>
          <a:p>
            <a:pPr algn="l" indent="0" marL="0">
              <a:lnSpc>
                <a:spcPts val="2175"/>
              </a:lnSpc>
              <a:buNone/>
            </a:pPr>
            <a:r>
              <a:rPr lang="en-US" sz="1450" dirty="0">
                <a:solidFill>
                  <a:srgbClr val="4A5568"/>
                </a:solidFill>
                <a:latin typeface="IBM Plex Sans" pitchFamily="34" charset="0"/>
                <a:ea typeface="IBM Plex Sans" pitchFamily="34" charset="-122"/>
                <a:cs typeface="IBM Plex Sans" pitchFamily="34" charset="-120"/>
              </a:rPr>
              <a:t>Each rung removes one explanation for why the arm under test might be winning. Every arm sees a byte-identical state summary and emits the same decision type.</a:t>
            </a:r>
            <a:endParaRPr lang="en-US" sz="1450" dirty="0"/>
          </a:p>
        </p:txBody>
      </p:sp>
      <p:sp>
        <p:nvSpPr>
          <p:cNvPr id="5" name="Shape 3"/>
          <p:cNvSpPr/>
          <p:nvPr/>
        </p:nvSpPr>
        <p:spPr>
          <a:xfrm>
            <a:off x="815975" y="2554554"/>
            <a:ext cx="2027304" cy="1530945"/>
          </a:xfrm>
          <a:prstGeom prst="roundRect">
            <a:avLst>
              <a:gd name="adj" fmla="val 5599"/>
            </a:avLst>
          </a:prstGeom>
          <a:solidFill>
            <a:srgbClr val="FFFFFF"/>
          </a:solidFill>
          <a:ln w="6350">
            <a:solidFill>
              <a:srgbClr val="DCE0E6"/>
            </a:solidFill>
            <a:prstDash val="solid"/>
          </a:ln>
        </p:spPr>
      </p:sp>
      <p:sp>
        <p:nvSpPr>
          <p:cNvPr id="6" name="Text 4"/>
          <p:cNvSpPr/>
          <p:nvPr/>
        </p:nvSpPr>
        <p:spPr>
          <a:xfrm>
            <a:off x="994833" y="2733411"/>
            <a:ext cx="1720387"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71A1F"/>
                </a:solidFill>
                <a:latin typeface="IBM Plex Sans" pitchFamily="34" charset="0"/>
                <a:ea typeface="IBM Plex Sans" pitchFamily="34" charset="-122"/>
                <a:cs typeface="IBM Plex Sans" pitchFamily="34" charset="-120"/>
              </a:rPr>
              <a:t>fixed</a:t>
            </a:r>
            <a:endParaRPr lang="en-US" sz="1400" dirty="0"/>
          </a:p>
        </p:txBody>
      </p:sp>
      <p:sp>
        <p:nvSpPr>
          <p:cNvPr id="7" name="Text 5"/>
          <p:cNvSpPr/>
          <p:nvPr/>
        </p:nvSpPr>
        <p:spPr>
          <a:xfrm>
            <a:off x="994833" y="3022932"/>
            <a:ext cx="1720387" cy="909108"/>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5568"/>
                </a:solidFill>
                <a:latin typeface="IBM Plex Sans" pitchFamily="34" charset="0"/>
                <a:ea typeface="IBM Plex Sans" pitchFamily="34" charset="-122"/>
                <a:cs typeface="IBM Plex Sans" pitchFamily="34" charset="-120"/>
              </a:rPr>
              <a:t>Hard-coded order. Reads no state. </a:t>
            </a:r>
            <a:r>
              <a:rPr lang="en-US" sz="1200" b="1" dirty="0">
                <a:solidFill>
                  <a:srgbClr val="171A1F"/>
                </a:solidFill>
                <a:latin typeface="IBM Plex Sans" pitchFamily="34" charset="0"/>
                <a:ea typeface="IBM Plex Sans" pitchFamily="34" charset="-122"/>
                <a:cs typeface="IBM Plex Sans" pitchFamily="34" charset="-120"/>
              </a:rPr>
              <a:t>The null</a:t>
            </a:r>
            <a:r>
              <a:rPr lang="en-US" sz="1200" dirty="0">
                <a:solidFill>
                  <a:srgbClr val="4A5568"/>
                </a:solidFill>
                <a:latin typeface="IBM Plex Sans" pitchFamily="34" charset="0"/>
                <a:ea typeface="IBM Plex Sans" pitchFamily="34" charset="-122"/>
                <a:cs typeface="IBM Plex Sans" pitchFamily="34" charset="-120"/>
              </a:rPr>
              <a:t> — what most published systems do.</a:t>
            </a:r>
            <a:endParaRPr lang="en-US" sz="1200" dirty="0"/>
          </a:p>
        </p:txBody>
      </p:sp>
      <p:sp>
        <p:nvSpPr>
          <p:cNvPr id="8" name="Shape 6"/>
          <p:cNvSpPr/>
          <p:nvPr/>
        </p:nvSpPr>
        <p:spPr>
          <a:xfrm>
            <a:off x="2951229" y="2554554"/>
            <a:ext cx="2027370" cy="1530945"/>
          </a:xfrm>
          <a:prstGeom prst="roundRect">
            <a:avLst>
              <a:gd name="adj" fmla="val 5599"/>
            </a:avLst>
          </a:prstGeom>
          <a:solidFill>
            <a:srgbClr val="FFFFFF"/>
          </a:solidFill>
          <a:ln w="6350">
            <a:solidFill>
              <a:srgbClr val="DCE0E6"/>
            </a:solidFill>
            <a:prstDash val="solid"/>
          </a:ln>
        </p:spPr>
      </p:sp>
      <p:sp>
        <p:nvSpPr>
          <p:cNvPr id="9" name="Text 7"/>
          <p:cNvSpPr/>
          <p:nvPr/>
        </p:nvSpPr>
        <p:spPr>
          <a:xfrm>
            <a:off x="3130087" y="2733411"/>
            <a:ext cx="1720453" cy="452041"/>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71A1F"/>
                </a:solidFill>
                <a:latin typeface="IBM Plex Sans" pitchFamily="34" charset="0"/>
                <a:ea typeface="IBM Plex Sans" pitchFamily="34" charset="-122"/>
                <a:cs typeface="IBM Plex Sans" pitchFamily="34" charset="-120"/>
              </a:rPr>
              <a:t>random</a:t>
            </a:r>
            <a:endParaRPr lang="en-US" sz="1400" dirty="0"/>
          </a:p>
          <a:p>
            <a:pPr algn="l" indent="0" marL="0">
              <a:lnSpc>
                <a:spcPts val="1680"/>
              </a:lnSpc>
              <a:buNone/>
            </a:pPr>
            <a:r>
              <a:rPr lang="en-US" sz="1400" b="1" dirty="0">
                <a:solidFill>
                  <a:srgbClr val="171A1F"/>
                </a:solidFill>
                <a:latin typeface="IBM Plex Sans" pitchFamily="34" charset="0"/>
                <a:ea typeface="IBM Plex Sans" pitchFamily="34" charset="-122"/>
                <a:cs typeface="IBM Plex Sans" pitchFamily="34" charset="-120"/>
              </a:rPr>
              <a:t>roundrobin</a:t>
            </a:r>
            <a:endParaRPr lang="en-US" sz="1400" dirty="0"/>
          </a:p>
        </p:txBody>
      </p:sp>
      <p:sp>
        <p:nvSpPr>
          <p:cNvPr id="10" name="Text 8"/>
          <p:cNvSpPr/>
          <p:nvPr/>
        </p:nvSpPr>
        <p:spPr>
          <a:xfrm>
            <a:off x="3130087" y="3236252"/>
            <a:ext cx="1720453" cy="688181"/>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5568"/>
                </a:solidFill>
                <a:latin typeface="IBM Plex Sans" pitchFamily="34" charset="0"/>
                <a:ea typeface="IBM Plex Sans" pitchFamily="34" charset="-122"/>
                <a:cs typeface="IBM Plex Sans" pitchFamily="34" charset="-120"/>
              </a:rPr>
              <a:t>Controls. Does </a:t>
            </a:r>
            <a:r>
              <a:rPr lang="en-US" sz="1200" i="1" dirty="0">
                <a:solidFill>
                  <a:srgbClr val="4A5568"/>
                </a:solidFill>
                <a:latin typeface="IBM Plex Sans" pitchFamily="34" charset="0"/>
                <a:ea typeface="IBM Plex Sans" pitchFamily="34" charset="-122"/>
                <a:cs typeface="IBM Plex Sans" pitchFamily="34" charset="-120"/>
              </a:rPr>
              <a:t>any</a:t>
            </a:r>
            <a:r>
              <a:rPr lang="en-US" sz="1200" dirty="0">
                <a:solidFill>
                  <a:srgbClr val="4A5568"/>
                </a:solidFill>
                <a:latin typeface="IBM Plex Sans" pitchFamily="34" charset="0"/>
                <a:ea typeface="IBM Plex Sans" pitchFamily="34" charset="-122"/>
                <a:cs typeface="IBM Plex Sans" pitchFamily="34" charset="-120"/>
              </a:rPr>
              <a:t> variation in order help, or must it be informed?</a:t>
            </a:r>
            <a:endParaRPr lang="en-US" sz="1200" dirty="0"/>
          </a:p>
        </p:txBody>
      </p:sp>
      <p:sp>
        <p:nvSpPr>
          <p:cNvPr id="11" name="Shape 9"/>
          <p:cNvSpPr/>
          <p:nvPr/>
        </p:nvSpPr>
        <p:spPr>
          <a:xfrm>
            <a:off x="5086548" y="2554554"/>
            <a:ext cx="2027304" cy="1530945"/>
          </a:xfrm>
          <a:prstGeom prst="roundRect">
            <a:avLst>
              <a:gd name="adj" fmla="val 5599"/>
            </a:avLst>
          </a:prstGeom>
          <a:solidFill>
            <a:srgbClr val="FFFFFF"/>
          </a:solidFill>
          <a:ln w="6350">
            <a:solidFill>
              <a:srgbClr val="DCE0E6"/>
            </a:solidFill>
            <a:prstDash val="solid"/>
          </a:ln>
        </p:spPr>
      </p:sp>
      <p:sp>
        <p:nvSpPr>
          <p:cNvPr id="12" name="Text 10"/>
          <p:cNvSpPr/>
          <p:nvPr/>
        </p:nvSpPr>
        <p:spPr>
          <a:xfrm>
            <a:off x="5265407" y="2733411"/>
            <a:ext cx="1720387"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71A1F"/>
                </a:solidFill>
                <a:latin typeface="IBM Plex Sans" pitchFamily="34" charset="0"/>
                <a:ea typeface="IBM Plex Sans" pitchFamily="34" charset="-122"/>
                <a:cs typeface="IBM Plex Sans" pitchFamily="34" charset="-120"/>
              </a:rPr>
              <a:t>scripted</a:t>
            </a:r>
            <a:endParaRPr lang="en-US" sz="1400" dirty="0"/>
          </a:p>
        </p:txBody>
      </p:sp>
      <p:sp>
        <p:nvSpPr>
          <p:cNvPr id="13" name="Text 11"/>
          <p:cNvSpPr/>
          <p:nvPr/>
        </p:nvSpPr>
        <p:spPr>
          <a:xfrm>
            <a:off x="5265407" y="3022932"/>
            <a:ext cx="1720387" cy="909108"/>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5568"/>
                </a:solidFill>
                <a:latin typeface="IBM Plex Sans" pitchFamily="34" charset="0"/>
                <a:ea typeface="IBM Plex Sans" pitchFamily="34" charset="-122"/>
                <a:cs typeface="IBM Plex Sans" pitchFamily="34" charset="-120"/>
              </a:rPr>
              <a:t>Hand rules on identical inputs. </a:t>
            </a:r>
            <a:r>
              <a:rPr lang="en-US" sz="1200" b="1" dirty="0">
                <a:solidFill>
                  <a:srgbClr val="171A1F"/>
                </a:solidFill>
                <a:latin typeface="IBM Plex Sans" pitchFamily="34" charset="0"/>
                <a:ea typeface="IBM Plex Sans" pitchFamily="34" charset="-122"/>
                <a:cs typeface="IBM Plex Sans" pitchFamily="34" charset="-120"/>
              </a:rPr>
              <a:t>The control that decides whether there is a result.</a:t>
            </a:r>
            <a:endParaRPr lang="en-US" sz="1200" dirty="0"/>
          </a:p>
        </p:txBody>
      </p:sp>
      <p:sp>
        <p:nvSpPr>
          <p:cNvPr id="14" name="Shape 12"/>
          <p:cNvSpPr/>
          <p:nvPr/>
        </p:nvSpPr>
        <p:spPr>
          <a:xfrm>
            <a:off x="7221803" y="2554554"/>
            <a:ext cx="2027370" cy="1530945"/>
          </a:xfrm>
          <a:prstGeom prst="roundRect">
            <a:avLst>
              <a:gd name="adj" fmla="val 5599"/>
            </a:avLst>
          </a:prstGeom>
          <a:solidFill>
            <a:srgbClr val="FFFFFF"/>
          </a:solidFill>
          <a:ln w="6350">
            <a:solidFill>
              <a:srgbClr val="DCE0E6"/>
            </a:solidFill>
            <a:prstDash val="solid"/>
          </a:ln>
        </p:spPr>
      </p:sp>
      <p:sp>
        <p:nvSpPr>
          <p:cNvPr id="15" name="Text 13"/>
          <p:cNvSpPr/>
          <p:nvPr/>
        </p:nvSpPr>
        <p:spPr>
          <a:xfrm>
            <a:off x="7400661" y="2733411"/>
            <a:ext cx="1720453"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71A1F"/>
                </a:solidFill>
                <a:latin typeface="IBM Plex Sans" pitchFamily="34" charset="0"/>
                <a:ea typeface="IBM Plex Sans" pitchFamily="34" charset="-122"/>
                <a:cs typeface="IBM Plex Sans" pitchFamily="34" charset="-120"/>
              </a:rPr>
              <a:t>oracle</a:t>
            </a:r>
            <a:endParaRPr lang="en-US" sz="1400" dirty="0"/>
          </a:p>
        </p:txBody>
      </p:sp>
      <p:sp>
        <p:nvSpPr>
          <p:cNvPr id="16" name="Text 14"/>
          <p:cNvSpPr/>
          <p:nvPr/>
        </p:nvSpPr>
        <p:spPr>
          <a:xfrm>
            <a:off x="7400661" y="3022932"/>
            <a:ext cx="1720453" cy="467254"/>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5568"/>
                </a:solidFill>
                <a:latin typeface="IBM Plex Sans" pitchFamily="34" charset="0"/>
                <a:ea typeface="IBM Plex Sans" pitchFamily="34" charset="-122"/>
                <a:cs typeface="IBM Plex Sans" pitchFamily="34" charset="-120"/>
              </a:rPr>
              <a:t>Reads the answer key. A </a:t>
            </a:r>
            <a:r>
              <a:rPr lang="en-US" sz="1200" b="1" dirty="0">
                <a:solidFill>
                  <a:srgbClr val="171A1F"/>
                </a:solidFill>
                <a:latin typeface="IBM Plex Sans" pitchFamily="34" charset="0"/>
                <a:ea typeface="IBM Plex Sans" pitchFamily="34" charset="-122"/>
                <a:cs typeface="IBM Plex Sans" pitchFamily="34" charset="-120"/>
              </a:rPr>
              <a:t>ceiling</a:t>
            </a:r>
            <a:r>
              <a:rPr lang="en-US" sz="1200" dirty="0">
                <a:solidFill>
                  <a:srgbClr val="4A5568"/>
                </a:solidFill>
                <a:latin typeface="IBM Plex Sans" pitchFamily="34" charset="0"/>
                <a:ea typeface="IBM Plex Sans" pitchFamily="34" charset="-122"/>
                <a:cs typeface="IBM Plex Sans" pitchFamily="34" charset="-120"/>
              </a:rPr>
              <a:t>, never a method.</a:t>
            </a:r>
            <a:endParaRPr lang="en-US" sz="1200" dirty="0"/>
          </a:p>
        </p:txBody>
      </p:sp>
      <p:sp>
        <p:nvSpPr>
          <p:cNvPr id="17" name="Shape 15"/>
          <p:cNvSpPr/>
          <p:nvPr/>
        </p:nvSpPr>
        <p:spPr>
          <a:xfrm>
            <a:off x="9353947" y="2551379"/>
            <a:ext cx="2025253" cy="1537295"/>
          </a:xfrm>
          <a:prstGeom prst="roundRect">
            <a:avLst>
              <a:gd name="adj" fmla="val 5783"/>
            </a:avLst>
          </a:prstGeom>
          <a:solidFill>
            <a:srgbClr val="171A1F"/>
          </a:solidFill>
          <a:ln/>
        </p:spPr>
      </p:sp>
      <p:sp>
        <p:nvSpPr>
          <p:cNvPr id="18" name="Shape 16"/>
          <p:cNvSpPr/>
          <p:nvPr/>
        </p:nvSpPr>
        <p:spPr>
          <a:xfrm>
            <a:off x="9353947" y="2551379"/>
            <a:ext cx="2025253" cy="1537295"/>
          </a:xfrm>
          <a:custGeom>
            <a:avLst/>
            <a:gdLst/>
            <a:ahLst/>
            <a:cxnLst/>
            <a:rect l="l" t="t" r="r" b="b"/>
            <a:pathLst>
              <a:path w="2025253" h="1537295">
                <a:moveTo>
                  <a:pt x="0" y="88900"/>
                </a:moveTo>
                <a:lnTo>
                  <a:pt x="0" y="88900"/>
                </a:lnTo>
                <a:arcTo hR="88900" wR="88900" stAng="10800000" swAng="5400000"/>
                <a:lnTo>
                  <a:pt x="1936353" y="0"/>
                </a:lnTo>
                <a:arcTo hR="88900" wR="88900" stAng="16200000" swAng="5400000"/>
                <a:lnTo>
                  <a:pt x="2025253" y="88900"/>
                </a:lnTo>
                <a:arcTo hR="50800" wR="88900" stAng="0" swAng="-5400000"/>
                <a:lnTo>
                  <a:pt x="88900" y="38100"/>
                </a:lnTo>
                <a:arcTo hR="50800" wR="88900" stAng="16200000" swAng="-5400000"/>
                <a:close/>
              </a:path>
            </a:pathLst>
          </a:custGeom>
          <a:solidFill>
            <a:srgbClr val="9B86E8"/>
          </a:solidFill>
          <a:ln/>
        </p:spPr>
      </p:sp>
      <p:sp>
        <p:nvSpPr>
          <p:cNvPr id="19" name="Text 17"/>
          <p:cNvSpPr/>
          <p:nvPr/>
        </p:nvSpPr>
        <p:spPr>
          <a:xfrm>
            <a:off x="9531747" y="2767279"/>
            <a:ext cx="1720453"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AFAF8"/>
                </a:solidFill>
                <a:latin typeface="IBM Plex Sans" pitchFamily="34" charset="0"/>
                <a:ea typeface="IBM Plex Sans" pitchFamily="34" charset="-122"/>
                <a:cs typeface="IBM Plex Sans" pitchFamily="34" charset="-120"/>
              </a:rPr>
              <a:t>llm</a:t>
            </a:r>
            <a:endParaRPr lang="en-US" sz="1400" dirty="0"/>
          </a:p>
        </p:txBody>
      </p:sp>
      <p:sp>
        <p:nvSpPr>
          <p:cNvPr id="20" name="Text 18"/>
          <p:cNvSpPr/>
          <p:nvPr/>
        </p:nvSpPr>
        <p:spPr>
          <a:xfrm>
            <a:off x="9531747" y="3056799"/>
            <a:ext cx="1720453" cy="688181"/>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C3CAD4"/>
                </a:solidFill>
                <a:latin typeface="IBM Plex Sans" pitchFamily="34" charset="0"/>
                <a:ea typeface="IBM Plex Sans" pitchFamily="34" charset="-122"/>
                <a:cs typeface="IBM Plex Sans" pitchFamily="34" charset="-120"/>
              </a:rPr>
              <a:t>Claude or GPT reads the state and chooses. </a:t>
            </a:r>
            <a:r>
              <a:rPr lang="en-US" sz="1200" b="1" dirty="0">
                <a:solidFill>
                  <a:srgbClr val="FAFAF8"/>
                </a:solidFill>
                <a:latin typeface="IBM Plex Sans" pitchFamily="34" charset="0"/>
                <a:ea typeface="IBM Plex Sans" pitchFamily="34" charset="-122"/>
                <a:cs typeface="IBM Plex Sans" pitchFamily="34" charset="-120"/>
              </a:rPr>
              <a:t>The arm under test.</a:t>
            </a:r>
            <a:endParaRPr lang="en-US" sz="1200" dirty="0"/>
          </a:p>
        </p:txBody>
      </p:sp>
      <p:sp>
        <p:nvSpPr>
          <p:cNvPr id="21" name="Text 19"/>
          <p:cNvSpPr/>
          <p:nvPr/>
        </p:nvSpPr>
        <p:spPr>
          <a:xfrm>
            <a:off x="812800" y="4291874"/>
            <a:ext cx="10566400" cy="869950"/>
          </a:xfrm>
          <a:custGeom>
            <a:avLst/>
            <a:gdLst/>
            <a:ahLst/>
            <a:cxnLst/>
            <a:rect l="l" t="t" r="r" b="b"/>
            <a:pathLst>
              <a:path w="10566400" h="869950">
                <a:moveTo>
                  <a:pt x="0" y="0"/>
                </a:moveTo>
                <a:lnTo>
                  <a:pt x="10477500" y="0"/>
                </a:lnTo>
                <a:arcTo hR="88900" wR="88900" stAng="16200000" swAng="5400000"/>
                <a:lnTo>
                  <a:pt x="10566400" y="781050"/>
                </a:lnTo>
                <a:arcTo hR="88900" wR="88900" stAng="0" swAng="5400000"/>
                <a:lnTo>
                  <a:pt x="0" y="869950"/>
                </a:lnTo>
                <a:lnTo>
                  <a:pt x="0" y="0"/>
                </a:lnTo>
                <a:close/>
              </a:path>
            </a:pathLst>
          </a:custGeom>
          <a:solidFill>
            <a:srgbClr val="FFF8E8"/>
          </a:solidFill>
          <a:ln/>
        </p:spPr>
        <p:txBody>
          <a:bodyPr wrap="square" lIns="254000" tIns="177800" rIns="0" bIns="152400" rtlCol="0" anchor="t">
            <a:normAutofit/>
          </a:bodyPr>
          <a:lstStyle/>
          <a:p>
            <a:pPr algn="l" indent="0" marL="0">
              <a:lnSpc>
                <a:spcPts val="2025"/>
              </a:lnSpc>
              <a:buNone/>
            </a:pPr>
            <a:r>
              <a:rPr lang="en-US" sz="1350" dirty="0">
                <a:solidFill>
                  <a:srgbClr val="4A5568"/>
                </a:solidFill>
                <a:latin typeface="IBM Plex Sans" pitchFamily="34" charset="0"/>
                <a:ea typeface="IBM Plex Sans" pitchFamily="34" charset="-122"/>
                <a:cs typeface="IBM Plex Sans" pitchFamily="34" charset="-120"/>
              </a:rPr>
              <a:t>If the LLM cannot beat competent hand-written rules over the same inputs, the finding is that </a:t>
            </a:r>
            <a:r>
              <a:rPr lang="en-US" sz="1350" b="1" dirty="0">
                <a:solidFill>
                  <a:srgbClr val="171A1F"/>
                </a:solidFill>
                <a:latin typeface="IBM Plex Sans" pitchFamily="34" charset="0"/>
                <a:ea typeface="IBM Plex Sans" pitchFamily="34" charset="-122"/>
                <a:cs typeface="IBM Plex Sans" pitchFamily="34" charset="-120"/>
              </a:rPr>
              <a:t>routing</a:t>
            </a:r>
            <a:r>
              <a:rPr lang="en-US" sz="1350" dirty="0">
                <a:solidFill>
                  <a:srgbClr val="4A5568"/>
                </a:solidFill>
                <a:latin typeface="IBM Plex Sans" pitchFamily="34" charset="0"/>
                <a:ea typeface="IBM Plex Sans" pitchFamily="34" charset="-122"/>
                <a:cs typeface="IBM Plex Sans" pitchFamily="34" charset="-120"/>
              </a:rPr>
              <a:t> matters — not that a language model is needed to do it. That is a real result too.</a:t>
            </a:r>
            <a:endParaRPr lang="en-US" sz="1350" dirty="0"/>
          </a:p>
        </p:txBody>
      </p:sp>
      <p:sp>
        <p:nvSpPr>
          <p:cNvPr id="22" name="Shape 20"/>
          <p:cNvSpPr/>
          <p:nvPr/>
        </p:nvSpPr>
        <p:spPr>
          <a:xfrm>
            <a:off x="812800" y="4291874"/>
            <a:ext cx="10566400" cy="869950"/>
          </a:xfrm>
          <a:custGeom>
            <a:avLst/>
            <a:gdLst/>
            <a:ahLst/>
            <a:cxnLst/>
            <a:rect l="l" t="t" r="r" b="b"/>
            <a:pathLst>
              <a:path w="10566400" h="869950">
                <a:moveTo>
                  <a:pt x="38100" y="869950"/>
                </a:moveTo>
                <a:lnTo>
                  <a:pt x="0" y="869950"/>
                </a:lnTo>
                <a:lnTo>
                  <a:pt x="0" y="0"/>
                </a:lnTo>
                <a:lnTo>
                  <a:pt x="38100" y="0"/>
                </a:lnTo>
                <a:lnTo>
                  <a:pt x="38100" y="869950"/>
                </a:lnTo>
                <a:close/>
              </a:path>
            </a:pathLst>
          </a:custGeom>
          <a:solidFill>
            <a:srgbClr val="8A5F15"/>
          </a:solidFill>
          <a:ln/>
        </p:spPr>
      </p:sp>
      <p:sp>
        <p:nvSpPr>
          <p:cNvPr id="23" name="Text 21"/>
          <p:cNvSpPr/>
          <p:nvPr/>
        </p:nvSpPr>
        <p:spPr>
          <a:xfrm>
            <a:off x="812800" y="6238280"/>
            <a:ext cx="679180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8F98"/>
                </a:solidFill>
                <a:latin typeface="IBM Plex Sans" pitchFamily="34" charset="0"/>
                <a:ea typeface="IBM Plex Sans" pitchFamily="34" charset="-122"/>
                <a:cs typeface="IBM Plex Sans" pitchFamily="34" charset="-120"/>
              </a:rPr>
              <a:t>You pick the arm. The system never picks it for you — it is the independent variable.</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71A1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E8B45F"/>
                </a:solidFill>
                <a:latin typeface="JetBrains Mono" pitchFamily="49" charset="0"/>
                <a:ea typeface="JetBrains Mono" pitchFamily="49" charset="-122"/>
                <a:cs typeface="JetBrains Mono" pitchFamily="49" charset="-120"/>
              </a:rPr>
              <a:t>WHAT MAKES TWO RUNS COMPARABLE</a:t>
            </a:r>
            <a:endParaRPr lang="en-US" sz="1200" dirty="0"/>
          </a:p>
        </p:txBody>
      </p:sp>
      <p:sp>
        <p:nvSpPr>
          <p:cNvPr id="3" name="Text 1"/>
          <p:cNvSpPr/>
          <p:nvPr>
            <p:ph type="title"/>
          </p:nvPr>
        </p:nvSpPr>
        <p:spPr>
          <a:xfrm>
            <a:off x="812800" y="10896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AFAF8"/>
                </a:solidFill>
                <a:latin typeface="IBM Plex Sans" pitchFamily="34" charset="0"/>
                <a:ea typeface="IBM Plex Sans" pitchFamily="34" charset="-122"/>
                <a:cs typeface="IBM Plex Sans" pitchFamily="34" charset="-120"/>
              </a:rPr>
              <a:t>The budget rule</a:t>
            </a:r>
            <a:endParaRPr lang="en-US" sz="3600" dirty="0"/>
          </a:p>
        </p:txBody>
      </p:sp>
      <p:sp>
        <p:nvSpPr>
          <p:cNvPr id="4" name="Shape 2"/>
          <p:cNvSpPr/>
          <p:nvPr/>
        </p:nvSpPr>
        <p:spPr>
          <a:xfrm>
            <a:off x="812800" y="1846529"/>
            <a:ext cx="5194300" cy="2195777"/>
          </a:xfrm>
          <a:prstGeom prst="roundRect">
            <a:avLst>
              <a:gd name="adj" fmla="val 4627"/>
            </a:avLst>
          </a:prstGeom>
          <a:solidFill>
            <a:srgbClr val="232830"/>
          </a:solidFill>
          <a:ln/>
        </p:spPr>
      </p:sp>
      <p:sp>
        <p:nvSpPr>
          <p:cNvPr id="5" name="Text 3"/>
          <p:cNvSpPr/>
          <p:nvPr/>
        </p:nvSpPr>
        <p:spPr>
          <a:xfrm>
            <a:off x="1041400" y="2075129"/>
            <a:ext cx="4879213" cy="284427"/>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E8B45F"/>
                </a:solidFill>
                <a:latin typeface="IBM Plex Sans" pitchFamily="34" charset="0"/>
                <a:ea typeface="IBM Plex Sans" pitchFamily="34" charset="-122"/>
                <a:cs typeface="IBM Plex Sans" pitchFamily="34" charset="-120"/>
              </a:rPr>
              <a:t>One rule</a:t>
            </a:r>
            <a:endParaRPr lang="en-US" sz="1700" dirty="0"/>
          </a:p>
        </p:txBody>
      </p:sp>
      <p:sp>
        <p:nvSpPr>
          <p:cNvPr id="6" name="Text 4"/>
          <p:cNvSpPr/>
          <p:nvPr/>
        </p:nvSpPr>
        <p:spPr>
          <a:xfrm>
            <a:off x="1041400" y="2435758"/>
            <a:ext cx="4879213" cy="5588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C3CAD4"/>
                </a:solidFill>
                <a:latin typeface="IBM Plex Sans" pitchFamily="34" charset="0"/>
                <a:ea typeface="IBM Plex Sans" pitchFamily="34" charset="-122"/>
                <a:cs typeface="IBM Plex Sans" pitchFamily="34" charset="-120"/>
              </a:rPr>
              <a:t>A run is charged for each </a:t>
            </a:r>
            <a:r>
              <a:rPr lang="en-US" sz="1400" b="1" dirty="0">
                <a:solidFill>
                  <a:srgbClr val="FAFAF8"/>
                </a:solidFill>
                <a:latin typeface="IBM Plex Sans" pitchFamily="34" charset="0"/>
                <a:ea typeface="IBM Plex Sans" pitchFamily="34" charset="-122"/>
                <a:cs typeface="IBM Plex Sans" pitchFamily="34" charset="-120"/>
              </a:rPr>
              <a:t>unique canonical molecule, per subsystem, once</a:t>
            </a:r>
            <a:r>
              <a:rPr lang="en-US" sz="1400" dirty="0">
                <a:solidFill>
                  <a:srgbClr val="C3CAD4"/>
                </a:solidFill>
                <a:latin typeface="IBM Plex Sans" pitchFamily="34" charset="0"/>
                <a:ea typeface="IBM Plex Sans" pitchFamily="34" charset="-122"/>
                <a:cs typeface="IBM Plex Sans" pitchFamily="34" charset="-120"/>
              </a:rPr>
              <a:t>.</a:t>
            </a:r>
            <a:endParaRPr lang="en-US" sz="1400" dirty="0"/>
          </a:p>
        </p:txBody>
      </p:sp>
      <p:sp>
        <p:nvSpPr>
          <p:cNvPr id="7" name="Text 5"/>
          <p:cNvSpPr/>
          <p:nvPr/>
        </p:nvSpPr>
        <p:spPr>
          <a:xfrm>
            <a:off x="1041400" y="3070758"/>
            <a:ext cx="4879213" cy="7683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C3CAD4"/>
                </a:solidFill>
                <a:latin typeface="IBM Plex Sans" pitchFamily="34" charset="0"/>
                <a:ea typeface="IBM Plex Sans" pitchFamily="34" charset="-122"/>
                <a:cs typeface="IBM Plex Sans" pitchFamily="34" charset="-120"/>
              </a:rPr>
              <a:t>Re-proposing a molecule teaches the run nothing, so it costs nothing. Docking something the property panel already saw </a:t>
            </a:r>
            <a:r>
              <a:rPr lang="en-US" sz="1300" i="1" dirty="0">
                <a:solidFill>
                  <a:srgbClr val="C3CAD4"/>
                </a:solidFill>
                <a:latin typeface="IBM Plex Sans" pitchFamily="34" charset="0"/>
                <a:ea typeface="IBM Plex Sans" pitchFamily="34" charset="-122"/>
                <a:cs typeface="IBM Plex Sans" pitchFamily="34" charset="-120"/>
              </a:rPr>
              <a:t>is</a:t>
            </a:r>
            <a:r>
              <a:rPr lang="en-US" sz="1300" dirty="0">
                <a:solidFill>
                  <a:srgbClr val="C3CAD4"/>
                </a:solidFill>
                <a:latin typeface="IBM Plex Sans" pitchFamily="34" charset="0"/>
                <a:ea typeface="IBM Plex Sans" pitchFamily="34" charset="-122"/>
                <a:cs typeface="IBM Plex Sans" pitchFamily="34" charset="-120"/>
              </a:rPr>
              <a:t> new information, so it costs.</a:t>
            </a:r>
            <a:endParaRPr lang="en-US" sz="1300" dirty="0"/>
          </a:p>
        </p:txBody>
      </p:sp>
      <p:sp>
        <p:nvSpPr>
          <p:cNvPr id="8" name="Shape 6"/>
          <p:cNvSpPr/>
          <p:nvPr/>
        </p:nvSpPr>
        <p:spPr>
          <a:xfrm>
            <a:off x="6184900" y="1846529"/>
            <a:ext cx="5194300" cy="2195777"/>
          </a:xfrm>
          <a:prstGeom prst="roundRect">
            <a:avLst>
              <a:gd name="adj" fmla="val 4627"/>
            </a:avLst>
          </a:prstGeom>
          <a:solidFill>
            <a:srgbClr val="232830"/>
          </a:solidFill>
          <a:ln/>
        </p:spPr>
      </p:sp>
      <p:sp>
        <p:nvSpPr>
          <p:cNvPr id="9" name="Text 7"/>
          <p:cNvSpPr/>
          <p:nvPr/>
        </p:nvSpPr>
        <p:spPr>
          <a:xfrm>
            <a:off x="6413500" y="2075129"/>
            <a:ext cx="4879213" cy="284427"/>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E8B45F"/>
                </a:solidFill>
                <a:latin typeface="IBM Plex Sans" pitchFamily="34" charset="0"/>
                <a:ea typeface="IBM Plex Sans" pitchFamily="34" charset="-122"/>
                <a:cs typeface="IBM Plex Sans" pitchFamily="34" charset="-120"/>
              </a:rPr>
              <a:t>One consequence</a:t>
            </a:r>
            <a:endParaRPr lang="en-US" sz="1700" dirty="0"/>
          </a:p>
        </p:txBody>
      </p:sp>
      <p:sp>
        <p:nvSpPr>
          <p:cNvPr id="10" name="Text 8"/>
          <p:cNvSpPr/>
          <p:nvPr/>
        </p:nvSpPr>
        <p:spPr>
          <a:xfrm>
            <a:off x="6413500" y="2435758"/>
            <a:ext cx="4879213" cy="5588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C3CAD4"/>
                </a:solidFill>
                <a:latin typeface="IBM Plex Sans" pitchFamily="34" charset="0"/>
                <a:ea typeface="IBM Plex Sans" pitchFamily="34" charset="-122"/>
                <a:cs typeface="IBM Plex Sans" pitchFamily="34" charset="-120"/>
              </a:rPr>
              <a:t>A cached result still costs budget. </a:t>
            </a:r>
            <a:r>
              <a:rPr lang="en-US" sz="1400" b="1" dirty="0">
                <a:solidFill>
                  <a:srgbClr val="FAFAF8"/>
                </a:solidFill>
                <a:latin typeface="IBM Plex Sans" pitchFamily="34" charset="0"/>
                <a:ea typeface="IBM Plex Sans" pitchFamily="34" charset="-122"/>
                <a:cs typeface="IBM Plex Sans" pitchFamily="34" charset="-120"/>
              </a:rPr>
              <a:t>The cache saves wall time, never budget.</a:t>
            </a:r>
            <a:endParaRPr lang="en-US" sz="1400" dirty="0"/>
          </a:p>
        </p:txBody>
      </p:sp>
      <p:sp>
        <p:nvSpPr>
          <p:cNvPr id="11" name="Text 9"/>
          <p:cNvSpPr/>
          <p:nvPr/>
        </p:nvSpPr>
        <p:spPr>
          <a:xfrm>
            <a:off x="6413500" y="3070758"/>
            <a:ext cx="4879213" cy="7683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C3CAD4"/>
                </a:solidFill>
                <a:latin typeface="IBM Plex Sans" pitchFamily="34" charset="0"/>
                <a:ea typeface="IBM Plex Sans" pitchFamily="34" charset="-122"/>
                <a:cs typeface="IBM Plex Sans" pitchFamily="34" charset="-120"/>
              </a:rPr>
              <a:t>Otherwise a second run of the same arm would look cheaper than the first, and the comparison would measure the cache rather than the policy.</a:t>
            </a:r>
            <a:endParaRPr lang="en-US" sz="1300" dirty="0"/>
          </a:p>
        </p:txBody>
      </p:sp>
      <p:sp>
        <p:nvSpPr>
          <p:cNvPr id="12" name="Shape 10"/>
          <p:cNvSpPr/>
          <p:nvPr/>
        </p:nvSpPr>
        <p:spPr>
          <a:xfrm>
            <a:off x="812800" y="4296308"/>
            <a:ext cx="10566400" cy="1003300"/>
          </a:xfrm>
          <a:prstGeom prst="roundRect">
            <a:avLst>
              <a:gd name="adj" fmla="val 10127"/>
            </a:avLst>
          </a:prstGeom>
          <a:solidFill>
            <a:srgbClr val="2A5BB0"/>
          </a:solidFill>
          <a:ln/>
        </p:spPr>
      </p:sp>
      <p:pic>
        <p:nvPicPr>
          <p:cNvPr id="13" name="Image 0" descr="Check">    </p:cNvPr>
          <p:cNvPicPr>
            <a:picLocks noChangeAspect="1"/>
          </p:cNvPicPr>
          <p:nvPr/>
        </p:nvPicPr>
        <p:blipFill>
          <a:blip r:embed="rId1"/>
          <a:srcRect l="0" r="0" t="0" b="0"/>
          <a:stretch/>
        </p:blipFill>
        <p:spPr>
          <a:xfrm>
            <a:off x="1066800" y="4658258"/>
            <a:ext cx="279400" cy="279400"/>
          </a:xfrm>
          <a:prstGeom prst="rect">
            <a:avLst/>
          </a:prstGeom>
        </p:spPr>
      </p:pic>
      <p:sp>
        <p:nvSpPr>
          <p:cNvPr id="14" name="Text 11"/>
          <p:cNvSpPr/>
          <p:nvPr/>
        </p:nvSpPr>
        <p:spPr>
          <a:xfrm>
            <a:off x="1549400" y="4512208"/>
            <a:ext cx="9863074" cy="59690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FAFAF8"/>
                </a:solidFill>
                <a:latin typeface="IBM Plex Sans" pitchFamily="34" charset="0"/>
                <a:ea typeface="IBM Plex Sans" pitchFamily="34" charset="-122"/>
                <a:cs typeface="IBM Plex Sans" pitchFamily="34" charset="-120"/>
              </a:rPr>
              <a:t>Because every arm starts with the same number of units and pays the same prices, the only thing that differs between two runs is </a:t>
            </a:r>
            <a:r>
              <a:rPr lang="en-US" sz="1500" b="1" dirty="0">
                <a:solidFill>
                  <a:srgbClr val="FAFAF8"/>
                </a:solidFill>
                <a:latin typeface="IBM Plex Sans" pitchFamily="34" charset="0"/>
                <a:ea typeface="IBM Plex Sans" pitchFamily="34" charset="-122"/>
                <a:cs typeface="IBM Plex Sans" pitchFamily="34" charset="-120"/>
              </a:rPr>
              <a:t>how the units were spent</a:t>
            </a:r>
            <a:r>
              <a:rPr lang="en-US" sz="1500" dirty="0">
                <a:solidFill>
                  <a:srgbClr val="FAFAF8"/>
                </a:solidFill>
                <a:latin typeface="IBM Plex Sans" pitchFamily="34" charset="0"/>
                <a:ea typeface="IBM Plex Sans" pitchFamily="34" charset="-122"/>
                <a:cs typeface="IBM Plex Sans" pitchFamily="34" charset="-120"/>
              </a:rPr>
              <a:t>.</a:t>
            </a:r>
            <a:endParaRPr lang="en-US" sz="1500" dirty="0"/>
          </a:p>
        </p:txBody>
      </p:sp>
      <p:sp>
        <p:nvSpPr>
          <p:cNvPr id="15" name="Text 12"/>
          <p:cNvSpPr/>
          <p:nvPr/>
        </p:nvSpPr>
        <p:spPr>
          <a:xfrm>
            <a:off x="812800" y="6238280"/>
            <a:ext cx="937847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8F98"/>
                </a:solidFill>
                <a:latin typeface="IBM Plex Sans" pitchFamily="34" charset="0"/>
                <a:ea typeface="IBM Plex Sans" pitchFamily="34" charset="-122"/>
                <a:cs typeface="IBM Plex Sans" pitchFamily="34" charset="-120"/>
              </a:rPr>
              <a:t>Budget counts oracle calls, not CPU seconds — so a smarter but heavier generator gets no discount and no penalty.</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A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16358"/>
                </a:solidFill>
                <a:latin typeface="JetBrains Mono" pitchFamily="49" charset="0"/>
                <a:ea typeface="JetBrains Mono" pitchFamily="49" charset="-122"/>
                <a:cs typeface="JetBrains Mono" pitchFamily="49" charset="-120"/>
              </a:rPr>
              <a:t>BEING BUILT NOW</a:t>
            </a:r>
            <a:endParaRPr lang="en-US" sz="1200" dirty="0"/>
          </a:p>
        </p:txBody>
      </p:sp>
      <p:sp>
        <p:nvSpPr>
          <p:cNvPr id="3" name="Text 1"/>
          <p:cNvSpPr/>
          <p:nvPr>
            <p:ph type="title"/>
          </p:nvPr>
        </p:nvSpPr>
        <p:spPr>
          <a:xfrm>
            <a:off x="812800" y="1089620"/>
            <a:ext cx="10883392" cy="486370"/>
          </a:xfrm>
          <a:prstGeom prst="rect">
            <a:avLst/>
          </a:prstGeom>
          <a:noFill/>
          <a:ln/>
        </p:spPr>
        <p:txBody>
          <a:bodyPr wrap="square" lIns="0" tIns="0" rIns="0" bIns="0" rtlCol="0" anchor="t">
            <a:normAutofit/>
          </a:bodyPr>
          <a:lstStyle/>
          <a:p>
            <a:pPr algn="l" indent="0" marL="0">
              <a:lnSpc>
                <a:spcPts val="3630"/>
              </a:lnSpc>
              <a:buNone/>
            </a:pPr>
            <a:r>
              <a:rPr lang="en-US" sz="3300" b="1" i="0" dirty="0">
                <a:solidFill>
                  <a:srgbClr val="171A1F"/>
                </a:solidFill>
                <a:latin typeface="IBM Plex Sans" pitchFamily="34" charset="0"/>
                <a:ea typeface="IBM Plex Sans" pitchFamily="34" charset="-122"/>
                <a:cs typeface="IBM Plex Sans" pitchFamily="34" charset="-120"/>
              </a:rPr>
              <a:t>From “it ran” to “here is what it did”</a:t>
            </a:r>
            <a:endParaRPr lang="en-US" sz="3300" dirty="0"/>
          </a:p>
        </p:txBody>
      </p:sp>
      <p:sp>
        <p:nvSpPr>
          <p:cNvPr id="4" name="Shape 2"/>
          <p:cNvSpPr/>
          <p:nvPr/>
        </p:nvSpPr>
        <p:spPr>
          <a:xfrm>
            <a:off x="815975" y="1744266"/>
            <a:ext cx="5192183" cy="2037887"/>
          </a:xfrm>
          <a:prstGeom prst="roundRect">
            <a:avLst>
              <a:gd name="adj" fmla="val 4830"/>
            </a:avLst>
          </a:prstGeom>
          <a:solidFill>
            <a:srgbClr val="FFFFFF"/>
          </a:solidFill>
          <a:ln w="6350">
            <a:solidFill>
              <a:srgbClr val="DCE0E6"/>
            </a:solidFill>
            <a:prstDash val="solid"/>
          </a:ln>
        </p:spPr>
      </p:sp>
      <p:sp>
        <p:nvSpPr>
          <p:cNvPr id="5" name="Text 3"/>
          <p:cNvSpPr/>
          <p:nvPr/>
        </p:nvSpPr>
        <p:spPr>
          <a:xfrm>
            <a:off x="1020233" y="1948526"/>
            <a:ext cx="4927177" cy="238720"/>
          </a:xfrm>
          <a:prstGeom prst="rect">
            <a:avLst/>
          </a:prstGeom>
          <a:noFill/>
          <a:ln/>
        </p:spPr>
        <p:txBody>
          <a:bodyPr wrap="square" lIns="0" tIns="0" rIns="0" bIns="0" rtlCol="0" anchor="t">
            <a:normAutofit/>
          </a:bodyPr>
          <a:lstStyle/>
          <a:p>
            <a:pPr algn="l" indent="0" marL="0">
              <a:lnSpc>
                <a:spcPts val="1680"/>
              </a:lnSpc>
              <a:buNone/>
            </a:pPr>
            <a:r>
              <a:rPr lang="en-US" sz="1200" spc="60" kern="0" dirty="0">
                <a:solidFill>
                  <a:srgbClr val="8A8F98"/>
                </a:solidFill>
                <a:latin typeface="IBM Plex Sans" pitchFamily="34" charset="0"/>
                <a:ea typeface="IBM Plex Sans" pitchFamily="34" charset="-122"/>
                <a:cs typeface="IBM Plex Sans" pitchFamily="34" charset="-120"/>
              </a:rPr>
              <a:t>BEFORE</a:t>
            </a:r>
            <a:endParaRPr lang="en-US" sz="1200" dirty="0"/>
          </a:p>
        </p:txBody>
      </p:sp>
      <p:sp>
        <p:nvSpPr>
          <p:cNvPr id="6" name="Text 4"/>
          <p:cNvSpPr/>
          <p:nvPr/>
        </p:nvSpPr>
        <p:spPr>
          <a:xfrm>
            <a:off x="1020233" y="2250746"/>
            <a:ext cx="4927177" cy="787400"/>
          </a:xfrm>
          <a:prstGeom prst="rect">
            <a:avLst/>
          </a:prstGeom>
          <a:noFill/>
          <a:ln/>
        </p:spPr>
        <p:txBody>
          <a:bodyPr wrap="square" lIns="0" tIns="0" rIns="0" bIns="0" rtlCol="0" anchor="t">
            <a:normAutofit/>
          </a:bodyPr>
          <a:lstStyle/>
          <a:p>
            <a:pPr algn="l" indent="0" marL="0">
              <a:lnSpc>
                <a:spcPts val="2000"/>
              </a:lnSpc>
              <a:buNone/>
            </a:pPr>
            <a:r>
              <a:rPr lang="en-US" sz="1250" dirty="0">
                <a:solidFill>
                  <a:srgbClr val="4A5568"/>
                </a:solidFill>
                <a:latin typeface="JetBrains Mono" pitchFamily="49" charset="0"/>
                <a:ea typeface="JetBrains Mono" pitchFamily="49" charset="-122"/>
                <a:cs typeface="JetBrains Mono" pitchFamily="49" charset="-120"/>
              </a:rPr>
              <a:t>in  defaults</a:t>
            </a:r>
            <a:endParaRPr lang="en-US" sz="1250" dirty="0"/>
          </a:p>
          <a:p>
            <a:pPr algn="l" indent="0" marL="0">
              <a:lnSpc>
                <a:spcPts val="2000"/>
              </a:lnSpc>
              <a:buNone/>
            </a:pPr>
            <a:r>
              <a:rPr lang="en-US" sz="1250" dirty="0">
                <a:solidFill>
                  <a:srgbClr val="4A5568"/>
                </a:solidFill>
                <a:latin typeface="JetBrains Mono" pitchFamily="49" charset="0"/>
                <a:ea typeface="JetBrains Mono" pitchFamily="49" charset="-122"/>
                <a:cs typeface="JetBrains Mono" pitchFamily="49" charset="-120"/>
              </a:rPr>
              <a:t>out 20 new molecules</a:t>
            </a:r>
            <a:endParaRPr lang="en-US" sz="1250" dirty="0"/>
          </a:p>
          <a:p>
            <a:pPr algn="l" indent="0" marL="0">
              <a:lnSpc>
                <a:spcPts val="2000"/>
              </a:lnSpc>
              <a:buNone/>
            </a:pPr>
            <a:r>
              <a:rPr lang="en-US" sz="1250" dirty="0">
                <a:solidFill>
                  <a:srgbClr val="4A5568"/>
                </a:solidFill>
                <a:latin typeface="JetBrains Mono" pitchFamily="49" charset="0"/>
                <a:ea typeface="JetBrains Mono" pitchFamily="49" charset="-122"/>
                <a:cs typeface="JetBrains Mono" pitchFamily="49" charset="-120"/>
              </a:rPr>
              <a:t>    from 12 parents</a:t>
            </a:r>
            <a:endParaRPr lang="en-US" sz="1250" dirty="0"/>
          </a:p>
        </p:txBody>
      </p:sp>
      <p:sp>
        <p:nvSpPr>
          <p:cNvPr id="7" name="Text 5"/>
          <p:cNvSpPr/>
          <p:nvPr/>
        </p:nvSpPr>
        <p:spPr>
          <a:xfrm>
            <a:off x="1020233" y="3101646"/>
            <a:ext cx="4927177" cy="501650"/>
          </a:xfrm>
          <a:prstGeom prst="rect">
            <a:avLst/>
          </a:prstGeom>
          <a:noFill/>
          <a:ln/>
        </p:spPr>
        <p:txBody>
          <a:bodyPr wrap="square" lIns="0" tIns="0" rIns="0" bIns="0" rtlCol="0" anchor="t">
            <a:normAutofit/>
          </a:bodyPr>
          <a:lstStyle/>
          <a:p>
            <a:pPr algn="l" indent="0" marL="0">
              <a:lnSpc>
                <a:spcPts val="1875"/>
              </a:lnSpc>
              <a:buNone/>
            </a:pPr>
            <a:r>
              <a:rPr lang="en-US" sz="1250" dirty="0">
                <a:solidFill>
                  <a:srgbClr val="4A5568"/>
                </a:solidFill>
                <a:latin typeface="IBM Plex Sans" pitchFamily="34" charset="0"/>
                <a:ea typeface="IBM Plex Sans" pitchFamily="34" charset="-122"/>
                <a:cs typeface="IBM Plex Sans" pitchFamily="34" charset="-120"/>
              </a:rPr>
              <a:t>You cannot tell a generator breeding on real docking scores from one breeding on nothing at all.</a:t>
            </a:r>
            <a:endParaRPr lang="en-US" sz="1250" dirty="0"/>
          </a:p>
        </p:txBody>
      </p:sp>
      <p:sp>
        <p:nvSpPr>
          <p:cNvPr id="8" name="Shape 6"/>
          <p:cNvSpPr/>
          <p:nvPr/>
        </p:nvSpPr>
        <p:spPr>
          <a:xfrm>
            <a:off x="6189133" y="1741091"/>
            <a:ext cx="5190067" cy="2044237"/>
          </a:xfrm>
          <a:prstGeom prst="roundRect">
            <a:avLst>
              <a:gd name="adj" fmla="val 4970"/>
            </a:avLst>
          </a:prstGeom>
          <a:solidFill>
            <a:srgbClr val="171A1F"/>
          </a:solidFill>
          <a:ln/>
        </p:spPr>
      </p:sp>
      <p:sp>
        <p:nvSpPr>
          <p:cNvPr id="9" name="Text 7"/>
          <p:cNvSpPr/>
          <p:nvPr/>
        </p:nvSpPr>
        <p:spPr>
          <a:xfrm>
            <a:off x="6392333" y="1944291"/>
            <a:ext cx="4927177" cy="238720"/>
          </a:xfrm>
          <a:prstGeom prst="rect">
            <a:avLst/>
          </a:prstGeom>
          <a:noFill/>
          <a:ln/>
        </p:spPr>
        <p:txBody>
          <a:bodyPr wrap="square" lIns="0" tIns="0" rIns="0" bIns="0" rtlCol="0" anchor="t">
            <a:normAutofit/>
          </a:bodyPr>
          <a:lstStyle/>
          <a:p>
            <a:pPr algn="l" indent="0" marL="0">
              <a:lnSpc>
                <a:spcPts val="1680"/>
              </a:lnSpc>
              <a:buNone/>
            </a:pPr>
            <a:r>
              <a:rPr lang="en-US" sz="1200" spc="60" kern="0" dirty="0">
                <a:solidFill>
                  <a:srgbClr val="8CB4E8"/>
                </a:solidFill>
                <a:latin typeface="IBM Plex Sans" pitchFamily="34" charset="0"/>
                <a:ea typeface="IBM Plex Sans" pitchFamily="34" charset="-122"/>
                <a:cs typeface="IBM Plex Sans" pitchFamily="34" charset="-120"/>
              </a:rPr>
              <a:t>AFTER</a:t>
            </a:r>
            <a:endParaRPr lang="en-US" sz="1200" dirty="0"/>
          </a:p>
        </p:txBody>
      </p:sp>
      <p:sp>
        <p:nvSpPr>
          <p:cNvPr id="10" name="Text 8"/>
          <p:cNvSpPr/>
          <p:nvPr/>
        </p:nvSpPr>
        <p:spPr>
          <a:xfrm>
            <a:off x="6392333" y="2246511"/>
            <a:ext cx="4927177" cy="787400"/>
          </a:xfrm>
          <a:prstGeom prst="rect">
            <a:avLst/>
          </a:prstGeom>
          <a:noFill/>
          <a:ln/>
        </p:spPr>
        <p:txBody>
          <a:bodyPr wrap="square" lIns="0" tIns="0" rIns="0" bIns="0" rtlCol="0" anchor="t">
            <a:normAutofit/>
          </a:bodyPr>
          <a:lstStyle/>
          <a:p>
            <a:pPr algn="l" indent="0" marL="0">
              <a:lnSpc>
                <a:spcPts val="2000"/>
              </a:lnSpc>
              <a:buNone/>
            </a:pPr>
            <a:r>
              <a:rPr lang="en-US" sz="1250" dirty="0">
                <a:solidFill>
                  <a:srgbClr val="C3CAD4"/>
                </a:solidFill>
                <a:latin typeface="JetBrains Mono" pitchFamily="49" charset="0"/>
                <a:ea typeface="JetBrains Mono" pitchFamily="49" charset="-122"/>
                <a:cs typeface="JetBrains Mono" pitchFamily="49" charset="-120"/>
              </a:rPr>
              <a:t>generation 3</a:t>
            </a:r>
            <a:endParaRPr lang="en-US" sz="1250" dirty="0"/>
          </a:p>
          <a:p>
            <a:pPr algn="l" indent="0" marL="0">
              <a:lnSpc>
                <a:spcPts val="2000"/>
              </a:lnSpc>
              <a:buNone/>
            </a:pPr>
            <a:r>
              <a:rPr lang="en-US" sz="1250" dirty="0">
                <a:solidFill>
                  <a:srgbClr val="C3CAD4"/>
                </a:solidFill>
                <a:latin typeface="JetBrains Mono" pitchFamily="49" charset="0"/>
                <a:ea typeface="JetBrains Mono" pitchFamily="49" charset="-122"/>
                <a:cs typeface="JetBrains Mono" pitchFamily="49" charset="-120"/>
              </a:rPr>
              <a:t>bred on  vina_score</a:t>
            </a:r>
            <a:endParaRPr lang="en-US" sz="1250" dirty="0"/>
          </a:p>
          <a:p>
            <a:pPr algn="l" indent="0" marL="0">
              <a:lnSpc>
                <a:spcPts val="2000"/>
              </a:lnSpc>
              <a:buNone/>
            </a:pPr>
            <a:r>
              <a:rPr lang="en-US" sz="1250" dirty="0">
                <a:solidFill>
                  <a:srgbClr val="C3CAD4"/>
                </a:solidFill>
                <a:latin typeface="JetBrains Mono" pitchFamily="49" charset="0"/>
                <a:ea typeface="JetBrains Mono" pitchFamily="49" charset="-122"/>
                <a:cs typeface="JetBrains Mono" pitchFamily="49" charset="-120"/>
              </a:rPr>
              <a:t>yield    20/43 (47%)</a:t>
            </a:r>
            <a:endParaRPr lang="en-US" sz="1250" dirty="0"/>
          </a:p>
        </p:txBody>
      </p:sp>
      <p:sp>
        <p:nvSpPr>
          <p:cNvPr id="11" name="Text 9"/>
          <p:cNvSpPr/>
          <p:nvPr/>
        </p:nvSpPr>
        <p:spPr>
          <a:xfrm>
            <a:off x="6392333" y="3097411"/>
            <a:ext cx="4927177" cy="501650"/>
          </a:xfrm>
          <a:prstGeom prst="rect">
            <a:avLst/>
          </a:prstGeom>
          <a:noFill/>
          <a:ln/>
        </p:spPr>
        <p:txBody>
          <a:bodyPr wrap="square" lIns="0" tIns="0" rIns="0" bIns="0" rtlCol="0" anchor="t">
            <a:normAutofit/>
          </a:bodyPr>
          <a:lstStyle/>
          <a:p>
            <a:pPr algn="l" indent="0" marL="0">
              <a:lnSpc>
                <a:spcPts val="1875"/>
              </a:lnSpc>
              <a:buNone/>
            </a:pPr>
            <a:r>
              <a:rPr lang="en-US" sz="1250" dirty="0">
                <a:solidFill>
                  <a:srgbClr val="C3CAD4"/>
                </a:solidFill>
                <a:latin typeface="IBM Plex Sans" pitchFamily="34" charset="0"/>
                <a:ea typeface="IBM Plex Sans" pitchFamily="34" charset="-122"/>
                <a:cs typeface="IBM Plex Sans" pitchFamily="34" charset="-120"/>
              </a:rPr>
              <a:t>Parents with their fitness, which SMARTS fired, and why 23 candidates died.</a:t>
            </a:r>
            <a:endParaRPr lang="en-US" sz="1250" dirty="0"/>
          </a:p>
        </p:txBody>
      </p:sp>
      <p:sp>
        <p:nvSpPr>
          <p:cNvPr id="12" name="Shape 10"/>
          <p:cNvSpPr/>
          <p:nvPr/>
        </p:nvSpPr>
        <p:spPr>
          <a:xfrm>
            <a:off x="815975" y="3979007"/>
            <a:ext cx="2549525" cy="1472539"/>
          </a:xfrm>
          <a:prstGeom prst="roundRect">
            <a:avLst>
              <a:gd name="adj" fmla="val 5822"/>
            </a:avLst>
          </a:prstGeom>
          <a:solidFill>
            <a:srgbClr val="FFFFFF"/>
          </a:solidFill>
          <a:ln w="6350">
            <a:solidFill>
              <a:srgbClr val="DCE0E6"/>
            </a:solidFill>
            <a:prstDash val="solid"/>
          </a:ln>
        </p:spPr>
      </p:sp>
      <p:sp>
        <p:nvSpPr>
          <p:cNvPr id="13" name="Text 11"/>
          <p:cNvSpPr/>
          <p:nvPr/>
        </p:nvSpPr>
        <p:spPr>
          <a:xfrm>
            <a:off x="982133" y="4145161"/>
            <a:ext cx="2283725" cy="231114"/>
          </a:xfrm>
          <a:prstGeom prst="rect">
            <a:avLst/>
          </a:prstGeom>
          <a:noFill/>
          <a:ln/>
        </p:spPr>
        <p:txBody>
          <a:bodyPr wrap="square" lIns="0" tIns="0" rIns="0" bIns="0" rtlCol="0" anchor="t">
            <a:normAutofit/>
          </a:bodyPr>
          <a:lstStyle/>
          <a:p>
            <a:pPr algn="l" indent="0" marL="0">
              <a:lnSpc>
                <a:spcPts val="1620"/>
              </a:lnSpc>
              <a:buNone/>
            </a:pPr>
            <a:r>
              <a:rPr lang="en-US" sz="1350" b="1" dirty="0">
                <a:solidFill>
                  <a:srgbClr val="8A5F15"/>
                </a:solidFill>
                <a:latin typeface="IBM Plex Sans" pitchFamily="34" charset="0"/>
                <a:ea typeface="IBM Plex Sans" pitchFamily="34" charset="-122"/>
                <a:cs typeface="IBM Plex Sans" pitchFamily="34" charset="-120"/>
              </a:rPr>
              <a:t>Parent basis</a:t>
            </a:r>
            <a:endParaRPr lang="en-US" sz="1350" dirty="0"/>
          </a:p>
        </p:txBody>
      </p:sp>
      <p:sp>
        <p:nvSpPr>
          <p:cNvPr id="14" name="Text 12"/>
          <p:cNvSpPr/>
          <p:nvPr/>
        </p:nvSpPr>
        <p:spPr>
          <a:xfrm>
            <a:off x="982133" y="4401679"/>
            <a:ext cx="2283725" cy="909108"/>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5568"/>
                </a:solidFill>
                <a:latin typeface="IBM Plex Sans" pitchFamily="34" charset="0"/>
                <a:ea typeface="IBM Plex Sans" pitchFamily="34" charset="-122"/>
                <a:cs typeface="IBM Plex Sans" pitchFamily="34" charset="-120"/>
              </a:rPr>
              <a:t>Docked score, measured potency, or nothing. Three very different runs that used to look identical.</a:t>
            </a:r>
            <a:endParaRPr lang="en-US" sz="1200" dirty="0"/>
          </a:p>
        </p:txBody>
      </p:sp>
      <p:sp>
        <p:nvSpPr>
          <p:cNvPr id="15" name="Shape 13"/>
          <p:cNvSpPr/>
          <p:nvPr/>
        </p:nvSpPr>
        <p:spPr>
          <a:xfrm>
            <a:off x="3486150" y="3979007"/>
            <a:ext cx="2549525" cy="1472539"/>
          </a:xfrm>
          <a:prstGeom prst="roundRect">
            <a:avLst>
              <a:gd name="adj" fmla="val 5822"/>
            </a:avLst>
          </a:prstGeom>
          <a:solidFill>
            <a:srgbClr val="FFFFFF"/>
          </a:solidFill>
          <a:ln w="6350">
            <a:solidFill>
              <a:srgbClr val="DCE0E6"/>
            </a:solidFill>
            <a:prstDash val="solid"/>
          </a:ln>
        </p:spPr>
      </p:sp>
      <p:sp>
        <p:nvSpPr>
          <p:cNvPr id="16" name="Text 14"/>
          <p:cNvSpPr/>
          <p:nvPr/>
        </p:nvSpPr>
        <p:spPr>
          <a:xfrm>
            <a:off x="3652308" y="4145161"/>
            <a:ext cx="2283725" cy="231114"/>
          </a:xfrm>
          <a:prstGeom prst="rect">
            <a:avLst/>
          </a:prstGeom>
          <a:noFill/>
          <a:ln/>
        </p:spPr>
        <p:txBody>
          <a:bodyPr wrap="square" lIns="0" tIns="0" rIns="0" bIns="0" rtlCol="0" anchor="t">
            <a:normAutofit/>
          </a:bodyPr>
          <a:lstStyle/>
          <a:p>
            <a:pPr algn="l" indent="0" marL="0">
              <a:lnSpc>
                <a:spcPts val="1620"/>
              </a:lnSpc>
              <a:buNone/>
            </a:pPr>
            <a:r>
              <a:rPr lang="en-US" sz="1350" b="1" dirty="0">
                <a:solidFill>
                  <a:srgbClr val="8A5F15"/>
                </a:solidFill>
                <a:latin typeface="IBM Plex Sans" pitchFamily="34" charset="0"/>
                <a:ea typeface="IBM Plex Sans" pitchFamily="34" charset="-122"/>
                <a:cs typeface="IBM Plex Sans" pitchFamily="34" charset="-120"/>
              </a:rPr>
              <a:t>Rejection counts</a:t>
            </a:r>
            <a:endParaRPr lang="en-US" sz="1350" dirty="0"/>
          </a:p>
        </p:txBody>
      </p:sp>
      <p:sp>
        <p:nvSpPr>
          <p:cNvPr id="17" name="Text 15"/>
          <p:cNvSpPr/>
          <p:nvPr/>
        </p:nvSpPr>
        <p:spPr>
          <a:xfrm>
            <a:off x="3652308" y="4401679"/>
            <a:ext cx="2283725" cy="688181"/>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5568"/>
                </a:solidFill>
                <a:latin typeface="IBM Plex Sans" pitchFamily="34" charset="0"/>
                <a:ea typeface="IBM Plex Sans" pitchFamily="34" charset="-122"/>
                <a:cs typeface="IBM Plex Sans" pitchFamily="34" charset="-120"/>
              </a:rPr>
              <a:t>Mostly duplicates means the parent pool is exhausted. The clearest signal a GA gives.</a:t>
            </a:r>
            <a:endParaRPr lang="en-US" sz="1200" dirty="0"/>
          </a:p>
        </p:txBody>
      </p:sp>
      <p:sp>
        <p:nvSpPr>
          <p:cNvPr id="18" name="Shape 16"/>
          <p:cNvSpPr/>
          <p:nvPr/>
        </p:nvSpPr>
        <p:spPr>
          <a:xfrm>
            <a:off x="6156325" y="3979007"/>
            <a:ext cx="2549525" cy="1472539"/>
          </a:xfrm>
          <a:prstGeom prst="roundRect">
            <a:avLst>
              <a:gd name="adj" fmla="val 5822"/>
            </a:avLst>
          </a:prstGeom>
          <a:solidFill>
            <a:srgbClr val="FFFFFF"/>
          </a:solidFill>
          <a:ln w="6350">
            <a:solidFill>
              <a:srgbClr val="DCE0E6"/>
            </a:solidFill>
            <a:prstDash val="solid"/>
          </a:ln>
        </p:spPr>
      </p:sp>
      <p:sp>
        <p:nvSpPr>
          <p:cNvPr id="19" name="Text 17"/>
          <p:cNvSpPr/>
          <p:nvPr/>
        </p:nvSpPr>
        <p:spPr>
          <a:xfrm>
            <a:off x="6322483" y="4145161"/>
            <a:ext cx="2283725" cy="231114"/>
          </a:xfrm>
          <a:prstGeom prst="rect">
            <a:avLst/>
          </a:prstGeom>
          <a:noFill/>
          <a:ln/>
        </p:spPr>
        <p:txBody>
          <a:bodyPr wrap="square" lIns="0" tIns="0" rIns="0" bIns="0" rtlCol="0" anchor="t">
            <a:normAutofit/>
          </a:bodyPr>
          <a:lstStyle/>
          <a:p>
            <a:pPr algn="l" indent="0" marL="0">
              <a:lnSpc>
                <a:spcPts val="1620"/>
              </a:lnSpc>
              <a:buNone/>
            </a:pPr>
            <a:r>
              <a:rPr lang="en-US" sz="1350" b="1" dirty="0">
                <a:solidFill>
                  <a:srgbClr val="2A5BB0"/>
                </a:solidFill>
                <a:latin typeface="IBM Plex Sans" pitchFamily="34" charset="0"/>
                <a:ea typeface="IBM Plex Sans" pitchFamily="34" charset="-122"/>
                <a:cs typeface="IBM Plex Sans" pitchFamily="34" charset="-120"/>
              </a:rPr>
              <a:t>Retrieval detail</a:t>
            </a:r>
            <a:endParaRPr lang="en-US" sz="1350" dirty="0"/>
          </a:p>
        </p:txBody>
      </p:sp>
      <p:sp>
        <p:nvSpPr>
          <p:cNvPr id="20" name="Text 18"/>
          <p:cNvSpPr/>
          <p:nvPr/>
        </p:nvSpPr>
        <p:spPr>
          <a:xfrm>
            <a:off x="6322483" y="4401679"/>
            <a:ext cx="2283725" cy="909108"/>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5568"/>
                </a:solidFill>
                <a:latin typeface="IBM Plex Sans" pitchFamily="34" charset="0"/>
                <a:ea typeface="IBM Plex Sans" pitchFamily="34" charset="-122"/>
                <a:cs typeface="IBM Plex Sans" pitchFamily="34" charset="-120"/>
              </a:rPr>
              <a:t>Which structures were ranked and beaten, and whether a potency came from an IC50 or a Ki.</a:t>
            </a:r>
            <a:endParaRPr lang="en-US" sz="1200" dirty="0"/>
          </a:p>
        </p:txBody>
      </p:sp>
      <p:sp>
        <p:nvSpPr>
          <p:cNvPr id="21" name="Shape 19"/>
          <p:cNvSpPr/>
          <p:nvPr/>
        </p:nvSpPr>
        <p:spPr>
          <a:xfrm>
            <a:off x="8826500" y="3979007"/>
            <a:ext cx="2549525" cy="1472539"/>
          </a:xfrm>
          <a:prstGeom prst="roundRect">
            <a:avLst>
              <a:gd name="adj" fmla="val 5822"/>
            </a:avLst>
          </a:prstGeom>
          <a:solidFill>
            <a:srgbClr val="FFFFFF"/>
          </a:solidFill>
          <a:ln w="6350">
            <a:solidFill>
              <a:srgbClr val="DCE0E6"/>
            </a:solidFill>
            <a:prstDash val="solid"/>
          </a:ln>
        </p:spPr>
      </p:sp>
      <p:sp>
        <p:nvSpPr>
          <p:cNvPr id="22" name="Text 20"/>
          <p:cNvSpPr/>
          <p:nvPr/>
        </p:nvSpPr>
        <p:spPr>
          <a:xfrm>
            <a:off x="8992659" y="4145161"/>
            <a:ext cx="2283725" cy="231114"/>
          </a:xfrm>
          <a:prstGeom prst="rect">
            <a:avLst/>
          </a:prstGeom>
          <a:noFill/>
          <a:ln/>
        </p:spPr>
        <p:txBody>
          <a:bodyPr wrap="square" lIns="0" tIns="0" rIns="0" bIns="0" rtlCol="0" anchor="t">
            <a:normAutofit/>
          </a:bodyPr>
          <a:lstStyle/>
          <a:p>
            <a:pPr algn="l" indent="0" marL="0">
              <a:lnSpc>
                <a:spcPts val="1620"/>
              </a:lnSpc>
              <a:buNone/>
            </a:pPr>
            <a:r>
              <a:rPr lang="en-US" sz="1350" b="1" dirty="0">
                <a:solidFill>
                  <a:srgbClr val="5739AE"/>
                </a:solidFill>
                <a:latin typeface="IBM Plex Sans" pitchFamily="34" charset="0"/>
                <a:ea typeface="IBM Plex Sans" pitchFamily="34" charset="-122"/>
                <a:cs typeface="IBM Plex Sans" pitchFamily="34" charset="-120"/>
              </a:rPr>
              <a:t>Lineage</a:t>
            </a:r>
            <a:endParaRPr lang="en-US" sz="1350" dirty="0"/>
          </a:p>
        </p:txBody>
      </p:sp>
      <p:sp>
        <p:nvSpPr>
          <p:cNvPr id="23" name="Text 21"/>
          <p:cNvSpPr/>
          <p:nvPr/>
        </p:nvSpPr>
        <p:spPr>
          <a:xfrm>
            <a:off x="8992659" y="4401679"/>
            <a:ext cx="2283725" cy="688181"/>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5568"/>
                </a:solidFill>
                <a:latin typeface="IBM Plex Sans" pitchFamily="34" charset="0"/>
                <a:ea typeface="IBM Plex Sans" pitchFamily="34" charset="-122"/>
                <a:cs typeface="IBM Plex Sans" pitchFamily="34" charset="-120"/>
              </a:rPr>
              <a:t>Every molecule's parents and operator, now reaching the browser rather than only a CSV.</a:t>
            </a:r>
            <a:endParaRPr lang="en-US" sz="1200" dirty="0"/>
          </a:p>
        </p:txBody>
      </p:sp>
      <p:sp>
        <p:nvSpPr>
          <p:cNvPr id="24" name="Text 22"/>
          <p:cNvSpPr/>
          <p:nvPr/>
        </p:nvSpPr>
        <p:spPr>
          <a:xfrm>
            <a:off x="812800" y="6238280"/>
            <a:ext cx="1004712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8F98"/>
                </a:solidFill>
                <a:latin typeface="IBM Plex Sans" pitchFamily="34" charset="0"/>
                <a:ea typeface="IBM Plex Sans" pitchFamily="34" charset="-122"/>
                <a:cs typeface="IBM Plex Sans" pitchFamily="34" charset="-120"/>
              </a:rPr>
              <a:t>Each subsystem tells its own story; the UI renders a known shape per subsystem and falls back to a table for anything new.</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AF8"/>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71A1F"/>
                </a:solidFill>
                <a:latin typeface="IBM Plex Sans" pitchFamily="34" charset="0"/>
                <a:ea typeface="IBM Plex Sans" pitchFamily="34" charset="-122"/>
                <a:cs typeface="IBM Plex Sans" pitchFamily="34" charset="-120"/>
              </a:rPr>
              <a:t>The LLM layer is swappable too</a:t>
            </a:r>
            <a:endParaRPr lang="en-US" sz="3600" dirty="0"/>
          </a:p>
        </p:txBody>
      </p:sp>
      <p:sp>
        <p:nvSpPr>
          <p:cNvPr id="3" name="Shape 1"/>
          <p:cNvSpPr/>
          <p:nvPr/>
        </p:nvSpPr>
        <p:spPr>
          <a:xfrm>
            <a:off x="812800" y="1531609"/>
            <a:ext cx="3414845" cy="1401763"/>
          </a:xfrm>
          <a:prstGeom prst="roundRect">
            <a:avLst>
              <a:gd name="adj" fmla="val 7248"/>
            </a:avLst>
          </a:prstGeom>
          <a:solidFill>
            <a:srgbClr val="171A1F"/>
          </a:solidFill>
          <a:ln/>
        </p:spPr>
      </p:sp>
      <p:sp>
        <p:nvSpPr>
          <p:cNvPr id="4" name="Text 2"/>
          <p:cNvSpPr/>
          <p:nvPr/>
        </p:nvSpPr>
        <p:spPr>
          <a:xfrm>
            <a:off x="1016000" y="1734809"/>
            <a:ext cx="309869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AFAF8"/>
                </a:solidFill>
                <a:latin typeface="IBM Plex Sans" pitchFamily="34" charset="0"/>
                <a:ea typeface="IBM Plex Sans" pitchFamily="34" charset="-122"/>
                <a:cs typeface="IBM Plex Sans" pitchFamily="34" charset="-120"/>
              </a:rPr>
              <a:t>ChatGPT plan</a:t>
            </a:r>
            <a:endParaRPr lang="en-US" sz="1500" dirty="0"/>
          </a:p>
        </p:txBody>
      </p:sp>
      <p:sp>
        <p:nvSpPr>
          <p:cNvPr id="5" name="Text 3"/>
          <p:cNvSpPr/>
          <p:nvPr/>
        </p:nvSpPr>
        <p:spPr>
          <a:xfrm>
            <a:off x="1016000" y="2039609"/>
            <a:ext cx="3098698" cy="715963"/>
          </a:xfrm>
          <a:prstGeom prst="rect">
            <a:avLst/>
          </a:prstGeom>
          <a:noFill/>
          <a:ln/>
        </p:spPr>
        <p:txBody>
          <a:bodyPr wrap="square" lIns="0" tIns="0" rIns="0" bIns="0" rtlCol="0" anchor="t">
            <a:normAutofit/>
          </a:bodyPr>
          <a:lstStyle/>
          <a:p>
            <a:pPr algn="l" indent="0" marL="0">
              <a:lnSpc>
                <a:spcPts val="1813"/>
              </a:lnSpc>
              <a:buNone/>
            </a:pPr>
            <a:r>
              <a:rPr lang="en-US" sz="1250" dirty="0">
                <a:solidFill>
                  <a:srgbClr val="C3CAD4"/>
                </a:solidFill>
                <a:latin typeface="IBM Plex Sans" pitchFamily="34" charset="0"/>
                <a:ea typeface="IBM Plex Sans" pitchFamily="34" charset="-122"/>
                <a:cs typeface="IBM Plex Sans" pitchFamily="34" charset="-120"/>
              </a:rPr>
              <a:t>Sign in with ChatGPT. Decisions bill to the subscription you already pay for — no API key.</a:t>
            </a:r>
            <a:endParaRPr lang="en-US" sz="1250" dirty="0"/>
          </a:p>
        </p:txBody>
      </p:sp>
      <p:sp>
        <p:nvSpPr>
          <p:cNvPr id="6" name="Shape 4"/>
          <p:cNvSpPr/>
          <p:nvPr/>
        </p:nvSpPr>
        <p:spPr>
          <a:xfrm>
            <a:off x="4383220" y="1534784"/>
            <a:ext cx="3417028" cy="1395413"/>
          </a:xfrm>
          <a:prstGeom prst="roundRect">
            <a:avLst>
              <a:gd name="adj" fmla="val 7053"/>
            </a:avLst>
          </a:prstGeom>
          <a:solidFill>
            <a:srgbClr val="FFFFFF"/>
          </a:solidFill>
          <a:ln w="6350">
            <a:solidFill>
              <a:srgbClr val="DCE0E6"/>
            </a:solidFill>
            <a:prstDash val="solid"/>
          </a:ln>
        </p:spPr>
      </p:sp>
      <p:sp>
        <p:nvSpPr>
          <p:cNvPr id="7" name="Text 5"/>
          <p:cNvSpPr/>
          <p:nvPr/>
        </p:nvSpPr>
        <p:spPr>
          <a:xfrm>
            <a:off x="4587478" y="1739044"/>
            <a:ext cx="309876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71A1F"/>
                </a:solidFill>
                <a:latin typeface="IBM Plex Sans" pitchFamily="34" charset="0"/>
                <a:ea typeface="IBM Plex Sans" pitchFamily="34" charset="-122"/>
                <a:cs typeface="IBM Plex Sans" pitchFamily="34" charset="-120"/>
              </a:rPr>
              <a:t>Claude</a:t>
            </a:r>
            <a:endParaRPr lang="en-US" sz="1500" dirty="0"/>
          </a:p>
        </p:txBody>
      </p:sp>
      <p:sp>
        <p:nvSpPr>
          <p:cNvPr id="8" name="Text 6"/>
          <p:cNvSpPr/>
          <p:nvPr/>
        </p:nvSpPr>
        <p:spPr>
          <a:xfrm>
            <a:off x="4587478" y="2043844"/>
            <a:ext cx="3098766" cy="485775"/>
          </a:xfrm>
          <a:prstGeom prst="rect">
            <a:avLst/>
          </a:prstGeom>
          <a:noFill/>
          <a:ln/>
        </p:spPr>
        <p:txBody>
          <a:bodyPr wrap="square" lIns="0" tIns="0" rIns="0" bIns="0" rtlCol="0" anchor="t">
            <a:normAutofit/>
          </a:bodyPr>
          <a:lstStyle/>
          <a:p>
            <a:pPr algn="l" indent="0" marL="0">
              <a:lnSpc>
                <a:spcPts val="1813"/>
              </a:lnSpc>
              <a:buNone/>
            </a:pPr>
            <a:r>
              <a:rPr lang="en-US" sz="1250" dirty="0">
                <a:solidFill>
                  <a:srgbClr val="4A5568"/>
                </a:solidFill>
                <a:latin typeface="IBM Plex Sans" pitchFamily="34" charset="0"/>
                <a:ea typeface="IBM Plex Sans" pitchFamily="34" charset="-122"/>
                <a:cs typeface="IBM Plex Sans" pitchFamily="34" charset="-120"/>
              </a:rPr>
              <a:t>Anthropic API key. Supports prompt caching, so repeat decisions cost less.</a:t>
            </a:r>
            <a:endParaRPr lang="en-US" sz="1250" dirty="0"/>
          </a:p>
        </p:txBody>
      </p:sp>
      <p:sp>
        <p:nvSpPr>
          <p:cNvPr id="9" name="Shape 7"/>
          <p:cNvSpPr/>
          <p:nvPr/>
        </p:nvSpPr>
        <p:spPr>
          <a:xfrm>
            <a:off x="7958998" y="1534784"/>
            <a:ext cx="3417028" cy="1395413"/>
          </a:xfrm>
          <a:prstGeom prst="roundRect">
            <a:avLst>
              <a:gd name="adj" fmla="val 7053"/>
            </a:avLst>
          </a:prstGeom>
          <a:solidFill>
            <a:srgbClr val="FFFFFF"/>
          </a:solidFill>
          <a:ln w="6350">
            <a:solidFill>
              <a:srgbClr val="DCE0E6"/>
            </a:solidFill>
            <a:prstDash val="solid"/>
          </a:ln>
        </p:spPr>
      </p:sp>
      <p:sp>
        <p:nvSpPr>
          <p:cNvPr id="10" name="Text 8"/>
          <p:cNvSpPr/>
          <p:nvPr/>
        </p:nvSpPr>
        <p:spPr>
          <a:xfrm>
            <a:off x="8163256" y="1739044"/>
            <a:ext cx="309876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71A1F"/>
                </a:solidFill>
                <a:latin typeface="IBM Plex Sans" pitchFamily="34" charset="0"/>
                <a:ea typeface="IBM Plex Sans" pitchFamily="34" charset="-122"/>
                <a:cs typeface="IBM Plex Sans" pitchFamily="34" charset="-120"/>
              </a:rPr>
              <a:t>OpenAI</a:t>
            </a:r>
            <a:endParaRPr lang="en-US" sz="1500" dirty="0"/>
          </a:p>
        </p:txBody>
      </p:sp>
      <p:sp>
        <p:nvSpPr>
          <p:cNvPr id="11" name="Text 9"/>
          <p:cNvSpPr/>
          <p:nvPr/>
        </p:nvSpPr>
        <p:spPr>
          <a:xfrm>
            <a:off x="8163256" y="2043844"/>
            <a:ext cx="3098766" cy="485775"/>
          </a:xfrm>
          <a:prstGeom prst="rect">
            <a:avLst/>
          </a:prstGeom>
          <a:noFill/>
          <a:ln/>
        </p:spPr>
        <p:txBody>
          <a:bodyPr wrap="square" lIns="0" tIns="0" rIns="0" bIns="0" rtlCol="0" anchor="t">
            <a:normAutofit/>
          </a:bodyPr>
          <a:lstStyle/>
          <a:p>
            <a:pPr algn="l" indent="0" marL="0">
              <a:lnSpc>
                <a:spcPts val="1813"/>
              </a:lnSpc>
              <a:buNone/>
            </a:pPr>
            <a:r>
              <a:rPr lang="en-US" sz="1250" dirty="0">
                <a:solidFill>
                  <a:srgbClr val="4A5568"/>
                </a:solidFill>
                <a:latin typeface="IBM Plex Sans" pitchFamily="34" charset="0"/>
                <a:ea typeface="IBM Plex Sans" pitchFamily="34" charset="-122"/>
                <a:cs typeface="IBM Plex Sans" pitchFamily="34" charset="-120"/>
              </a:rPr>
              <a:t>Platform API key, billed to an API organisation.</a:t>
            </a:r>
            <a:endParaRPr lang="en-US" sz="1250" dirty="0"/>
          </a:p>
        </p:txBody>
      </p:sp>
      <p:sp>
        <p:nvSpPr>
          <p:cNvPr id="12" name="Text 10"/>
          <p:cNvSpPr/>
          <p:nvPr/>
        </p:nvSpPr>
        <p:spPr>
          <a:xfrm>
            <a:off x="812800" y="3149271"/>
            <a:ext cx="5121212"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71A1F"/>
                </a:solidFill>
                <a:latin typeface="IBM Plex Sans" pitchFamily="34" charset="0"/>
                <a:ea typeface="IBM Plex Sans" pitchFamily="34" charset="-122"/>
                <a:cs typeface="IBM Plex Sans" pitchFamily="34" charset="-120"/>
              </a:rPr>
              <a:t>Model and effort are yours to set</a:t>
            </a:r>
            <a:endParaRPr lang="en-US" sz="1600" dirty="0"/>
          </a:p>
        </p:txBody>
      </p:sp>
      <p:sp>
        <p:nvSpPr>
          <p:cNvPr id="13" name="Text 11"/>
          <p:cNvSpPr/>
          <p:nvPr/>
        </p:nvSpPr>
        <p:spPr>
          <a:xfrm>
            <a:off x="812800" y="3481983"/>
            <a:ext cx="5121212" cy="7683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568"/>
                </a:solidFill>
                <a:latin typeface="IBM Plex Sans" pitchFamily="34" charset="0"/>
                <a:ea typeface="IBM Plex Sans" pitchFamily="34" charset="-122"/>
                <a:cs typeface="IBM Plex Sans" pitchFamily="34" charset="-120"/>
              </a:rPr>
              <a:t>The model list is fetched from </a:t>
            </a:r>
            <a:r>
              <a:rPr lang="en-US" sz="1300" b="1" dirty="0">
                <a:solidFill>
                  <a:srgbClr val="171A1F"/>
                </a:solidFill>
                <a:latin typeface="IBM Plex Sans" pitchFamily="34" charset="0"/>
                <a:ea typeface="IBM Plex Sans" pitchFamily="34" charset="-122"/>
                <a:cs typeface="IBM Plex Sans" pitchFamily="34" charset="-120"/>
              </a:rPr>
              <a:t>your own account</a:t>
            </a:r>
            <a:r>
              <a:rPr lang="en-US" sz="1300" dirty="0">
                <a:solidFill>
                  <a:srgbClr val="4A5568"/>
                </a:solidFill>
                <a:latin typeface="IBM Plex Sans" pitchFamily="34" charset="0"/>
                <a:ea typeface="IBM Plex Sans" pitchFamily="34" charset="-122"/>
                <a:cs typeface="IBM Plex Sans" pitchFamily="34" charset="-120"/>
              </a:rPr>
              <a:t>, not hard-coded. Reasoning effort follows the model, because the vocabularies genuinely differ — some accept </a:t>
            </a:r>
            <a:r>
              <a:rPr lang="en-US" sz="1300" dirty="0">
                <a:solidFill>
                  <a:srgbClr val="5739AE"/>
                </a:solidFill>
                <a:latin typeface="IBM Plex Sans" pitchFamily="34" charset="0"/>
                <a:ea typeface="IBM Plex Sans" pitchFamily="34" charset="-122"/>
                <a:cs typeface="IBM Plex Sans" pitchFamily="34" charset="-120"/>
              </a:rPr>
              <a:t>ultra</a:t>
            </a:r>
            <a:r>
              <a:rPr lang="en-US" sz="1300" dirty="0">
                <a:solidFill>
                  <a:srgbClr val="4A5568"/>
                </a:solidFill>
                <a:latin typeface="IBM Plex Sans" pitchFamily="34" charset="0"/>
                <a:ea typeface="IBM Plex Sans" pitchFamily="34" charset="-122"/>
                <a:cs typeface="IBM Plex Sans" pitchFamily="34" charset="-120"/>
              </a:rPr>
              <a:t>, others stop at </a:t>
            </a:r>
            <a:r>
              <a:rPr lang="en-US" sz="1300" dirty="0">
                <a:solidFill>
                  <a:srgbClr val="5739AE"/>
                </a:solidFill>
                <a:latin typeface="IBM Plex Sans" pitchFamily="34" charset="0"/>
                <a:ea typeface="IBM Plex Sans" pitchFamily="34" charset="-122"/>
                <a:cs typeface="IBM Plex Sans" pitchFamily="34" charset="-120"/>
              </a:rPr>
              <a:t>max</a:t>
            </a:r>
            <a:r>
              <a:rPr lang="en-US" sz="1300" dirty="0">
                <a:solidFill>
                  <a:srgbClr val="4A5568"/>
                </a:solidFill>
                <a:latin typeface="IBM Plex Sans" pitchFamily="34" charset="0"/>
                <a:ea typeface="IBM Plex Sans" pitchFamily="34" charset="-122"/>
                <a:cs typeface="IBM Plex Sans" pitchFamily="34" charset="-120"/>
              </a:rPr>
              <a:t>.</a:t>
            </a:r>
            <a:endParaRPr lang="en-US" sz="1300" dirty="0"/>
          </a:p>
        </p:txBody>
      </p:sp>
      <p:sp>
        <p:nvSpPr>
          <p:cNvPr id="14" name="Text 12"/>
          <p:cNvSpPr/>
          <p:nvPr/>
        </p:nvSpPr>
        <p:spPr>
          <a:xfrm>
            <a:off x="812800" y="4313833"/>
            <a:ext cx="5121212"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568"/>
                </a:solidFill>
                <a:latin typeface="IBM Plex Sans" pitchFamily="34" charset="0"/>
                <a:ea typeface="IBM Plex Sans" pitchFamily="34" charset="-122"/>
                <a:cs typeface="IBM Plex Sans" pitchFamily="34" charset="-120"/>
              </a:rPr>
              <a:t>Both go into the run record and the response-cache key, so two configurations can never be silently pooled.</a:t>
            </a:r>
            <a:endParaRPr lang="en-US" sz="1300" dirty="0"/>
          </a:p>
        </p:txBody>
      </p:sp>
      <p:sp>
        <p:nvSpPr>
          <p:cNvPr id="15" name="Shape 13"/>
          <p:cNvSpPr/>
          <p:nvPr/>
        </p:nvSpPr>
        <p:spPr>
          <a:xfrm>
            <a:off x="5962650" y="3149271"/>
            <a:ext cx="5416550" cy="1818614"/>
          </a:xfrm>
          <a:custGeom>
            <a:avLst/>
            <a:gdLst/>
            <a:ahLst/>
            <a:cxnLst/>
            <a:rect l="l" t="t" r="r" b="b"/>
            <a:pathLst>
              <a:path w="5416550" h="1818614">
                <a:moveTo>
                  <a:pt x="0" y="0"/>
                </a:moveTo>
                <a:lnTo>
                  <a:pt x="5314950" y="0"/>
                </a:lnTo>
                <a:arcTo hR="101600" wR="101600" stAng="16200000" swAng="5400000"/>
                <a:lnTo>
                  <a:pt x="5416550" y="1717014"/>
                </a:lnTo>
                <a:arcTo hR="101600" wR="101600" stAng="0" swAng="5400000"/>
                <a:lnTo>
                  <a:pt x="0" y="1818614"/>
                </a:lnTo>
                <a:lnTo>
                  <a:pt x="0" y="0"/>
                </a:lnTo>
                <a:close/>
              </a:path>
            </a:pathLst>
          </a:custGeom>
          <a:solidFill>
            <a:srgbClr val="FFF8E8"/>
          </a:solidFill>
          <a:ln/>
        </p:spPr>
      </p:sp>
      <p:sp>
        <p:nvSpPr>
          <p:cNvPr id="16" name="Shape 14"/>
          <p:cNvSpPr/>
          <p:nvPr/>
        </p:nvSpPr>
        <p:spPr>
          <a:xfrm>
            <a:off x="5962650" y="3149271"/>
            <a:ext cx="5416550" cy="1818614"/>
          </a:xfrm>
          <a:custGeom>
            <a:avLst/>
            <a:gdLst/>
            <a:ahLst/>
            <a:cxnLst/>
            <a:rect l="l" t="t" r="r" b="b"/>
            <a:pathLst>
              <a:path w="5416550" h="1818614">
                <a:moveTo>
                  <a:pt x="38100" y="1818614"/>
                </a:moveTo>
                <a:lnTo>
                  <a:pt x="0" y="1818614"/>
                </a:lnTo>
                <a:lnTo>
                  <a:pt x="0" y="0"/>
                </a:lnTo>
                <a:lnTo>
                  <a:pt x="38100" y="0"/>
                </a:lnTo>
                <a:lnTo>
                  <a:pt x="38100" y="1818614"/>
                </a:lnTo>
                <a:close/>
              </a:path>
            </a:pathLst>
          </a:custGeom>
          <a:solidFill>
            <a:srgbClr val="8A5F15"/>
          </a:solidFill>
          <a:ln/>
        </p:spPr>
      </p:sp>
      <p:sp>
        <p:nvSpPr>
          <p:cNvPr id="17" name="Text 15"/>
          <p:cNvSpPr/>
          <p:nvPr/>
        </p:nvSpPr>
        <p:spPr>
          <a:xfrm>
            <a:off x="6203950" y="3352471"/>
            <a:ext cx="5121212"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71A1F"/>
                </a:solidFill>
                <a:latin typeface="IBM Plex Sans" pitchFamily="34" charset="0"/>
                <a:ea typeface="IBM Plex Sans" pitchFamily="34" charset="-122"/>
                <a:cs typeface="IBM Plex Sans" pitchFamily="34" charset="-120"/>
              </a:rPr>
              <a:t>The failure mode that matters</a:t>
            </a:r>
            <a:endParaRPr lang="en-US" sz="1600" dirty="0"/>
          </a:p>
        </p:txBody>
      </p:sp>
      <p:sp>
        <p:nvSpPr>
          <p:cNvPr id="18" name="Text 16"/>
          <p:cNvSpPr/>
          <p:nvPr/>
        </p:nvSpPr>
        <p:spPr>
          <a:xfrm>
            <a:off x="6203950" y="3685183"/>
            <a:ext cx="5121212"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568"/>
                </a:solidFill>
                <a:latin typeface="IBM Plex Sans" pitchFamily="34" charset="0"/>
                <a:ea typeface="IBM Plex Sans" pitchFamily="34" charset="-122"/>
                <a:cs typeface="IBM Plex Sans" pitchFamily="34" charset="-120"/>
              </a:rPr>
              <a:t>If the API fails, the run </a:t>
            </a:r>
            <a:r>
              <a:rPr lang="en-US" sz="1300" b="1" dirty="0">
                <a:solidFill>
                  <a:srgbClr val="171A1F"/>
                </a:solidFill>
                <a:latin typeface="IBM Plex Sans" pitchFamily="34" charset="0"/>
                <a:ea typeface="IBM Plex Sans" pitchFamily="34" charset="-122"/>
                <a:cs typeface="IBM Plex Sans" pitchFamily="34" charset="-120"/>
              </a:rPr>
              <a:t>silently falls back</a:t>
            </a:r>
            <a:r>
              <a:rPr lang="en-US" sz="1300" dirty="0">
                <a:solidFill>
                  <a:srgbClr val="4A5568"/>
                </a:solidFill>
                <a:latin typeface="IBM Plex Sans" pitchFamily="34" charset="0"/>
                <a:ea typeface="IBM Plex Sans" pitchFamily="34" charset="-122"/>
                <a:cs typeface="IBM Plex Sans" pitchFamily="34" charset="-120"/>
              </a:rPr>
              <a:t> to the scripted policy and finishes looking completely normal.</a:t>
            </a:r>
            <a:endParaRPr lang="en-US" sz="1300" dirty="0"/>
          </a:p>
        </p:txBody>
      </p:sp>
      <p:sp>
        <p:nvSpPr>
          <p:cNvPr id="19" name="Text 17"/>
          <p:cNvSpPr/>
          <p:nvPr/>
        </p:nvSpPr>
        <p:spPr>
          <a:xfrm>
            <a:off x="6203950" y="4269383"/>
            <a:ext cx="5121212"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568"/>
                </a:solidFill>
                <a:latin typeface="IBM Plex Sans" pitchFamily="34" charset="0"/>
                <a:ea typeface="IBM Plex Sans" pitchFamily="34" charset="-122"/>
                <a:cs typeface="IBM Plex Sans" pitchFamily="34" charset="-120"/>
              </a:rPr>
              <a:t>So the LLM panel states the fallback count first: 0 of 6 is a real LLM run; 6 of 6 is not.</a:t>
            </a:r>
            <a:endParaRPr lang="en-US" sz="1300" dirty="0"/>
          </a:p>
        </p:txBody>
      </p:sp>
      <p:sp>
        <p:nvSpPr>
          <p:cNvPr id="20" name="Text 18"/>
          <p:cNvSpPr/>
          <p:nvPr/>
        </p:nvSpPr>
        <p:spPr>
          <a:xfrm>
            <a:off x="812800" y="6238280"/>
            <a:ext cx="888984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8F98"/>
                </a:solidFill>
                <a:latin typeface="IBM Plex Sans" pitchFamily="34" charset="0"/>
                <a:ea typeface="IBM Plex Sans" pitchFamily="34" charset="-122"/>
                <a:cs typeface="IBM Plex Sans" pitchFamily="34" charset="-120"/>
              </a:rPr>
              <a:t>Changing provider changes the arm under test — it is a second experiment, not a cheaper way to run the first.</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AF8"/>
        </a:solidFill>
      </p:bgPr>
    </p:bg>
    <p:spTree>
      <p:nvGrpSpPr>
        <p:cNvPr id="1" name=""/>
        <p:cNvGrpSpPr/>
        <p:nvPr/>
      </p:nvGrpSpPr>
      <p:grpSpPr>
        <a:xfrm>
          <a:off x="0" y="0"/>
          <a:ext cx="0" cy="0"/>
          <a:chOff x="0" y="0"/>
          <a:chExt cx="0" cy="0"/>
        </a:xfrm>
      </p:grpSpPr>
      <p:sp>
        <p:nvSpPr>
          <p:cNvPr id="2" name="Text 0"/>
          <p:cNvSpPr/>
          <p:nvPr>
            <p:ph type="title"/>
          </p:nvPr>
        </p:nvSpPr>
        <p:spPr>
          <a:xfrm>
            <a:off x="812800" y="685800"/>
            <a:ext cx="9156700"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71A1F"/>
                </a:solidFill>
                <a:latin typeface="IBM Plex Sans" pitchFamily="34" charset="0"/>
                <a:ea typeface="IBM Plex Sans" pitchFamily="34" charset="-122"/>
                <a:cs typeface="IBM Plex Sans" pitchFamily="34" charset="-120"/>
              </a:rPr>
              <a:t>How a claim gets made</a:t>
            </a:r>
            <a:endParaRPr lang="en-US" sz="3000" dirty="0"/>
          </a:p>
        </p:txBody>
      </p:sp>
      <p:sp>
        <p:nvSpPr>
          <p:cNvPr id="3" name="Text 1"/>
          <p:cNvSpPr/>
          <p:nvPr/>
        </p:nvSpPr>
        <p:spPr>
          <a:xfrm>
            <a:off x="812800" y="1244600"/>
            <a:ext cx="10203180" cy="522552"/>
          </a:xfrm>
          <a:prstGeom prst="rect">
            <a:avLst/>
          </a:prstGeom>
          <a:noFill/>
          <a:ln/>
        </p:spPr>
        <p:txBody>
          <a:bodyPr wrap="square" lIns="0" tIns="0" rIns="0" bIns="0" rtlCol="0" anchor="t">
            <a:normAutofit/>
          </a:bodyPr>
          <a:lstStyle/>
          <a:p>
            <a:pPr algn="l" indent="0" marL="0">
              <a:lnSpc>
                <a:spcPts val="1958"/>
              </a:lnSpc>
              <a:buNone/>
            </a:pPr>
            <a:r>
              <a:rPr lang="en-US" sz="1350" dirty="0">
                <a:solidFill>
                  <a:srgbClr val="4A5568"/>
                </a:solidFill>
                <a:latin typeface="IBM Plex Sans" pitchFamily="34" charset="0"/>
                <a:ea typeface="IBM Plex Sans" pitchFamily="34" charset="-122"/>
                <a:cs typeface="IBM Plex Sans" pitchFamily="34" charset="-120"/>
              </a:rPr>
              <a:t>Known actives are split by scaffold; every arm faces the same withheld set; what each run proposes is scored against what it never saw.</a:t>
            </a:r>
            <a:endParaRPr lang="en-US" sz="1350" dirty="0"/>
          </a:p>
        </p:txBody>
      </p:sp>
      <p:sp>
        <p:nvSpPr>
          <p:cNvPr id="4" name="Shape 2"/>
          <p:cNvSpPr/>
          <p:nvPr/>
        </p:nvSpPr>
        <p:spPr>
          <a:xfrm>
            <a:off x="815975" y="1882775"/>
            <a:ext cx="1898650" cy="1009650"/>
          </a:xfrm>
          <a:prstGeom prst="roundRect">
            <a:avLst>
              <a:gd name="adj" fmla="val 8491"/>
            </a:avLst>
          </a:prstGeom>
          <a:solidFill>
            <a:srgbClr val="FFFFFF"/>
          </a:solidFill>
          <a:ln w="6350">
            <a:solidFill>
              <a:srgbClr val="DCE0E6"/>
            </a:solidFill>
            <a:prstDash val="solid"/>
          </a:ln>
        </p:spPr>
      </p:sp>
      <p:sp>
        <p:nvSpPr>
          <p:cNvPr id="5" name="Text 3"/>
          <p:cNvSpPr/>
          <p:nvPr/>
        </p:nvSpPr>
        <p:spPr>
          <a:xfrm>
            <a:off x="956733" y="2023535"/>
            <a:ext cx="1667933" cy="231114"/>
          </a:xfrm>
          <a:prstGeom prst="rect">
            <a:avLst/>
          </a:prstGeom>
          <a:noFill/>
          <a:ln/>
        </p:spPr>
        <p:txBody>
          <a:bodyPr wrap="square" lIns="0" tIns="0" rIns="0" bIns="0" rtlCol="0" anchor="t">
            <a:normAutofit/>
          </a:bodyPr>
          <a:lstStyle/>
          <a:p>
            <a:pPr algn="l" indent="0" marL="0">
              <a:lnSpc>
                <a:spcPts val="1620"/>
              </a:lnSpc>
              <a:buNone/>
            </a:pPr>
            <a:r>
              <a:rPr lang="en-US" sz="1350" b="1" dirty="0">
                <a:solidFill>
                  <a:srgbClr val="2A5BB0"/>
                </a:solidFill>
                <a:latin typeface="IBM Plex Sans" pitchFamily="34" charset="0"/>
                <a:ea typeface="IBM Plex Sans" pitchFamily="34" charset="-122"/>
                <a:cs typeface="IBM Plex Sans" pitchFamily="34" charset="-120"/>
              </a:rPr>
              <a:t>ChEMBL actives</a:t>
            </a:r>
            <a:endParaRPr lang="en-US" sz="1350" dirty="0"/>
          </a:p>
        </p:txBody>
      </p:sp>
      <p:sp>
        <p:nvSpPr>
          <p:cNvPr id="6" name="Text 4"/>
          <p:cNvSpPr/>
          <p:nvPr/>
        </p:nvSpPr>
        <p:spPr>
          <a:xfrm>
            <a:off x="956733" y="2229247"/>
            <a:ext cx="1667933"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568"/>
                </a:solidFill>
                <a:latin typeface="IBM Plex Sans" pitchFamily="34" charset="0"/>
                <a:ea typeface="IBM Plex Sans" pitchFamily="34" charset="-122"/>
                <a:cs typeface="IBM Plex Sans" pitchFamily="34" charset="-120"/>
              </a:rPr>
              <a:t>300 known binders for one target</a:t>
            </a:r>
            <a:endParaRPr lang="en-US" sz="1200" dirty="0"/>
          </a:p>
        </p:txBody>
      </p:sp>
      <p:pic>
        <p:nvPicPr>
          <p:cNvPr id="7" name="Image 0" descr="connector">    </p:cNvPr>
          <p:cNvPicPr>
            <a:picLocks noChangeAspect="1"/>
          </p:cNvPicPr>
          <p:nvPr/>
        </p:nvPicPr>
        <p:blipFill>
          <a:blip r:embed="rId1"/>
          <a:srcRect l="0" r="0" t="0" b="0"/>
          <a:stretch/>
        </p:blipFill>
        <p:spPr>
          <a:xfrm>
            <a:off x="2679700" y="2349500"/>
            <a:ext cx="660400" cy="76200"/>
          </a:xfrm>
          <a:prstGeom prst="rect">
            <a:avLst/>
          </a:prstGeom>
        </p:spPr>
      </p:pic>
      <p:sp>
        <p:nvSpPr>
          <p:cNvPr id="8" name="Shape 5"/>
          <p:cNvSpPr/>
          <p:nvPr/>
        </p:nvSpPr>
        <p:spPr>
          <a:xfrm>
            <a:off x="3305175" y="1882775"/>
            <a:ext cx="1898650" cy="1009650"/>
          </a:xfrm>
          <a:prstGeom prst="roundRect">
            <a:avLst>
              <a:gd name="adj" fmla="val 8491"/>
            </a:avLst>
          </a:prstGeom>
          <a:solidFill>
            <a:srgbClr val="FFFFFF"/>
          </a:solidFill>
          <a:ln w="6350">
            <a:solidFill>
              <a:srgbClr val="DCE0E6"/>
            </a:solidFill>
            <a:prstDash val="solid"/>
          </a:ln>
        </p:spPr>
      </p:sp>
      <p:sp>
        <p:nvSpPr>
          <p:cNvPr id="9" name="Text 6"/>
          <p:cNvSpPr/>
          <p:nvPr/>
        </p:nvSpPr>
        <p:spPr>
          <a:xfrm>
            <a:off x="3445933" y="2023535"/>
            <a:ext cx="1667933" cy="207367"/>
          </a:xfrm>
          <a:prstGeom prst="rect">
            <a:avLst/>
          </a:prstGeom>
          <a:noFill/>
          <a:ln/>
        </p:spPr>
        <p:txBody>
          <a:bodyPr wrap="square" lIns="0" tIns="0" rIns="0" bIns="0" rtlCol="0" anchor="t">
            <a:normAutofit/>
          </a:bodyPr>
          <a:lstStyle/>
          <a:p>
            <a:pPr algn="l" indent="0" marL="0">
              <a:lnSpc>
                <a:spcPts val="1473"/>
              </a:lnSpc>
              <a:buNone/>
            </a:pPr>
            <a:r>
              <a:rPr lang="en-US" sz="1228" b="1" dirty="0">
                <a:solidFill>
                  <a:srgbClr val="171A1F"/>
                </a:solidFill>
                <a:latin typeface="IBM Plex Sans" pitchFamily="34" charset="0"/>
                <a:ea typeface="IBM Plex Sans" pitchFamily="34" charset="-122"/>
                <a:cs typeface="IBM Plex Sans" pitchFamily="34" charset="-120"/>
              </a:rPr>
              <a:t>Scaffold split</a:t>
            </a:r>
            <a:endParaRPr lang="en-US" sz="1228" dirty="0"/>
          </a:p>
        </p:txBody>
      </p:sp>
      <p:sp>
        <p:nvSpPr>
          <p:cNvPr id="10" name="Text 7"/>
          <p:cNvSpPr/>
          <p:nvPr/>
        </p:nvSpPr>
        <p:spPr>
          <a:xfrm>
            <a:off x="3445933" y="2205503"/>
            <a:ext cx="1667933" cy="571566"/>
          </a:xfrm>
          <a:prstGeom prst="rect">
            <a:avLst/>
          </a:prstGeom>
          <a:noFill/>
          <a:ln/>
        </p:spPr>
        <p:txBody>
          <a:bodyPr wrap="square" lIns="0" tIns="0" rIns="0" bIns="0" rtlCol="0" anchor="t">
            <a:normAutofit/>
          </a:bodyPr>
          <a:lstStyle/>
          <a:p>
            <a:pPr algn="l" indent="0" marL="0">
              <a:lnSpc>
                <a:spcPts val="1438"/>
              </a:lnSpc>
              <a:buNone/>
            </a:pPr>
            <a:r>
              <a:rPr lang="en-US" sz="1065" dirty="0">
                <a:solidFill>
                  <a:srgbClr val="4A5568"/>
                </a:solidFill>
                <a:latin typeface="IBM Plex Sans" pitchFamily="34" charset="0"/>
                <a:ea typeface="IBM Plex Sans" pitchFamily="34" charset="-122"/>
                <a:cs typeface="IBM Plex Sans" pitchFamily="34" charset="-120"/>
              </a:rPr>
              <a:t>whole chemotypes withheld, never random molecules</a:t>
            </a:r>
            <a:endParaRPr lang="en-US" sz="1065" dirty="0"/>
          </a:p>
        </p:txBody>
      </p:sp>
      <p:pic>
        <p:nvPicPr>
          <p:cNvPr id="11" name="Image 1" descr="connector">    </p:cNvPr>
          <p:cNvPicPr>
            <a:picLocks noChangeAspect="1"/>
          </p:cNvPicPr>
          <p:nvPr/>
        </p:nvPicPr>
        <p:blipFill>
          <a:blip r:embed="rId2"/>
          <a:srcRect l="0" r="0" t="0" b="0"/>
          <a:stretch/>
        </p:blipFill>
        <p:spPr>
          <a:xfrm>
            <a:off x="4216400" y="2857500"/>
            <a:ext cx="76200" cy="546100"/>
          </a:xfrm>
          <a:prstGeom prst="rect">
            <a:avLst/>
          </a:prstGeom>
        </p:spPr>
      </p:pic>
      <p:pic>
        <p:nvPicPr>
          <p:cNvPr id="12" name="Image 2" descr="connector">    </p:cNvPr>
          <p:cNvPicPr>
            <a:picLocks noChangeAspect="1"/>
          </p:cNvPicPr>
          <p:nvPr/>
        </p:nvPicPr>
        <p:blipFill>
          <a:blip r:embed="rId3"/>
          <a:srcRect l="0" r="0" t="0" b="0"/>
          <a:stretch/>
        </p:blipFill>
        <p:spPr>
          <a:xfrm>
            <a:off x="2057400" y="3327400"/>
            <a:ext cx="2235200" cy="76200"/>
          </a:xfrm>
          <a:prstGeom prst="rect">
            <a:avLst/>
          </a:prstGeom>
        </p:spPr>
      </p:pic>
      <p:pic>
        <p:nvPicPr>
          <p:cNvPr id="13" name="Image 3" descr="connector">    </p:cNvPr>
          <p:cNvPicPr>
            <a:picLocks noChangeAspect="1"/>
          </p:cNvPicPr>
          <p:nvPr/>
        </p:nvPicPr>
        <p:blipFill>
          <a:blip r:embed="rId4"/>
          <a:srcRect l="0" r="0" t="0" b="0"/>
          <a:stretch/>
        </p:blipFill>
        <p:spPr>
          <a:xfrm>
            <a:off x="2057400" y="3327400"/>
            <a:ext cx="76200" cy="444500"/>
          </a:xfrm>
          <a:prstGeom prst="rect">
            <a:avLst/>
          </a:prstGeom>
        </p:spPr>
      </p:pic>
      <p:pic>
        <p:nvPicPr>
          <p:cNvPr id="14" name="Image 4" descr="connector">    </p:cNvPr>
          <p:cNvPicPr>
            <a:picLocks noChangeAspect="1"/>
          </p:cNvPicPr>
          <p:nvPr/>
        </p:nvPicPr>
        <p:blipFill>
          <a:blip r:embed="rId5"/>
          <a:srcRect l="0" r="0" t="0" b="0"/>
          <a:stretch/>
        </p:blipFill>
        <p:spPr>
          <a:xfrm>
            <a:off x="4216400" y="3327400"/>
            <a:ext cx="2235200" cy="76200"/>
          </a:xfrm>
          <a:prstGeom prst="rect">
            <a:avLst/>
          </a:prstGeom>
        </p:spPr>
      </p:pic>
      <p:pic>
        <p:nvPicPr>
          <p:cNvPr id="15" name="Image 5" descr="connector">    </p:cNvPr>
          <p:cNvPicPr>
            <a:picLocks noChangeAspect="1"/>
          </p:cNvPicPr>
          <p:nvPr/>
        </p:nvPicPr>
        <p:blipFill>
          <a:blip r:embed="rId6"/>
          <a:srcRect l="0" r="0" t="0" b="0"/>
          <a:stretch/>
        </p:blipFill>
        <p:spPr>
          <a:xfrm>
            <a:off x="6375400" y="3327400"/>
            <a:ext cx="76200" cy="444500"/>
          </a:xfrm>
          <a:prstGeom prst="rect">
            <a:avLst/>
          </a:prstGeom>
        </p:spPr>
      </p:pic>
      <p:sp>
        <p:nvSpPr>
          <p:cNvPr id="16" name="Shape 8"/>
          <p:cNvSpPr/>
          <p:nvPr/>
        </p:nvSpPr>
        <p:spPr>
          <a:xfrm>
            <a:off x="815975" y="3736975"/>
            <a:ext cx="2559050" cy="895350"/>
          </a:xfrm>
          <a:prstGeom prst="roundRect">
            <a:avLst>
              <a:gd name="adj" fmla="val 9574"/>
            </a:avLst>
          </a:prstGeom>
          <a:solidFill>
            <a:srgbClr val="EAF7F0"/>
          </a:solidFill>
          <a:ln w="6350">
            <a:solidFill>
              <a:srgbClr val="A9DCC2"/>
            </a:solidFill>
            <a:prstDash val="solid"/>
          </a:ln>
        </p:spPr>
      </p:sp>
      <p:sp>
        <p:nvSpPr>
          <p:cNvPr id="17" name="Text 9"/>
          <p:cNvSpPr/>
          <p:nvPr/>
        </p:nvSpPr>
        <p:spPr>
          <a:xfrm>
            <a:off x="956733" y="3877735"/>
            <a:ext cx="2345859" cy="229989"/>
          </a:xfrm>
          <a:prstGeom prst="rect">
            <a:avLst/>
          </a:prstGeom>
          <a:noFill/>
          <a:ln/>
        </p:spPr>
        <p:txBody>
          <a:bodyPr wrap="square" lIns="0" tIns="0" rIns="0" bIns="0" rtlCol="0" anchor="t">
            <a:normAutofit/>
          </a:bodyPr>
          <a:lstStyle/>
          <a:p>
            <a:pPr algn="l" indent="0" marL="0">
              <a:lnSpc>
                <a:spcPts val="1620"/>
              </a:lnSpc>
              <a:buNone/>
            </a:pPr>
            <a:r>
              <a:rPr lang="en-US" sz="1350" b="1" dirty="0">
                <a:solidFill>
                  <a:srgbClr val="1C7A4E"/>
                </a:solidFill>
                <a:latin typeface="IBM Plex Sans" pitchFamily="34" charset="0"/>
                <a:ea typeface="IBM Plex Sans" pitchFamily="34" charset="-122"/>
                <a:cs typeface="IBM Plex Sans" pitchFamily="34" charset="-120"/>
              </a:rPr>
              <a:t>Seen — 210</a:t>
            </a:r>
            <a:endParaRPr lang="en-US" sz="1350" dirty="0"/>
          </a:p>
        </p:txBody>
      </p:sp>
      <p:sp>
        <p:nvSpPr>
          <p:cNvPr id="18" name="Text 10"/>
          <p:cNvSpPr/>
          <p:nvPr/>
        </p:nvSpPr>
        <p:spPr>
          <a:xfrm>
            <a:off x="956733" y="4082324"/>
            <a:ext cx="2345859" cy="434644"/>
          </a:xfrm>
          <a:prstGeom prst="rect">
            <a:avLst/>
          </a:prstGeom>
          <a:noFill/>
          <a:ln/>
        </p:spPr>
        <p:txBody>
          <a:bodyPr wrap="square" lIns="0" tIns="0" rIns="0" bIns="0" rtlCol="0" anchor="t">
            <a:normAutofit/>
          </a:bodyPr>
          <a:lstStyle/>
          <a:p>
            <a:pPr algn="l" indent="0" marL="0">
              <a:lnSpc>
                <a:spcPts val="1610"/>
              </a:lnSpc>
              <a:buNone/>
            </a:pPr>
            <a:r>
              <a:rPr lang="en-US" sz="1193" dirty="0">
                <a:solidFill>
                  <a:srgbClr val="4A5568"/>
                </a:solidFill>
                <a:latin typeface="IBM Plex Sans" pitchFamily="34" charset="0"/>
                <a:ea typeface="IBM Plex Sans" pitchFamily="34" charset="-122"/>
                <a:cs typeface="IBM Plex Sans" pitchFamily="34" charset="-120"/>
              </a:rPr>
              <a:t>handed to the run by retrieval, used as GA seeds</a:t>
            </a:r>
            <a:endParaRPr lang="en-US" sz="1193" dirty="0"/>
          </a:p>
        </p:txBody>
      </p:sp>
      <p:sp>
        <p:nvSpPr>
          <p:cNvPr id="19" name="Shape 11"/>
          <p:cNvSpPr/>
          <p:nvPr/>
        </p:nvSpPr>
        <p:spPr>
          <a:xfrm>
            <a:off x="5133975" y="3736975"/>
            <a:ext cx="2559050" cy="895350"/>
          </a:xfrm>
          <a:prstGeom prst="roundRect">
            <a:avLst>
              <a:gd name="adj" fmla="val 9574"/>
            </a:avLst>
          </a:prstGeom>
          <a:solidFill>
            <a:srgbClr val="FBECEA"/>
          </a:solidFill>
          <a:ln w="6350">
            <a:solidFill>
              <a:srgbClr val="E8B9B1"/>
            </a:solidFill>
            <a:prstDash val="solid"/>
          </a:ln>
        </p:spPr>
      </p:sp>
      <p:sp>
        <p:nvSpPr>
          <p:cNvPr id="20" name="Text 12"/>
          <p:cNvSpPr/>
          <p:nvPr/>
        </p:nvSpPr>
        <p:spPr>
          <a:xfrm>
            <a:off x="5274733" y="3877735"/>
            <a:ext cx="2345859" cy="178792"/>
          </a:xfrm>
          <a:prstGeom prst="rect">
            <a:avLst/>
          </a:prstGeom>
          <a:noFill/>
          <a:ln/>
        </p:spPr>
        <p:txBody>
          <a:bodyPr wrap="square" lIns="0" tIns="0" rIns="0" bIns="0" rtlCol="0" anchor="t">
            <a:normAutofit/>
          </a:bodyPr>
          <a:lstStyle/>
          <a:p>
            <a:pPr algn="l" indent="0" marL="0">
              <a:lnSpc>
                <a:spcPts val="1220"/>
              </a:lnSpc>
              <a:buNone/>
            </a:pPr>
            <a:r>
              <a:rPr lang="en-US" sz="1017" b="1" dirty="0">
                <a:solidFill>
                  <a:srgbClr val="A5342A"/>
                </a:solidFill>
                <a:latin typeface="IBM Plex Sans" pitchFamily="34" charset="0"/>
                <a:ea typeface="IBM Plex Sans" pitchFamily="34" charset="-122"/>
                <a:cs typeface="IBM Plex Sans" pitchFamily="34" charset="-120"/>
              </a:rPr>
              <a:t>Withheld — 90</a:t>
            </a:r>
            <a:endParaRPr lang="en-US" sz="1017" dirty="0"/>
          </a:p>
        </p:txBody>
      </p:sp>
      <p:sp>
        <p:nvSpPr>
          <p:cNvPr id="21" name="Text 13"/>
          <p:cNvSpPr/>
          <p:nvPr/>
        </p:nvSpPr>
        <p:spPr>
          <a:xfrm>
            <a:off x="5274733" y="4031128"/>
            <a:ext cx="2345859" cy="485841"/>
          </a:xfrm>
          <a:prstGeom prst="rect">
            <a:avLst/>
          </a:prstGeom>
          <a:noFill/>
          <a:ln/>
        </p:spPr>
        <p:txBody>
          <a:bodyPr wrap="square" lIns="0" tIns="0" rIns="0" bIns="0" rtlCol="0" anchor="t">
            <a:normAutofit/>
          </a:bodyPr>
          <a:lstStyle/>
          <a:p>
            <a:pPr algn="l" indent="0" marL="0">
              <a:lnSpc>
                <a:spcPts val="1615"/>
              </a:lnSpc>
              <a:buNone/>
            </a:pPr>
            <a:r>
              <a:rPr lang="en-US" sz="1196" dirty="0">
                <a:solidFill>
                  <a:srgbClr val="4A5568"/>
                </a:solidFill>
                <a:latin typeface="IBM Plex Sans" pitchFamily="34" charset="0"/>
                <a:ea typeface="IBM Plex Sans" pitchFamily="34" charset="-122"/>
                <a:cs typeface="IBM Plex Sans" pitchFamily="34" charset="-120"/>
              </a:rPr>
              <a:t>the run never sees these; reaching one is the measurement</a:t>
            </a:r>
            <a:endParaRPr lang="en-US" sz="1196" dirty="0"/>
          </a:p>
        </p:txBody>
      </p:sp>
      <p:sp>
        <p:nvSpPr>
          <p:cNvPr id="22" name="Shape 14"/>
          <p:cNvSpPr/>
          <p:nvPr/>
        </p:nvSpPr>
        <p:spPr>
          <a:xfrm>
            <a:off x="5768975" y="1882775"/>
            <a:ext cx="2254250" cy="1009650"/>
          </a:xfrm>
          <a:prstGeom prst="roundRect">
            <a:avLst>
              <a:gd name="adj" fmla="val 8491"/>
            </a:avLst>
          </a:prstGeom>
          <a:solidFill>
            <a:srgbClr val="FFFFFF"/>
          </a:solidFill>
          <a:ln w="6350">
            <a:solidFill>
              <a:srgbClr val="DCE0E6"/>
            </a:solidFill>
            <a:prstDash val="solid"/>
          </a:ln>
        </p:spPr>
      </p:sp>
      <p:sp>
        <p:nvSpPr>
          <p:cNvPr id="23" name="Text 15"/>
          <p:cNvSpPr/>
          <p:nvPr/>
        </p:nvSpPr>
        <p:spPr>
          <a:xfrm>
            <a:off x="5909733" y="2023535"/>
            <a:ext cx="2031915" cy="231114"/>
          </a:xfrm>
          <a:prstGeom prst="rect">
            <a:avLst/>
          </a:prstGeom>
          <a:noFill/>
          <a:ln/>
        </p:spPr>
        <p:txBody>
          <a:bodyPr wrap="square" lIns="0" tIns="0" rIns="0" bIns="0" rtlCol="0" anchor="t">
            <a:normAutofit/>
          </a:bodyPr>
          <a:lstStyle/>
          <a:p>
            <a:pPr algn="l" indent="0" marL="0">
              <a:lnSpc>
                <a:spcPts val="1620"/>
              </a:lnSpc>
              <a:buNone/>
            </a:pPr>
            <a:r>
              <a:rPr lang="en-US" sz="1350" b="1" dirty="0">
                <a:solidFill>
                  <a:srgbClr val="5739AE"/>
                </a:solidFill>
                <a:latin typeface="IBM Plex Sans" pitchFamily="34" charset="0"/>
                <a:ea typeface="IBM Plex Sans" pitchFamily="34" charset="-122"/>
                <a:cs typeface="IBM Plex Sans" pitchFamily="34" charset="-120"/>
              </a:rPr>
              <a:t>Every arm runs</a:t>
            </a:r>
            <a:endParaRPr lang="en-US" sz="1350" dirty="0"/>
          </a:p>
        </p:txBody>
      </p:sp>
      <p:sp>
        <p:nvSpPr>
          <p:cNvPr id="24" name="Text 16"/>
          <p:cNvSpPr/>
          <p:nvPr/>
        </p:nvSpPr>
        <p:spPr>
          <a:xfrm>
            <a:off x="5909733" y="2229247"/>
            <a:ext cx="2031915"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568"/>
                </a:solidFill>
                <a:latin typeface="IBM Plex Sans" pitchFamily="34" charset="0"/>
                <a:ea typeface="IBM Plex Sans" pitchFamily="34" charset="-122"/>
                <a:cs typeface="IBM Plex Sans" pitchFamily="34" charset="-120"/>
              </a:rPr>
              <a:t>same target, same seed, same budget, same holdout</a:t>
            </a:r>
            <a:endParaRPr lang="en-US" sz="1200" dirty="0"/>
          </a:p>
        </p:txBody>
      </p:sp>
      <p:pic>
        <p:nvPicPr>
          <p:cNvPr id="25" name="Image 6" descr="connector">    </p:cNvPr>
          <p:cNvPicPr>
            <a:picLocks noChangeAspect="1"/>
          </p:cNvPicPr>
          <p:nvPr/>
        </p:nvPicPr>
        <p:blipFill>
          <a:blip r:embed="rId7"/>
          <a:srcRect l="0" r="0" t="0" b="0"/>
          <a:stretch/>
        </p:blipFill>
        <p:spPr>
          <a:xfrm>
            <a:off x="5168900" y="2349500"/>
            <a:ext cx="635000" cy="76200"/>
          </a:xfrm>
          <a:prstGeom prst="rect">
            <a:avLst/>
          </a:prstGeom>
        </p:spPr>
      </p:pic>
      <p:pic>
        <p:nvPicPr>
          <p:cNvPr id="26" name="Image 7" descr="connector">    </p:cNvPr>
          <p:cNvPicPr>
            <a:picLocks noChangeAspect="1"/>
          </p:cNvPicPr>
          <p:nvPr/>
        </p:nvPicPr>
        <p:blipFill>
          <a:blip r:embed="rId8"/>
          <a:srcRect l="0" r="0" t="0" b="0"/>
          <a:stretch/>
        </p:blipFill>
        <p:spPr>
          <a:xfrm>
            <a:off x="7988300" y="2349500"/>
            <a:ext cx="635000" cy="76200"/>
          </a:xfrm>
          <a:prstGeom prst="rect">
            <a:avLst/>
          </a:prstGeom>
        </p:spPr>
      </p:pic>
      <p:sp>
        <p:nvSpPr>
          <p:cNvPr id="27" name="Shape 17"/>
          <p:cNvSpPr/>
          <p:nvPr/>
        </p:nvSpPr>
        <p:spPr>
          <a:xfrm>
            <a:off x="8585200" y="1879600"/>
            <a:ext cx="2374900" cy="1016000"/>
          </a:xfrm>
          <a:prstGeom prst="roundRect">
            <a:avLst>
              <a:gd name="adj" fmla="val 8750"/>
            </a:avLst>
          </a:prstGeom>
          <a:solidFill>
            <a:srgbClr val="171A1F"/>
          </a:solidFill>
          <a:ln/>
        </p:spPr>
      </p:sp>
      <p:sp>
        <p:nvSpPr>
          <p:cNvPr id="28" name="Text 18"/>
          <p:cNvSpPr/>
          <p:nvPr/>
        </p:nvSpPr>
        <p:spPr>
          <a:xfrm>
            <a:off x="8724900" y="2019300"/>
            <a:ext cx="2158365" cy="231114"/>
          </a:xfrm>
          <a:prstGeom prst="rect">
            <a:avLst/>
          </a:prstGeom>
          <a:noFill/>
          <a:ln/>
        </p:spPr>
        <p:txBody>
          <a:bodyPr wrap="square" lIns="0" tIns="0" rIns="0" bIns="0" rtlCol="0" anchor="t">
            <a:normAutofit/>
          </a:bodyPr>
          <a:lstStyle/>
          <a:p>
            <a:pPr algn="l" indent="0" marL="0">
              <a:lnSpc>
                <a:spcPts val="1620"/>
              </a:lnSpc>
              <a:buNone/>
            </a:pPr>
            <a:r>
              <a:rPr lang="en-US" sz="1350" b="1" dirty="0">
                <a:solidFill>
                  <a:srgbClr val="FAFAF8"/>
                </a:solidFill>
                <a:latin typeface="IBM Plex Sans" pitchFamily="34" charset="0"/>
                <a:ea typeface="IBM Plex Sans" pitchFamily="34" charset="-122"/>
                <a:cs typeface="IBM Plex Sans" pitchFamily="34" charset="-120"/>
              </a:rPr>
              <a:t>Leaderboard</a:t>
            </a:r>
            <a:endParaRPr lang="en-US" sz="1350" dirty="0"/>
          </a:p>
        </p:txBody>
      </p:sp>
      <p:sp>
        <p:nvSpPr>
          <p:cNvPr id="29" name="Text 19"/>
          <p:cNvSpPr/>
          <p:nvPr/>
        </p:nvSpPr>
        <p:spPr>
          <a:xfrm>
            <a:off x="8724900" y="2225018"/>
            <a:ext cx="2158365"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C3CAD4"/>
                </a:solidFill>
                <a:latin typeface="IBM Plex Sans" pitchFamily="34" charset="0"/>
                <a:ea typeface="IBM Plex Sans" pitchFamily="34" charset="-122"/>
                <a:cs typeface="IBM Plex Sans" pitchFamily="34" charset="-120"/>
              </a:rPr>
              <a:t>paired against the baseline, per target and per seed</a:t>
            </a:r>
            <a:endParaRPr lang="en-US" sz="1200" dirty="0"/>
          </a:p>
        </p:txBody>
      </p:sp>
      <p:pic>
        <p:nvPicPr>
          <p:cNvPr id="30" name="Image 8" descr="connector">    </p:cNvPr>
          <p:cNvPicPr>
            <a:picLocks noChangeAspect="1"/>
          </p:cNvPicPr>
          <p:nvPr/>
        </p:nvPicPr>
        <p:blipFill>
          <a:blip r:embed="rId9"/>
          <a:srcRect l="0" r="0" t="0" b="0"/>
          <a:stretch/>
        </p:blipFill>
        <p:spPr>
          <a:xfrm>
            <a:off x="7645400" y="4025900"/>
            <a:ext cx="1917700" cy="76200"/>
          </a:xfrm>
          <a:prstGeom prst="rect">
            <a:avLst/>
          </a:prstGeom>
        </p:spPr>
      </p:pic>
      <p:pic>
        <p:nvPicPr>
          <p:cNvPr id="31" name="Image 9" descr="connector">    </p:cNvPr>
          <p:cNvPicPr>
            <a:picLocks noChangeAspect="1"/>
          </p:cNvPicPr>
          <p:nvPr/>
        </p:nvPicPr>
        <p:blipFill>
          <a:blip r:embed="rId10"/>
          <a:srcRect l="0" r="0" t="0" b="0"/>
          <a:stretch/>
        </p:blipFill>
        <p:spPr>
          <a:xfrm>
            <a:off x="9486900" y="2946400"/>
            <a:ext cx="76200" cy="1155700"/>
          </a:xfrm>
          <a:prstGeom prst="rect">
            <a:avLst/>
          </a:prstGeom>
        </p:spPr>
      </p:pic>
      <p:sp>
        <p:nvSpPr>
          <p:cNvPr id="32" name="Text 20"/>
          <p:cNvSpPr/>
          <p:nvPr/>
        </p:nvSpPr>
        <p:spPr>
          <a:xfrm>
            <a:off x="7950200" y="4229100"/>
            <a:ext cx="1701800" cy="220927"/>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8A8F98"/>
                </a:solidFill>
                <a:latin typeface="IBM Plex Sans" pitchFamily="34" charset="0"/>
                <a:ea typeface="IBM Plex Sans" pitchFamily="34" charset="-122"/>
                <a:cs typeface="IBM Plex Sans" pitchFamily="34" charset="-120"/>
              </a:rPr>
              <a:t>scored against</a:t>
            </a:r>
            <a:endParaRPr lang="en-US" sz="1100" dirty="0"/>
          </a:p>
        </p:txBody>
      </p:sp>
      <p:sp>
        <p:nvSpPr>
          <p:cNvPr id="33" name="Shape 21"/>
          <p:cNvSpPr/>
          <p:nvPr/>
        </p:nvSpPr>
        <p:spPr>
          <a:xfrm>
            <a:off x="815975" y="4905375"/>
            <a:ext cx="4972050" cy="577850"/>
          </a:xfrm>
          <a:prstGeom prst="roundRect">
            <a:avLst>
              <a:gd name="adj" fmla="val 14835"/>
            </a:avLst>
          </a:prstGeom>
          <a:solidFill>
            <a:srgbClr val="FFFFFF"/>
          </a:solidFill>
          <a:ln w="6350">
            <a:solidFill>
              <a:srgbClr val="DCE0E6"/>
            </a:solidFill>
            <a:prstDash val="solid"/>
          </a:ln>
        </p:spPr>
      </p:sp>
      <p:sp>
        <p:nvSpPr>
          <p:cNvPr id="34" name="Text 22"/>
          <p:cNvSpPr/>
          <p:nvPr/>
        </p:nvSpPr>
        <p:spPr>
          <a:xfrm>
            <a:off x="944033" y="5033435"/>
            <a:ext cx="4857411" cy="347133"/>
          </a:xfrm>
          <a:prstGeom prst="rect">
            <a:avLst/>
          </a:prstGeom>
          <a:noFill/>
          <a:ln/>
        </p:spPr>
        <p:txBody>
          <a:bodyPr wrap="square" lIns="0" tIns="0" rIns="0" bIns="0" rtlCol="0" anchor="t">
            <a:normAutofit/>
          </a:bodyPr>
          <a:lstStyle/>
          <a:p>
            <a:pPr algn="l" indent="0" marL="0">
              <a:lnSpc>
                <a:spcPts val="1285"/>
              </a:lnSpc>
              <a:buNone/>
            </a:pPr>
            <a:r>
              <a:rPr lang="en-US" sz="918" b="1" dirty="0">
                <a:solidFill>
                  <a:srgbClr val="171A1F"/>
                </a:solidFill>
                <a:latin typeface="IBM Plex Sans" pitchFamily="34" charset="0"/>
                <a:ea typeface="IBM Plex Sans" pitchFamily="34" charset="-122"/>
                <a:cs typeface="IBM Plex Sans" pitchFamily="34" charset="-120"/>
              </a:rPr>
              <a:t>Ranked on discovery AUC</a:t>
            </a:r>
            <a:r>
              <a:rPr lang="en-US" sz="918" dirty="0">
                <a:solidFill>
                  <a:srgbClr val="4A5568"/>
                </a:solidFill>
                <a:latin typeface="IBM Plex Sans" pitchFamily="34" charset="0"/>
                <a:ea typeface="IBM Plex Sans" pitchFamily="34" charset="-122"/>
                <a:cs typeface="IBM Plex Sans" pitchFamily="34" charset="-120"/>
              </a:rPr>
              <a:t> — withheld scaffolds found per unit spent, so finding them early counts for more than finding them eventually.</a:t>
            </a:r>
            <a:endParaRPr lang="en-US" sz="918" dirty="0"/>
          </a:p>
        </p:txBody>
      </p:sp>
      <p:sp>
        <p:nvSpPr>
          <p:cNvPr id="35" name="Text 23"/>
          <p:cNvSpPr/>
          <p:nvPr/>
        </p:nvSpPr>
        <p:spPr>
          <a:xfrm>
            <a:off x="5981700" y="4902200"/>
            <a:ext cx="4978400" cy="584200"/>
          </a:xfrm>
          <a:custGeom>
            <a:avLst/>
            <a:gdLst/>
            <a:ahLst/>
            <a:cxnLst/>
            <a:rect l="l" t="t" r="r" b="b"/>
            <a:pathLst>
              <a:path w="4978400" h="584200">
                <a:moveTo>
                  <a:pt x="0" y="0"/>
                </a:moveTo>
                <a:lnTo>
                  <a:pt x="4889500" y="0"/>
                </a:lnTo>
                <a:arcTo hR="88900" wR="88900" stAng="16200000" swAng="5400000"/>
                <a:lnTo>
                  <a:pt x="4978400" y="495300"/>
                </a:lnTo>
                <a:arcTo hR="88900" wR="88900" stAng="0" swAng="5400000"/>
                <a:lnTo>
                  <a:pt x="0" y="584200"/>
                </a:lnTo>
                <a:lnTo>
                  <a:pt x="0" y="0"/>
                </a:lnTo>
                <a:close/>
              </a:path>
            </a:pathLst>
          </a:custGeom>
          <a:solidFill>
            <a:srgbClr val="FFF8E8"/>
          </a:solidFill>
          <a:ln/>
        </p:spPr>
        <p:txBody>
          <a:bodyPr wrap="square" lIns="156633" tIns="127000" rIns="0" bIns="101600" rtlCol="0" anchor="t">
            <a:normAutofit/>
          </a:bodyPr>
          <a:lstStyle/>
          <a:p>
            <a:pPr algn="l" indent="0" marL="0">
              <a:lnSpc>
                <a:spcPts val="1307"/>
              </a:lnSpc>
              <a:buNone/>
            </a:pPr>
            <a:r>
              <a:rPr lang="en-US" sz="934" b="1" dirty="0">
                <a:solidFill>
                  <a:srgbClr val="171A1F"/>
                </a:solidFill>
                <a:latin typeface="IBM Plex Sans" pitchFamily="34" charset="0"/>
                <a:ea typeface="IBM Plex Sans" pitchFamily="34" charset="-122"/>
                <a:cs typeface="IBM Plex Sans" pitchFamily="34" charset="-120"/>
              </a:rPr>
              <a:t>Not ranked on docking score.</a:t>
            </a:r>
            <a:r>
              <a:rPr lang="en-US" sz="934" dirty="0">
                <a:solidFill>
                  <a:srgbClr val="4A5568"/>
                </a:solidFill>
                <a:latin typeface="IBM Plex Sans" pitchFamily="34" charset="0"/>
                <a:ea typeface="IBM Plex Sans" pitchFamily="34" charset="-122"/>
                <a:cs typeface="IBM Plex Sans" pitchFamily="34" charset="-120"/>
              </a:rPr>
              <a:t> Generators learn to exploit it. It is reported beside every row, never used to order them.</a:t>
            </a:r>
            <a:endParaRPr lang="en-US" sz="934" dirty="0"/>
          </a:p>
        </p:txBody>
      </p:sp>
      <p:sp>
        <p:nvSpPr>
          <p:cNvPr id="36" name="Shape 24"/>
          <p:cNvSpPr/>
          <p:nvPr/>
        </p:nvSpPr>
        <p:spPr>
          <a:xfrm>
            <a:off x="5981700" y="4902200"/>
            <a:ext cx="4978400" cy="584200"/>
          </a:xfrm>
          <a:custGeom>
            <a:avLst/>
            <a:gdLst/>
            <a:ahLst/>
            <a:cxnLst/>
            <a:rect l="l" t="t" r="r" b="b"/>
            <a:pathLst>
              <a:path w="4978400" h="584200">
                <a:moveTo>
                  <a:pt x="31750" y="584200"/>
                </a:moveTo>
                <a:lnTo>
                  <a:pt x="0" y="584200"/>
                </a:lnTo>
                <a:lnTo>
                  <a:pt x="0" y="0"/>
                </a:lnTo>
                <a:lnTo>
                  <a:pt x="31750" y="0"/>
                </a:lnTo>
                <a:lnTo>
                  <a:pt x="31750" y="584200"/>
                </a:lnTo>
                <a:close/>
              </a:path>
            </a:pathLst>
          </a:custGeom>
          <a:solidFill>
            <a:srgbClr val="8A5F15"/>
          </a:solidFill>
          <a:ln/>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2A2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5FBF95"/>
                </a:solidFill>
                <a:latin typeface="JetBrains Mono" pitchFamily="49" charset="0"/>
                <a:ea typeface="JetBrains Mono" pitchFamily="49" charset="-122"/>
                <a:cs typeface="JetBrains Mono" pitchFamily="49" charset="-120"/>
              </a:rPr>
              <a:t>OBSERVED, NOT ASSUMED</a:t>
            </a:r>
            <a:endParaRPr lang="en-US" sz="1200" dirty="0"/>
          </a:p>
        </p:txBody>
      </p:sp>
      <p:sp>
        <p:nvSpPr>
          <p:cNvPr id="3" name="Text 1"/>
          <p:cNvSpPr/>
          <p:nvPr>
            <p:ph type="title"/>
          </p:nvPr>
        </p:nvSpPr>
        <p:spPr>
          <a:xfrm>
            <a:off x="812800" y="10896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AFAF8"/>
                </a:solidFill>
                <a:latin typeface="IBM Plex Sans" pitchFamily="34" charset="0"/>
                <a:ea typeface="IBM Plex Sans" pitchFamily="34" charset="-122"/>
                <a:cs typeface="IBM Plex Sans" pitchFamily="34" charset="-120"/>
              </a:rPr>
              <a:t>What is actually verified</a:t>
            </a:r>
            <a:endParaRPr lang="en-US" sz="3600" dirty="0"/>
          </a:p>
        </p:txBody>
      </p:sp>
      <p:sp>
        <p:nvSpPr>
          <p:cNvPr id="4" name="Shape 2"/>
          <p:cNvSpPr/>
          <p:nvPr/>
        </p:nvSpPr>
        <p:spPr>
          <a:xfrm>
            <a:off x="812800" y="1821129"/>
            <a:ext cx="2546350" cy="2054622"/>
          </a:xfrm>
          <a:prstGeom prst="roundRect">
            <a:avLst>
              <a:gd name="adj" fmla="val 4945"/>
            </a:avLst>
          </a:prstGeom>
          <a:solidFill>
            <a:srgbClr val="16382B"/>
          </a:solidFill>
          <a:ln/>
        </p:spPr>
      </p:sp>
      <p:sp>
        <p:nvSpPr>
          <p:cNvPr id="5" name="Text 3"/>
          <p:cNvSpPr/>
          <p:nvPr/>
        </p:nvSpPr>
        <p:spPr>
          <a:xfrm>
            <a:off x="1016000" y="2024329"/>
            <a:ext cx="2204149" cy="457200"/>
          </a:xfrm>
          <a:prstGeom prst="rect">
            <a:avLst/>
          </a:prstGeom>
          <a:noFill/>
          <a:ln/>
        </p:spPr>
        <p:txBody>
          <a:bodyPr wrap="square" lIns="0" tIns="0" rIns="0" bIns="0" rtlCol="0" anchor="t">
            <a:normAutofit/>
          </a:bodyPr>
          <a:lstStyle/>
          <a:p>
            <a:pPr algn="l" indent="0" marL="0">
              <a:lnSpc>
                <a:spcPts val="3400"/>
              </a:lnSpc>
              <a:buNone/>
            </a:pPr>
            <a:r>
              <a:rPr lang="en-US" sz="3400" b="1" dirty="0">
                <a:solidFill>
                  <a:srgbClr val="5FBF95"/>
                </a:solidFill>
                <a:latin typeface="IBM Plex Sans" pitchFamily="34" charset="0"/>
                <a:ea typeface="IBM Plex Sans" pitchFamily="34" charset="-122"/>
                <a:cs typeface="IBM Plex Sans" pitchFamily="34" charset="-120"/>
              </a:rPr>
              <a:t>+1.82</a:t>
            </a:r>
            <a:endParaRPr lang="en-US" sz="3400" dirty="0"/>
          </a:p>
        </p:txBody>
      </p:sp>
      <p:sp>
        <p:nvSpPr>
          <p:cNvPr id="6" name="Text 4"/>
          <p:cNvSpPr/>
          <p:nvPr/>
        </p:nvSpPr>
        <p:spPr>
          <a:xfrm>
            <a:off x="1016000" y="2519629"/>
            <a:ext cx="2204149" cy="231114"/>
          </a:xfrm>
          <a:prstGeom prst="rect">
            <a:avLst/>
          </a:prstGeom>
          <a:noFill/>
          <a:ln/>
        </p:spPr>
        <p:txBody>
          <a:bodyPr wrap="square" lIns="0" tIns="0" rIns="0" bIns="0" rtlCol="0" anchor="t">
            <a:normAutofit/>
          </a:bodyPr>
          <a:lstStyle/>
          <a:p>
            <a:pPr algn="l" indent="0" marL="0">
              <a:lnSpc>
                <a:spcPts val="1620"/>
              </a:lnSpc>
              <a:buNone/>
            </a:pPr>
            <a:r>
              <a:rPr lang="en-US" sz="1350" b="1" dirty="0">
                <a:solidFill>
                  <a:srgbClr val="FAFAF8"/>
                </a:solidFill>
                <a:latin typeface="IBM Plex Sans" pitchFamily="34" charset="0"/>
                <a:ea typeface="IBM Plex Sans" pitchFamily="34" charset="-122"/>
                <a:cs typeface="IBM Plex Sans" pitchFamily="34" charset="-120"/>
              </a:rPr>
              <a:t>kcal/mol separation</a:t>
            </a:r>
            <a:endParaRPr lang="en-US" sz="1350" dirty="0"/>
          </a:p>
        </p:txBody>
      </p:sp>
      <p:sp>
        <p:nvSpPr>
          <p:cNvPr id="7" name="Text 5"/>
          <p:cNvSpPr/>
          <p:nvPr/>
        </p:nvSpPr>
        <p:spPr>
          <a:xfrm>
            <a:off x="1016000" y="2788841"/>
            <a:ext cx="2204149" cy="909108"/>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B8D4C6"/>
                </a:solidFill>
                <a:latin typeface="IBM Plex Sans" pitchFamily="34" charset="0"/>
                <a:ea typeface="IBM Plex Sans" pitchFamily="34" charset="-122"/>
                <a:cs typeface="IBM Plex Sans" pitchFamily="34" charset="-120"/>
              </a:rPr>
              <a:t>Known JAK2 actives beat property-matched decoys. Without this, no downstream number means anything.</a:t>
            </a:r>
            <a:endParaRPr lang="en-US" sz="1200" dirty="0"/>
          </a:p>
        </p:txBody>
      </p:sp>
      <p:sp>
        <p:nvSpPr>
          <p:cNvPr id="8" name="Shape 6"/>
          <p:cNvSpPr/>
          <p:nvPr/>
        </p:nvSpPr>
        <p:spPr>
          <a:xfrm>
            <a:off x="3486150" y="1821129"/>
            <a:ext cx="2546350" cy="2054622"/>
          </a:xfrm>
          <a:prstGeom prst="roundRect">
            <a:avLst>
              <a:gd name="adj" fmla="val 4945"/>
            </a:avLst>
          </a:prstGeom>
          <a:solidFill>
            <a:srgbClr val="16382B"/>
          </a:solidFill>
          <a:ln/>
        </p:spPr>
      </p:sp>
      <p:sp>
        <p:nvSpPr>
          <p:cNvPr id="9" name="Text 7"/>
          <p:cNvSpPr/>
          <p:nvPr/>
        </p:nvSpPr>
        <p:spPr>
          <a:xfrm>
            <a:off x="3689350" y="2024329"/>
            <a:ext cx="2204149" cy="457200"/>
          </a:xfrm>
          <a:prstGeom prst="rect">
            <a:avLst/>
          </a:prstGeom>
          <a:noFill/>
          <a:ln/>
        </p:spPr>
        <p:txBody>
          <a:bodyPr wrap="square" lIns="0" tIns="0" rIns="0" bIns="0" rtlCol="0" anchor="t">
            <a:normAutofit/>
          </a:bodyPr>
          <a:lstStyle/>
          <a:p>
            <a:pPr algn="l" indent="0" marL="0">
              <a:lnSpc>
                <a:spcPts val="3400"/>
              </a:lnSpc>
              <a:buNone/>
            </a:pPr>
            <a:r>
              <a:rPr lang="en-US" sz="3400" b="1" dirty="0">
                <a:solidFill>
                  <a:srgbClr val="5FBF95"/>
                </a:solidFill>
                <a:latin typeface="IBM Plex Sans" pitchFamily="34" charset="0"/>
                <a:ea typeface="IBM Plex Sans" pitchFamily="34" charset="-122"/>
                <a:cs typeface="IBM Plex Sans" pitchFamily="34" charset="-120"/>
              </a:rPr>
              <a:t>11.45</a:t>
            </a:r>
            <a:endParaRPr lang="en-US" sz="3400" dirty="0"/>
          </a:p>
        </p:txBody>
      </p:sp>
      <p:sp>
        <p:nvSpPr>
          <p:cNvPr id="10" name="Text 8"/>
          <p:cNvSpPr/>
          <p:nvPr/>
        </p:nvSpPr>
        <p:spPr>
          <a:xfrm>
            <a:off x="3689350" y="2519629"/>
            <a:ext cx="2204149" cy="231114"/>
          </a:xfrm>
          <a:prstGeom prst="rect">
            <a:avLst/>
          </a:prstGeom>
          <a:noFill/>
          <a:ln/>
        </p:spPr>
        <p:txBody>
          <a:bodyPr wrap="square" lIns="0" tIns="0" rIns="0" bIns="0" rtlCol="0" anchor="t">
            <a:normAutofit/>
          </a:bodyPr>
          <a:lstStyle/>
          <a:p>
            <a:pPr algn="l" indent="0" marL="0">
              <a:lnSpc>
                <a:spcPts val="1620"/>
              </a:lnSpc>
              <a:buNone/>
            </a:pPr>
            <a:r>
              <a:rPr lang="en-US" sz="1350" b="1" dirty="0">
                <a:solidFill>
                  <a:srgbClr val="FAFAF8"/>
                </a:solidFill>
                <a:latin typeface="IBM Plex Sans" pitchFamily="34" charset="0"/>
                <a:ea typeface="IBM Plex Sans" pitchFamily="34" charset="-122"/>
                <a:cs typeface="IBM Plex Sans" pitchFamily="34" charset="-120"/>
              </a:rPr>
              <a:t>vs 9.70</a:t>
            </a:r>
            <a:endParaRPr lang="en-US" sz="1350" dirty="0"/>
          </a:p>
        </p:txBody>
      </p:sp>
      <p:sp>
        <p:nvSpPr>
          <p:cNvPr id="11" name="Text 9"/>
          <p:cNvSpPr/>
          <p:nvPr/>
        </p:nvSpPr>
        <p:spPr>
          <a:xfrm>
            <a:off x="3689350" y="2788841"/>
            <a:ext cx="2204149" cy="909108"/>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B8D4C6"/>
                </a:solidFill>
                <a:latin typeface="IBM Plex Sans" pitchFamily="34" charset="0"/>
                <a:ea typeface="IBM Plex Sans" pitchFamily="34" charset="-122"/>
                <a:cs typeface="IBM Plex Sans" pitchFamily="34" charset="-120"/>
              </a:rPr>
              <a:t>Scripted routing beat the fixed pipeline on the same goal, seed and budget. The first real signal that routing matters.</a:t>
            </a:r>
            <a:endParaRPr lang="en-US" sz="1200" dirty="0"/>
          </a:p>
        </p:txBody>
      </p:sp>
      <p:sp>
        <p:nvSpPr>
          <p:cNvPr id="12" name="Shape 10"/>
          <p:cNvSpPr/>
          <p:nvPr/>
        </p:nvSpPr>
        <p:spPr>
          <a:xfrm>
            <a:off x="6159500" y="1821129"/>
            <a:ext cx="2546350" cy="2054622"/>
          </a:xfrm>
          <a:prstGeom prst="roundRect">
            <a:avLst>
              <a:gd name="adj" fmla="val 4945"/>
            </a:avLst>
          </a:prstGeom>
          <a:solidFill>
            <a:srgbClr val="16382B"/>
          </a:solidFill>
          <a:ln/>
        </p:spPr>
      </p:sp>
      <p:sp>
        <p:nvSpPr>
          <p:cNvPr id="13" name="Text 11"/>
          <p:cNvSpPr/>
          <p:nvPr/>
        </p:nvSpPr>
        <p:spPr>
          <a:xfrm>
            <a:off x="6362700" y="2024329"/>
            <a:ext cx="2204149" cy="457200"/>
          </a:xfrm>
          <a:prstGeom prst="rect">
            <a:avLst/>
          </a:prstGeom>
          <a:noFill/>
          <a:ln/>
        </p:spPr>
        <p:txBody>
          <a:bodyPr wrap="square" lIns="0" tIns="0" rIns="0" bIns="0" rtlCol="0" anchor="t">
            <a:normAutofit/>
          </a:bodyPr>
          <a:lstStyle/>
          <a:p>
            <a:pPr algn="l" indent="0" marL="0">
              <a:lnSpc>
                <a:spcPts val="3400"/>
              </a:lnSpc>
              <a:buNone/>
            </a:pPr>
            <a:r>
              <a:rPr lang="en-US" sz="3400" b="1" dirty="0">
                <a:solidFill>
                  <a:srgbClr val="5FBF95"/>
                </a:solidFill>
                <a:latin typeface="IBM Plex Sans" pitchFamily="34" charset="0"/>
                <a:ea typeface="IBM Plex Sans" pitchFamily="34" charset="-122"/>
                <a:cs typeface="IBM Plex Sans" pitchFamily="34" charset="-120"/>
              </a:rPr>
              <a:t>0 / 6</a:t>
            </a:r>
            <a:endParaRPr lang="en-US" sz="3400" dirty="0"/>
          </a:p>
        </p:txBody>
      </p:sp>
      <p:sp>
        <p:nvSpPr>
          <p:cNvPr id="14" name="Text 12"/>
          <p:cNvSpPr/>
          <p:nvPr/>
        </p:nvSpPr>
        <p:spPr>
          <a:xfrm>
            <a:off x="6362700" y="2519629"/>
            <a:ext cx="2204149" cy="231114"/>
          </a:xfrm>
          <a:prstGeom prst="rect">
            <a:avLst/>
          </a:prstGeom>
          <a:noFill/>
          <a:ln/>
        </p:spPr>
        <p:txBody>
          <a:bodyPr wrap="square" lIns="0" tIns="0" rIns="0" bIns="0" rtlCol="0" anchor="t">
            <a:normAutofit/>
          </a:bodyPr>
          <a:lstStyle/>
          <a:p>
            <a:pPr algn="l" indent="0" marL="0">
              <a:lnSpc>
                <a:spcPts val="1620"/>
              </a:lnSpc>
              <a:buNone/>
            </a:pPr>
            <a:r>
              <a:rPr lang="en-US" sz="1350" b="1" dirty="0">
                <a:solidFill>
                  <a:srgbClr val="FAFAF8"/>
                </a:solidFill>
                <a:latin typeface="IBM Plex Sans" pitchFamily="34" charset="0"/>
                <a:ea typeface="IBM Plex Sans" pitchFamily="34" charset="-122"/>
                <a:cs typeface="IBM Plex Sans" pitchFamily="34" charset="-120"/>
              </a:rPr>
              <a:t>fallbacks</a:t>
            </a:r>
            <a:endParaRPr lang="en-US" sz="1350" dirty="0"/>
          </a:p>
        </p:txBody>
      </p:sp>
      <p:sp>
        <p:nvSpPr>
          <p:cNvPr id="15" name="Text 13"/>
          <p:cNvSpPr/>
          <p:nvPr/>
        </p:nvSpPr>
        <p:spPr>
          <a:xfrm>
            <a:off x="6362700" y="2788841"/>
            <a:ext cx="2204149" cy="909108"/>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B8D4C6"/>
                </a:solidFill>
                <a:latin typeface="IBM Plex Sans" pitchFamily="34" charset="0"/>
                <a:ea typeface="IBM Plex Sans" pitchFamily="34" charset="-122"/>
                <a:cs typeface="IBM Plex Sans" pitchFamily="34" charset="-120"/>
              </a:rPr>
              <a:t>A live GPT-6.1-Sol run on a ChatGPT plan made all six decisions itself, citing real state numbers.</a:t>
            </a:r>
            <a:endParaRPr lang="en-US" sz="1200" dirty="0"/>
          </a:p>
        </p:txBody>
      </p:sp>
      <p:sp>
        <p:nvSpPr>
          <p:cNvPr id="16" name="Shape 14"/>
          <p:cNvSpPr/>
          <p:nvPr/>
        </p:nvSpPr>
        <p:spPr>
          <a:xfrm>
            <a:off x="8832850" y="1821129"/>
            <a:ext cx="2546350" cy="2054622"/>
          </a:xfrm>
          <a:prstGeom prst="roundRect">
            <a:avLst>
              <a:gd name="adj" fmla="val 4945"/>
            </a:avLst>
          </a:prstGeom>
          <a:solidFill>
            <a:srgbClr val="16382B"/>
          </a:solidFill>
          <a:ln/>
        </p:spPr>
      </p:sp>
      <p:sp>
        <p:nvSpPr>
          <p:cNvPr id="17" name="Text 15"/>
          <p:cNvSpPr/>
          <p:nvPr/>
        </p:nvSpPr>
        <p:spPr>
          <a:xfrm>
            <a:off x="9036050" y="2024329"/>
            <a:ext cx="2204149" cy="457200"/>
          </a:xfrm>
          <a:prstGeom prst="rect">
            <a:avLst/>
          </a:prstGeom>
          <a:noFill/>
          <a:ln/>
        </p:spPr>
        <p:txBody>
          <a:bodyPr wrap="square" lIns="0" tIns="0" rIns="0" bIns="0" rtlCol="0" anchor="t">
            <a:normAutofit/>
          </a:bodyPr>
          <a:lstStyle/>
          <a:p>
            <a:pPr algn="l" indent="0" marL="0">
              <a:lnSpc>
                <a:spcPts val="3400"/>
              </a:lnSpc>
              <a:buNone/>
            </a:pPr>
            <a:r>
              <a:rPr lang="en-US" sz="3400" b="1" dirty="0">
                <a:solidFill>
                  <a:srgbClr val="5FBF95"/>
                </a:solidFill>
                <a:latin typeface="IBM Plex Sans" pitchFamily="34" charset="0"/>
                <a:ea typeface="IBM Plex Sans" pitchFamily="34" charset="-122"/>
                <a:cs typeface="IBM Plex Sans" pitchFamily="34" charset="-120"/>
              </a:rPr>
              <a:t>120</a:t>
            </a:r>
            <a:endParaRPr lang="en-US" sz="3400" dirty="0"/>
          </a:p>
        </p:txBody>
      </p:sp>
      <p:sp>
        <p:nvSpPr>
          <p:cNvPr id="18" name="Text 16"/>
          <p:cNvSpPr/>
          <p:nvPr/>
        </p:nvSpPr>
        <p:spPr>
          <a:xfrm>
            <a:off x="9036050" y="2519629"/>
            <a:ext cx="2204149" cy="231114"/>
          </a:xfrm>
          <a:prstGeom prst="rect">
            <a:avLst/>
          </a:prstGeom>
          <a:noFill/>
          <a:ln/>
        </p:spPr>
        <p:txBody>
          <a:bodyPr wrap="square" lIns="0" tIns="0" rIns="0" bIns="0" rtlCol="0" anchor="t">
            <a:normAutofit/>
          </a:bodyPr>
          <a:lstStyle/>
          <a:p>
            <a:pPr algn="l" indent="0" marL="0">
              <a:lnSpc>
                <a:spcPts val="1620"/>
              </a:lnSpc>
              <a:buNone/>
            </a:pPr>
            <a:r>
              <a:rPr lang="en-US" sz="1350" b="1" dirty="0">
                <a:solidFill>
                  <a:srgbClr val="FAFAF8"/>
                </a:solidFill>
                <a:latin typeface="IBM Plex Sans" pitchFamily="34" charset="0"/>
                <a:ea typeface="IBM Plex Sans" pitchFamily="34" charset="-122"/>
                <a:cs typeface="IBM Plex Sans" pitchFamily="34" charset="-120"/>
              </a:rPr>
              <a:t>tests passing</a:t>
            </a:r>
            <a:endParaRPr lang="en-US" sz="1350" dirty="0"/>
          </a:p>
        </p:txBody>
      </p:sp>
      <p:sp>
        <p:nvSpPr>
          <p:cNvPr id="19" name="Text 17"/>
          <p:cNvSpPr/>
          <p:nvPr/>
        </p:nvSpPr>
        <p:spPr>
          <a:xfrm>
            <a:off x="9036050" y="2788841"/>
            <a:ext cx="2204149" cy="909108"/>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B8D4C6"/>
                </a:solidFill>
                <a:latin typeface="IBM Plex Sans" pitchFamily="34" charset="0"/>
                <a:ea typeface="IBM Plex Sans" pitchFamily="34" charset="-122"/>
                <a:cs typeface="IBM Plex Sans" pitchFamily="34" charset="-120"/>
              </a:rPr>
              <a:t>Including determinism: the same arm at the same seed produces byte-identical decisions.</a:t>
            </a:r>
            <a:endParaRPr lang="en-US" sz="1200" dirty="0"/>
          </a:p>
        </p:txBody>
      </p:sp>
      <p:sp>
        <p:nvSpPr>
          <p:cNvPr id="20" name="Shape 18"/>
          <p:cNvSpPr/>
          <p:nvPr/>
        </p:nvSpPr>
        <p:spPr>
          <a:xfrm>
            <a:off x="812800" y="4104351"/>
            <a:ext cx="10566400" cy="895350"/>
          </a:xfrm>
          <a:prstGeom prst="roundRect">
            <a:avLst>
              <a:gd name="adj" fmla="val 11348"/>
            </a:avLst>
          </a:prstGeom>
          <a:solidFill>
            <a:srgbClr val="16382B"/>
          </a:solidFill>
          <a:ln/>
        </p:spPr>
      </p:sp>
      <p:pic>
        <p:nvPicPr>
          <p:cNvPr id="21" name="Image 0" descr="Warning">    </p:cNvPr>
          <p:cNvPicPr>
            <a:picLocks noChangeAspect="1"/>
          </p:cNvPicPr>
          <p:nvPr/>
        </p:nvPicPr>
        <p:blipFill>
          <a:blip r:embed="rId1"/>
          <a:srcRect l="0" r="0" t="0" b="0"/>
          <a:stretch/>
        </p:blipFill>
        <p:spPr>
          <a:xfrm>
            <a:off x="1041400" y="4294851"/>
            <a:ext cx="254000" cy="254000"/>
          </a:xfrm>
          <a:prstGeom prst="rect">
            <a:avLst/>
          </a:prstGeom>
        </p:spPr>
      </p:pic>
      <p:sp>
        <p:nvSpPr>
          <p:cNvPr id="22" name="Text 19"/>
          <p:cNvSpPr/>
          <p:nvPr/>
        </p:nvSpPr>
        <p:spPr>
          <a:xfrm>
            <a:off x="1447800" y="4294851"/>
            <a:ext cx="9993884" cy="539750"/>
          </a:xfrm>
          <a:prstGeom prst="rect">
            <a:avLst/>
          </a:prstGeom>
          <a:noFill/>
          <a:ln/>
        </p:spPr>
        <p:txBody>
          <a:bodyPr wrap="square" lIns="0" tIns="0" rIns="0" bIns="0" rtlCol="0" anchor="t">
            <a:normAutofit/>
          </a:bodyPr>
          <a:lstStyle/>
          <a:p>
            <a:pPr algn="l" indent="0" marL="0">
              <a:lnSpc>
                <a:spcPts val="2025"/>
              </a:lnSpc>
              <a:buNone/>
            </a:pPr>
            <a:r>
              <a:rPr lang="en-US" sz="1350" dirty="0">
                <a:solidFill>
                  <a:srgbClr val="B8D4C6"/>
                </a:solidFill>
                <a:latin typeface="IBM Plex Sans" pitchFamily="34" charset="0"/>
                <a:ea typeface="IBM Plex Sans" pitchFamily="34" charset="-122"/>
                <a:cs typeface="IBM Plex Sans" pitchFamily="34" charset="-120"/>
              </a:rPr>
              <a:t>Two caveats worth saying plainly: the </a:t>
            </a:r>
            <a:r>
              <a:rPr lang="en-US" sz="1350" b="1" dirty="0">
                <a:solidFill>
                  <a:srgbClr val="FAFAF8"/>
                </a:solidFill>
                <a:latin typeface="IBM Plex Sans" pitchFamily="34" charset="0"/>
                <a:ea typeface="IBM Plex Sans" pitchFamily="34" charset="-122"/>
                <a:cs typeface="IBM Plex Sans" pitchFamily="34" charset="-120"/>
              </a:rPr>
              <a:t>11.45 vs 9.70</a:t>
            </a:r>
            <a:r>
              <a:rPr lang="en-US" sz="1350" dirty="0">
                <a:solidFill>
                  <a:srgbClr val="B8D4C6"/>
                </a:solidFill>
                <a:latin typeface="IBM Plex Sans" pitchFamily="34" charset="0"/>
                <a:ea typeface="IBM Plex Sans" pitchFamily="34" charset="-122"/>
                <a:cs typeface="IBM Plex Sans" pitchFamily="34" charset="-120"/>
              </a:rPr>
              <a:t> comparison is a single seed on a single target — an anecdote, not a finding. And the goal text says “selective”, but selectivity is </a:t>
            </a:r>
            <a:r>
              <a:rPr lang="en-US" sz="1350" b="1" dirty="0">
                <a:solidFill>
                  <a:srgbClr val="FAFAF8"/>
                </a:solidFill>
                <a:latin typeface="IBM Plex Sans" pitchFamily="34" charset="0"/>
                <a:ea typeface="IBM Plex Sans" pitchFamily="34" charset="-122"/>
                <a:cs typeface="IBM Plex Sans" pitchFamily="34" charset="-120"/>
              </a:rPr>
              <a:t>not measured anywhere yet</a:t>
            </a:r>
            <a:r>
              <a:rPr lang="en-US" sz="1350" dirty="0">
                <a:solidFill>
                  <a:srgbClr val="B8D4C6"/>
                </a:solidFill>
                <a:latin typeface="IBM Plex Sans" pitchFamily="34" charset="0"/>
                <a:ea typeface="IBM Plex Sans" pitchFamily="34" charset="-122"/>
                <a:cs typeface="IBM Plex Sans" pitchFamily="34" charset="-120"/>
              </a:rPr>
              <a:t>.</a:t>
            </a:r>
            <a:endParaRPr lang="en-US" sz="1350" dirty="0"/>
          </a:p>
        </p:txBody>
      </p:sp>
      <p:sp>
        <p:nvSpPr>
          <p:cNvPr id="23" name="Text 20"/>
          <p:cNvSpPr/>
          <p:nvPr/>
        </p:nvSpPr>
        <p:spPr>
          <a:xfrm>
            <a:off x="812800" y="6238280"/>
            <a:ext cx="848312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9B88"/>
                </a:solidFill>
                <a:latin typeface="IBM Plex Sans" pitchFamily="34" charset="0"/>
                <a:ea typeface="IBM Plex Sans" pitchFamily="34" charset="-122"/>
                <a:cs typeface="IBM Plex Sans" pitchFamily="34" charset="-120"/>
              </a:rPr>
              <a:t>Every number here came from running the system and reading the output, not from inspecting the code.</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A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2A5BB0"/>
                </a:solidFill>
                <a:latin typeface="JetBrains Mono" pitchFamily="49" charset="0"/>
                <a:ea typeface="JetBrains Mono" pitchFamily="49" charset="-122"/>
                <a:cs typeface="JetBrains Mono" pitchFamily="49" charset="-120"/>
              </a:rPr>
              <a:t>PHASE 2 — IN PROGRESS</a:t>
            </a:r>
            <a:endParaRPr lang="en-US" sz="1200" dirty="0"/>
          </a:p>
        </p:txBody>
      </p:sp>
      <p:sp>
        <p:nvSpPr>
          <p:cNvPr id="3" name="Text 1"/>
          <p:cNvSpPr/>
          <p:nvPr>
            <p:ph type="title"/>
          </p:nvPr>
        </p:nvSpPr>
        <p:spPr>
          <a:xfrm>
            <a:off x="812800" y="1089620"/>
            <a:ext cx="10883392" cy="486370"/>
          </a:xfrm>
          <a:prstGeom prst="rect">
            <a:avLst/>
          </a:prstGeom>
          <a:noFill/>
          <a:ln/>
        </p:spPr>
        <p:txBody>
          <a:bodyPr wrap="square" lIns="0" tIns="0" rIns="0" bIns="0" rtlCol="0" anchor="t">
            <a:normAutofit/>
          </a:bodyPr>
          <a:lstStyle/>
          <a:p>
            <a:pPr algn="l" indent="0" marL="0">
              <a:lnSpc>
                <a:spcPts val="3630"/>
              </a:lnSpc>
              <a:buNone/>
            </a:pPr>
            <a:r>
              <a:rPr lang="en-US" sz="3300" b="1" i="0" dirty="0">
                <a:solidFill>
                  <a:srgbClr val="171A1F"/>
                </a:solidFill>
                <a:latin typeface="IBM Plex Sans" pitchFamily="34" charset="0"/>
                <a:ea typeface="IBM Plex Sans" pitchFamily="34" charset="-122"/>
                <a:cs typeface="IBM Plex Sans" pitchFamily="34" charset="-120"/>
              </a:rPr>
              <a:t>Making the framework measurable</a:t>
            </a:r>
            <a:endParaRPr lang="en-US" sz="3300" dirty="0"/>
          </a:p>
        </p:txBody>
      </p:sp>
      <p:sp>
        <p:nvSpPr>
          <p:cNvPr id="4" name="Shape 2"/>
          <p:cNvSpPr/>
          <p:nvPr/>
        </p:nvSpPr>
        <p:spPr>
          <a:xfrm>
            <a:off x="815975" y="1756966"/>
            <a:ext cx="5200650" cy="2985294"/>
          </a:xfrm>
          <a:prstGeom prst="roundRect">
            <a:avLst>
              <a:gd name="adj" fmla="val 3297"/>
            </a:avLst>
          </a:prstGeom>
          <a:solidFill>
            <a:srgbClr val="FFFFFF"/>
          </a:solidFill>
          <a:ln w="6350">
            <a:solidFill>
              <a:srgbClr val="DCE0E6"/>
            </a:solidFill>
            <a:prstDash val="solid"/>
          </a:ln>
        </p:spPr>
      </p:sp>
      <p:sp>
        <p:nvSpPr>
          <p:cNvPr id="5" name="Text 3"/>
          <p:cNvSpPr/>
          <p:nvPr/>
        </p:nvSpPr>
        <p:spPr>
          <a:xfrm>
            <a:off x="1032933" y="1973926"/>
            <a:ext cx="4909735" cy="284427"/>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71A1F"/>
                </a:solidFill>
                <a:latin typeface="IBM Plex Sans" pitchFamily="34" charset="0"/>
                <a:ea typeface="IBM Plex Sans" pitchFamily="34" charset="-122"/>
                <a:cs typeface="IBM Plex Sans" pitchFamily="34" charset="-120"/>
              </a:rPr>
              <a:t>Swappable generation</a:t>
            </a:r>
            <a:endParaRPr lang="en-US" sz="1700" dirty="0"/>
          </a:p>
        </p:txBody>
      </p:sp>
      <p:sp>
        <p:nvSpPr>
          <p:cNvPr id="6" name="Text 4"/>
          <p:cNvSpPr/>
          <p:nvPr/>
        </p:nvSpPr>
        <p:spPr>
          <a:xfrm>
            <a:off x="1032933" y="2334555"/>
            <a:ext cx="4909735"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568"/>
                </a:solidFill>
                <a:latin typeface="IBM Plex Sans" pitchFamily="34" charset="0"/>
                <a:ea typeface="IBM Plex Sans" pitchFamily="34" charset="-122"/>
                <a:cs typeface="IBM Plex Sans" pitchFamily="34" charset="-120"/>
              </a:rPr>
              <a:t>Today generation is one hard-coded genetic algorithm. It becomes a </a:t>
            </a:r>
            <a:r>
              <a:rPr lang="en-US" sz="1300" b="1" dirty="0">
                <a:solidFill>
                  <a:srgbClr val="171A1F"/>
                </a:solidFill>
                <a:latin typeface="IBM Plex Sans" pitchFamily="34" charset="0"/>
                <a:ea typeface="IBM Plex Sans" pitchFamily="34" charset="-122"/>
                <a:cs typeface="IBM Plex Sans" pitchFamily="34" charset="-120"/>
              </a:rPr>
              <a:t>proposer</a:t>
            </a:r>
            <a:r>
              <a:rPr lang="en-US" sz="1300" dirty="0">
                <a:solidFill>
                  <a:srgbClr val="4A5568"/>
                </a:solidFill>
                <a:latin typeface="IBM Plex Sans" pitchFamily="34" charset="0"/>
                <a:ea typeface="IBM Plex Sans" pitchFamily="34" charset="-122"/>
                <a:cs typeface="IBM Plex Sans" pitchFamily="34" charset="-120"/>
              </a:rPr>
              <a:t> plus a </a:t>
            </a:r>
            <a:r>
              <a:rPr lang="en-US" sz="1300" b="1" dirty="0">
                <a:solidFill>
                  <a:srgbClr val="171A1F"/>
                </a:solidFill>
                <a:latin typeface="IBM Plex Sans" pitchFamily="34" charset="0"/>
                <a:ea typeface="IBM Plex Sans" pitchFamily="34" charset="-122"/>
                <a:cs typeface="IBM Plex Sans" pitchFamily="34" charset="-120"/>
              </a:rPr>
              <a:t>selector</a:t>
            </a:r>
            <a:r>
              <a:rPr lang="en-US" sz="1300" dirty="0">
                <a:solidFill>
                  <a:srgbClr val="4A5568"/>
                </a:solidFill>
                <a:latin typeface="IBM Plex Sans" pitchFamily="34" charset="0"/>
                <a:ea typeface="IBM Plex Sans" pitchFamily="34" charset="-122"/>
                <a:cs typeface="IBM Plex Sans" pitchFamily="34" charset="-120"/>
              </a:rPr>
              <a:t>, each replaceable.</a:t>
            </a:r>
            <a:endParaRPr lang="en-US" sz="1300" dirty="0"/>
          </a:p>
        </p:txBody>
      </p:sp>
      <p:sp>
        <p:nvSpPr>
          <p:cNvPr id="7" name="Text 5"/>
          <p:cNvSpPr/>
          <p:nvPr/>
        </p:nvSpPr>
        <p:spPr>
          <a:xfrm>
            <a:off x="1048808" y="2931455"/>
            <a:ext cx="4888526" cy="787400"/>
          </a:xfrm>
          <a:prstGeom prst="rect">
            <a:avLst/>
          </a:prstGeom>
          <a:noFill/>
          <a:ln/>
        </p:spPr>
        <p:txBody>
          <a:bodyPr wrap="square" lIns="0" tIns="0" rIns="0" bIns="0" rtlCol="0" anchor="t">
            <a:normAutofit/>
          </a:bodyPr>
          <a:lstStyle/>
          <a:p>
            <a:pPr algn="l" marL="161925" indent="-161925">
              <a:lnSpc>
                <a:spcPts val="2000"/>
              </a:lnSpc>
              <a:buSzPct val="100000"/>
              <a:buChar char="•"/>
            </a:pPr>
            <a:r>
              <a:rPr lang="en-US" sz="1250" dirty="0">
                <a:solidFill>
                  <a:srgbClr val="4A5568"/>
                </a:solidFill>
                <a:latin typeface="IBM Plex Sans" pitchFamily="34" charset="0"/>
                <a:ea typeface="IBM Plex Sans" pitchFamily="34" charset="-122"/>
                <a:cs typeface="IBM Plex Sans" pitchFamily="34" charset="-120"/>
              </a:rPr>
              <a:t>GraphGA, random control, Bayesian</a:t>
            </a:r>
            <a:endParaRPr lang="en-US" sz="1250" dirty="0"/>
          </a:p>
          <a:p>
            <a:pPr algn="l" marL="161925" indent="-161925">
              <a:lnSpc>
                <a:spcPts val="2000"/>
              </a:lnSpc>
              <a:buSzPct val="100000"/>
              <a:buChar char="•"/>
            </a:pPr>
            <a:r>
              <a:rPr lang="en-US" sz="1250" dirty="0">
                <a:solidFill>
                  <a:srgbClr val="4A5568"/>
                </a:solidFill>
                <a:latin typeface="IBM Plex Sans" pitchFamily="34" charset="0"/>
                <a:ea typeface="IBM Plex Sans" pitchFamily="34" charset="-122"/>
                <a:cs typeface="IBM Plex Sans" pitchFamily="34" charset="-120"/>
              </a:rPr>
              <a:t>Tanimoto-kernel surrogate on fingerprints</a:t>
            </a:r>
            <a:endParaRPr lang="en-US" sz="1250" dirty="0"/>
          </a:p>
          <a:p>
            <a:pPr algn="l" marL="161925" indent="-161925">
              <a:lnSpc>
                <a:spcPts val="2000"/>
              </a:lnSpc>
              <a:buSzPct val="100000"/>
              <a:buChar char="•"/>
            </a:pPr>
            <a:r>
              <a:rPr lang="en-US" sz="1250" dirty="0">
                <a:solidFill>
                  <a:srgbClr val="4A5568"/>
                </a:solidFill>
                <a:latin typeface="IBM Plex Sans" pitchFamily="34" charset="0"/>
                <a:ea typeface="IBM Plex Sans" pitchFamily="34" charset="-122"/>
                <a:cs typeface="IBM Plex Sans" pitchFamily="34" charset="-120"/>
              </a:rPr>
              <a:t>greedy · UCB · EI · PI · Thompson</a:t>
            </a:r>
            <a:endParaRPr lang="en-US" sz="1250" dirty="0"/>
          </a:p>
        </p:txBody>
      </p:sp>
      <p:sp>
        <p:nvSpPr>
          <p:cNvPr id="8" name="Text 6"/>
          <p:cNvSpPr/>
          <p:nvPr/>
        </p:nvSpPr>
        <p:spPr>
          <a:xfrm>
            <a:off x="1032933" y="3795055"/>
            <a:ext cx="4909735" cy="739775"/>
          </a:xfrm>
          <a:prstGeom prst="rect">
            <a:avLst/>
          </a:prstGeom>
          <a:noFill/>
          <a:ln/>
        </p:spPr>
        <p:txBody>
          <a:bodyPr wrap="square" lIns="0" tIns="0" rIns="0" bIns="0" rtlCol="0" anchor="t">
            <a:normAutofit/>
          </a:bodyPr>
          <a:lstStyle/>
          <a:p>
            <a:pPr algn="l" indent="0" marL="0">
              <a:lnSpc>
                <a:spcPts val="1875"/>
              </a:lnSpc>
              <a:buNone/>
            </a:pPr>
            <a:r>
              <a:rPr lang="en-US" sz="1250" dirty="0">
                <a:solidFill>
                  <a:srgbClr val="4A5568"/>
                </a:solidFill>
                <a:latin typeface="IBM Plex Sans" pitchFamily="34" charset="0"/>
                <a:ea typeface="IBM Plex Sans" pitchFamily="34" charset="-122"/>
                <a:cs typeface="IBM Plex Sans" pitchFamily="34" charset="-120"/>
              </a:rPr>
              <a:t>The same acquisition question also governs </a:t>
            </a:r>
            <a:r>
              <a:rPr lang="en-US" sz="1250" b="1" dirty="0">
                <a:solidFill>
                  <a:srgbClr val="171A1F"/>
                </a:solidFill>
                <a:latin typeface="IBM Plex Sans" pitchFamily="34" charset="0"/>
                <a:ea typeface="IBM Plex Sans" pitchFamily="34" charset="-122"/>
                <a:cs typeface="IBM Plex Sans" pitchFamily="34" charset="-120"/>
              </a:rPr>
              <a:t>which molecules get docked</a:t>
            </a:r>
            <a:r>
              <a:rPr lang="en-US" sz="1250" dirty="0">
                <a:solidFill>
                  <a:srgbClr val="4A5568"/>
                </a:solidFill>
                <a:latin typeface="IBM Plex Sans" pitchFamily="34" charset="0"/>
                <a:ea typeface="IBM Plex Sans" pitchFamily="34" charset="-122"/>
                <a:cs typeface="IBM Plex Sans" pitchFamily="34" charset="-120"/>
              </a:rPr>
              <a:t> — today that is ranked by drug-likeness, which has nothing to do with binding.</a:t>
            </a:r>
            <a:endParaRPr lang="en-US" sz="1250" dirty="0"/>
          </a:p>
        </p:txBody>
      </p:sp>
      <p:sp>
        <p:nvSpPr>
          <p:cNvPr id="9" name="Shape 7"/>
          <p:cNvSpPr/>
          <p:nvPr/>
        </p:nvSpPr>
        <p:spPr>
          <a:xfrm>
            <a:off x="6175375" y="1756966"/>
            <a:ext cx="5200650" cy="2985294"/>
          </a:xfrm>
          <a:prstGeom prst="roundRect">
            <a:avLst>
              <a:gd name="adj" fmla="val 3297"/>
            </a:avLst>
          </a:prstGeom>
          <a:solidFill>
            <a:srgbClr val="FFFFFF"/>
          </a:solidFill>
          <a:ln w="6350">
            <a:solidFill>
              <a:srgbClr val="DCE0E6"/>
            </a:solidFill>
            <a:prstDash val="solid"/>
          </a:ln>
        </p:spPr>
      </p:sp>
      <p:sp>
        <p:nvSpPr>
          <p:cNvPr id="10" name="Text 8"/>
          <p:cNvSpPr/>
          <p:nvPr/>
        </p:nvSpPr>
        <p:spPr>
          <a:xfrm>
            <a:off x="6392333" y="1973926"/>
            <a:ext cx="4909735" cy="284427"/>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71A1F"/>
                </a:solidFill>
                <a:latin typeface="IBM Plex Sans" pitchFamily="34" charset="0"/>
                <a:ea typeface="IBM Plex Sans" pitchFamily="34" charset="-122"/>
                <a:cs typeface="IBM Plex Sans" pitchFamily="34" charset="-120"/>
              </a:rPr>
              <a:t>Retrospective benchmark</a:t>
            </a:r>
            <a:endParaRPr lang="en-US" sz="1700" dirty="0"/>
          </a:p>
        </p:txBody>
      </p:sp>
      <p:sp>
        <p:nvSpPr>
          <p:cNvPr id="11" name="Text 9"/>
          <p:cNvSpPr/>
          <p:nvPr/>
        </p:nvSpPr>
        <p:spPr>
          <a:xfrm>
            <a:off x="6392333" y="2334555"/>
            <a:ext cx="4909735"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568"/>
                </a:solidFill>
                <a:latin typeface="IBM Plex Sans" pitchFamily="34" charset="0"/>
                <a:ea typeface="IBM Plex Sans" pitchFamily="34" charset="-122"/>
                <a:cs typeface="IBM Plex Sans" pitchFamily="34" charset="-120"/>
              </a:rPr>
              <a:t>Hold out whole scaffold families of known actives, then measure how much of that the run </a:t>
            </a:r>
            <a:r>
              <a:rPr lang="en-US" sz="1300" b="1" dirty="0">
                <a:solidFill>
                  <a:srgbClr val="171A1F"/>
                </a:solidFill>
                <a:latin typeface="IBM Plex Sans" pitchFamily="34" charset="0"/>
                <a:ea typeface="IBM Plex Sans" pitchFamily="34" charset="-122"/>
                <a:cs typeface="IBM Plex Sans" pitchFamily="34" charset="-120"/>
              </a:rPr>
              <a:t>rediscovers per budget unit</a:t>
            </a:r>
            <a:r>
              <a:rPr lang="en-US" sz="1300" dirty="0">
                <a:solidFill>
                  <a:srgbClr val="4A5568"/>
                </a:solidFill>
                <a:latin typeface="IBM Plex Sans" pitchFamily="34" charset="0"/>
                <a:ea typeface="IBM Plex Sans" pitchFamily="34" charset="-122"/>
                <a:cs typeface="IBM Plex Sans" pitchFamily="34" charset="-120"/>
              </a:rPr>
              <a:t>.</a:t>
            </a:r>
            <a:endParaRPr lang="en-US" sz="1300" dirty="0"/>
          </a:p>
        </p:txBody>
      </p:sp>
      <p:sp>
        <p:nvSpPr>
          <p:cNvPr id="12" name="Text 10"/>
          <p:cNvSpPr/>
          <p:nvPr/>
        </p:nvSpPr>
        <p:spPr>
          <a:xfrm>
            <a:off x="6408208" y="2931455"/>
            <a:ext cx="4888526" cy="1041400"/>
          </a:xfrm>
          <a:prstGeom prst="rect">
            <a:avLst/>
          </a:prstGeom>
          <a:noFill/>
          <a:ln/>
        </p:spPr>
        <p:txBody>
          <a:bodyPr wrap="square" lIns="0" tIns="0" rIns="0" bIns="0" rtlCol="0" anchor="t">
            <a:normAutofit/>
          </a:bodyPr>
          <a:lstStyle/>
          <a:p>
            <a:pPr algn="l" marL="161925" indent="-161925">
              <a:lnSpc>
                <a:spcPts val="2000"/>
              </a:lnSpc>
              <a:buSzPct val="100000"/>
              <a:buChar char="•"/>
            </a:pPr>
            <a:r>
              <a:rPr lang="en-US" sz="1250" dirty="0">
                <a:solidFill>
                  <a:srgbClr val="4A5568"/>
                </a:solidFill>
                <a:latin typeface="IBM Plex Sans" pitchFamily="34" charset="0"/>
                <a:ea typeface="IBM Plex Sans" pitchFamily="34" charset="-122"/>
                <a:cs typeface="IBM Plex Sans" pitchFamily="34" charset="-120"/>
              </a:rPr>
              <a:t>Discovery AUC — the headline number</a:t>
            </a:r>
            <a:endParaRPr lang="en-US" sz="1250" dirty="0"/>
          </a:p>
          <a:p>
            <a:pPr algn="l" marL="161925" indent="-161925">
              <a:lnSpc>
                <a:spcPts val="2000"/>
              </a:lnSpc>
              <a:buSzPct val="100000"/>
              <a:buChar char="•"/>
            </a:pPr>
            <a:r>
              <a:rPr lang="en-US" sz="1250" dirty="0">
                <a:solidFill>
                  <a:srgbClr val="4A5568"/>
                </a:solidFill>
                <a:latin typeface="IBM Plex Sans" pitchFamily="34" charset="0"/>
                <a:ea typeface="IBM Plex Sans" pitchFamily="34" charset="-122"/>
                <a:cs typeface="IBM Plex Sans" pitchFamily="34" charset="-120"/>
              </a:rPr>
              <a:t>Decoy gate per target, or the row is void</a:t>
            </a:r>
            <a:endParaRPr lang="en-US" sz="1250" dirty="0"/>
          </a:p>
          <a:p>
            <a:pPr algn="l" marL="161925" indent="-161925">
              <a:lnSpc>
                <a:spcPts val="2000"/>
              </a:lnSpc>
              <a:buSzPct val="100000"/>
              <a:buChar char="•"/>
            </a:pPr>
            <a:r>
              <a:rPr lang="en-US" sz="1250" dirty="0">
                <a:solidFill>
                  <a:srgbClr val="4A5568"/>
                </a:solidFill>
                <a:latin typeface="IBM Plex Sans" pitchFamily="34" charset="0"/>
                <a:ea typeface="IBM Plex Sans" pitchFamily="34" charset="-122"/>
                <a:cs typeface="IBM Plex Sans" pitchFamily="34" charset="-120"/>
              </a:rPr>
              <a:t>Novelty, diversity, synthesisability</a:t>
            </a:r>
            <a:endParaRPr lang="en-US" sz="1250" dirty="0"/>
          </a:p>
          <a:p>
            <a:pPr algn="l" marL="161925" indent="-161925">
              <a:lnSpc>
                <a:spcPts val="2000"/>
              </a:lnSpc>
              <a:buSzPct val="100000"/>
              <a:buChar char="•"/>
            </a:pPr>
            <a:r>
              <a:rPr lang="en-US" sz="1250" dirty="0">
                <a:solidFill>
                  <a:srgbClr val="4A5568"/>
                </a:solidFill>
                <a:latin typeface="IBM Plex Sans" pitchFamily="34" charset="0"/>
                <a:ea typeface="IBM Plex Sans" pitchFamily="34" charset="-122"/>
                <a:cs typeface="IBM Plex Sans" pitchFamily="34" charset="-120"/>
              </a:rPr>
              <a:t>Paired by seed against the fixed baseline</a:t>
            </a:r>
            <a:endParaRPr lang="en-US" sz="1250" dirty="0"/>
          </a:p>
        </p:txBody>
      </p:sp>
      <p:sp>
        <p:nvSpPr>
          <p:cNvPr id="13" name="Text 11"/>
          <p:cNvSpPr/>
          <p:nvPr/>
        </p:nvSpPr>
        <p:spPr>
          <a:xfrm>
            <a:off x="6392333" y="4049055"/>
            <a:ext cx="4909735" cy="501650"/>
          </a:xfrm>
          <a:prstGeom prst="rect">
            <a:avLst/>
          </a:prstGeom>
          <a:noFill/>
          <a:ln/>
        </p:spPr>
        <p:txBody>
          <a:bodyPr wrap="square" lIns="0" tIns="0" rIns="0" bIns="0" rtlCol="0" anchor="t">
            <a:normAutofit/>
          </a:bodyPr>
          <a:lstStyle/>
          <a:p>
            <a:pPr algn="l" indent="0" marL="0">
              <a:lnSpc>
                <a:spcPts val="1875"/>
              </a:lnSpc>
              <a:buNone/>
            </a:pPr>
            <a:r>
              <a:rPr lang="en-US" sz="1250" dirty="0">
                <a:solidFill>
                  <a:srgbClr val="4A5568"/>
                </a:solidFill>
                <a:latin typeface="IBM Plex Sans" pitchFamily="34" charset="0"/>
                <a:ea typeface="IBM Plex Sans" pitchFamily="34" charset="-122"/>
                <a:cs typeface="IBM Plex Sans" pitchFamily="34" charset="-120"/>
              </a:rPr>
              <a:t>Docking score alone is a weak endpoint that generators learn to exploit. Rediscovery is the honest one.</a:t>
            </a:r>
            <a:endParaRPr lang="en-US" sz="1250" dirty="0"/>
          </a:p>
        </p:txBody>
      </p:sp>
      <p:sp>
        <p:nvSpPr>
          <p:cNvPr id="14" name="Text 12"/>
          <p:cNvSpPr/>
          <p:nvPr/>
        </p:nvSpPr>
        <p:spPr>
          <a:xfrm>
            <a:off x="812800" y="6238280"/>
            <a:ext cx="738894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8F98"/>
                </a:solidFill>
                <a:latin typeface="IBM Plex Sans" pitchFamily="34" charset="0"/>
                <a:ea typeface="IBM Plex Sans" pitchFamily="34" charset="-122"/>
                <a:cs typeface="IBM Plex Sans" pitchFamily="34" charset="-120"/>
              </a:rPr>
              <a:t>Two separable axes: how candidates are proposed, and how the expensive oracle is spent.</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71A1F"/>
        </a:solidFill>
      </p:bgPr>
    </p:bg>
    <p:spTree>
      <p:nvGrpSpPr>
        <p:cNvPr id="1" name=""/>
        <p:cNvGrpSpPr/>
        <p:nvPr/>
      </p:nvGrpSpPr>
      <p:grpSpPr>
        <a:xfrm>
          <a:off x="0" y="0"/>
          <a:ext cx="0" cy="0"/>
          <a:chOff x="0" y="0"/>
          <a:chExt cx="0" cy="0"/>
        </a:xfrm>
      </p:grpSpPr>
      <p:sp>
        <p:nvSpPr>
          <p:cNvPr id="2" name="Text 0"/>
          <p:cNvSpPr/>
          <p:nvPr/>
        </p:nvSpPr>
        <p:spPr>
          <a:xfrm>
            <a:off x="812800" y="812800"/>
            <a:ext cx="10883392" cy="229923"/>
          </a:xfrm>
          <a:prstGeom prst="rect">
            <a:avLst/>
          </a:prstGeom>
          <a:noFill/>
          <a:ln/>
        </p:spPr>
        <p:txBody>
          <a:bodyPr wrap="square" lIns="0" tIns="0" rIns="0" bIns="0" rtlCol="0" anchor="t">
            <a:normAutofit/>
          </a:bodyPr>
          <a:lstStyle/>
          <a:p>
            <a:pPr algn="l" indent="0" marL="0">
              <a:lnSpc>
                <a:spcPts val="1622"/>
              </a:lnSpc>
              <a:buNone/>
            </a:pPr>
            <a:r>
              <a:rPr lang="en-US" sz="1159" spc="95" kern="0" dirty="0">
                <a:solidFill>
                  <a:srgbClr val="E8B45F"/>
                </a:solidFill>
                <a:latin typeface="JetBrains Mono" pitchFamily="49" charset="0"/>
                <a:ea typeface="JetBrains Mono" pitchFamily="49" charset="-122"/>
                <a:cs typeface="JetBrains Mono" pitchFamily="49" charset="-120"/>
              </a:rPr>
              <a:t>KNOWN GAPS</a:t>
            </a:r>
            <a:endParaRPr lang="en-US" sz="1159" dirty="0"/>
          </a:p>
        </p:txBody>
      </p:sp>
      <p:sp>
        <p:nvSpPr>
          <p:cNvPr id="3" name="Text 1"/>
          <p:cNvSpPr/>
          <p:nvPr>
            <p:ph type="title"/>
          </p:nvPr>
        </p:nvSpPr>
        <p:spPr>
          <a:xfrm>
            <a:off x="812800" y="1080827"/>
            <a:ext cx="10883392" cy="507537"/>
          </a:xfrm>
          <a:prstGeom prst="rect">
            <a:avLst/>
          </a:prstGeom>
          <a:noFill/>
          <a:ln/>
        </p:spPr>
        <p:txBody>
          <a:bodyPr wrap="square" lIns="0" tIns="0" rIns="0" bIns="0" rtlCol="0" anchor="t">
            <a:normAutofit/>
          </a:bodyPr>
          <a:lstStyle/>
          <a:p>
            <a:pPr algn="l" indent="0" marL="0">
              <a:lnSpc>
                <a:spcPts val="3824"/>
              </a:lnSpc>
              <a:buNone/>
            </a:pPr>
            <a:r>
              <a:rPr lang="en-US" sz="3476" b="1" i="0" dirty="0">
                <a:solidFill>
                  <a:srgbClr val="FAFAF8"/>
                </a:solidFill>
                <a:latin typeface="IBM Plex Sans" pitchFamily="34" charset="0"/>
                <a:ea typeface="IBM Plex Sans" pitchFamily="34" charset="-122"/>
                <a:cs typeface="IBM Plex Sans" pitchFamily="34" charset="-120"/>
              </a:rPr>
              <a:t>What this does not do yet</a:t>
            </a:r>
            <a:endParaRPr lang="en-US" sz="3476" dirty="0"/>
          </a:p>
        </p:txBody>
      </p:sp>
      <p:sp>
        <p:nvSpPr>
          <p:cNvPr id="4" name="Shape 2"/>
          <p:cNvSpPr/>
          <p:nvPr/>
        </p:nvSpPr>
        <p:spPr>
          <a:xfrm>
            <a:off x="812800" y="1778862"/>
            <a:ext cx="10566400" cy="770797"/>
          </a:xfrm>
          <a:prstGeom prst="roundRect">
            <a:avLst>
              <a:gd name="adj" fmla="val 11534"/>
            </a:avLst>
          </a:prstGeom>
          <a:solidFill>
            <a:srgbClr val="232830"/>
          </a:solidFill>
          <a:ln/>
        </p:spPr>
      </p:sp>
      <p:sp>
        <p:nvSpPr>
          <p:cNvPr id="5" name="Text 3"/>
          <p:cNvSpPr/>
          <p:nvPr/>
        </p:nvSpPr>
        <p:spPr>
          <a:xfrm>
            <a:off x="1028700" y="2053103"/>
            <a:ext cx="1962150" cy="24765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E8B45F"/>
                </a:solidFill>
                <a:latin typeface="JetBrains Mono" pitchFamily="49" charset="0"/>
                <a:ea typeface="JetBrains Mono" pitchFamily="49" charset="-122"/>
                <a:cs typeface="JetBrains Mono" pitchFamily="49" charset="-120"/>
              </a:rPr>
              <a:t>selectivity</a:t>
            </a:r>
            <a:endParaRPr lang="en-US" sz="1250" dirty="0"/>
          </a:p>
        </p:txBody>
      </p:sp>
      <p:sp>
        <p:nvSpPr>
          <p:cNvPr id="6" name="Text 4"/>
          <p:cNvSpPr/>
          <p:nvPr/>
        </p:nvSpPr>
        <p:spPr>
          <a:xfrm>
            <a:off x="3111500" y="1924912"/>
            <a:ext cx="8293354" cy="504164"/>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C3CAD4"/>
                </a:solidFill>
                <a:latin typeface="IBM Plex Sans" pitchFamily="34" charset="0"/>
                <a:ea typeface="IBM Plex Sans" pitchFamily="34" charset="-122"/>
                <a:cs typeface="IBM Plex Sans" pitchFamily="34" charset="-120"/>
              </a:rPr>
              <a:t>The goal says “selective JAK2”, but only JAK2 is docked. A molecule that binds JAK1, JAK3 and TYK2 equally scores just as well. Needs anti-targets and a composite objective.</a:t>
            </a:r>
            <a:endParaRPr lang="en-US" sz="1300" dirty="0"/>
          </a:p>
        </p:txBody>
      </p:sp>
      <p:sp>
        <p:nvSpPr>
          <p:cNvPr id="7" name="Shape 5"/>
          <p:cNvSpPr/>
          <p:nvPr/>
        </p:nvSpPr>
        <p:spPr>
          <a:xfrm>
            <a:off x="812800" y="2638561"/>
            <a:ext cx="10566400" cy="550532"/>
          </a:xfrm>
          <a:prstGeom prst="roundRect">
            <a:avLst>
              <a:gd name="adj" fmla="val 16148"/>
            </a:avLst>
          </a:prstGeom>
          <a:solidFill>
            <a:srgbClr val="232830"/>
          </a:solidFill>
          <a:ln/>
        </p:spPr>
      </p:sp>
      <p:sp>
        <p:nvSpPr>
          <p:cNvPr id="8" name="Text 6"/>
          <p:cNvSpPr/>
          <p:nvPr/>
        </p:nvSpPr>
        <p:spPr>
          <a:xfrm>
            <a:off x="1028700" y="2802731"/>
            <a:ext cx="2082800" cy="24765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E8B45F"/>
                </a:solidFill>
                <a:latin typeface="JetBrains Mono" pitchFamily="49" charset="0"/>
                <a:ea typeface="JetBrains Mono" pitchFamily="49" charset="-122"/>
                <a:cs typeface="JetBrains Mono" pitchFamily="49" charset="-120"/>
              </a:rPr>
              <a:t>oral bioavailability</a:t>
            </a:r>
            <a:endParaRPr lang="en-US" sz="1250" dirty="0"/>
          </a:p>
        </p:txBody>
      </p:sp>
      <p:sp>
        <p:nvSpPr>
          <p:cNvPr id="9" name="Text 7"/>
          <p:cNvSpPr/>
          <p:nvPr/>
        </p:nvSpPr>
        <p:spPr>
          <a:xfrm>
            <a:off x="3111500" y="2794136"/>
            <a:ext cx="8293354" cy="264782"/>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C3CAD4"/>
                </a:solidFill>
                <a:latin typeface="IBM Plex Sans" pitchFamily="34" charset="0"/>
                <a:ea typeface="IBM Plex Sans" pitchFamily="34" charset="-122"/>
                <a:cs typeface="IBM Plex Sans" pitchFamily="34" charset="-120"/>
              </a:rPr>
              <a:t>Computed as flags beside each molecule, but never optimised. The run maximises docking score alone.</a:t>
            </a:r>
            <a:endParaRPr lang="en-US" sz="1300" dirty="0"/>
          </a:p>
        </p:txBody>
      </p:sp>
      <p:sp>
        <p:nvSpPr>
          <p:cNvPr id="10" name="Shape 8"/>
          <p:cNvSpPr/>
          <p:nvPr/>
        </p:nvSpPr>
        <p:spPr>
          <a:xfrm>
            <a:off x="812800" y="3277989"/>
            <a:ext cx="10566400" cy="550466"/>
          </a:xfrm>
          <a:prstGeom prst="roundRect">
            <a:avLst>
              <a:gd name="adj" fmla="val 16150"/>
            </a:avLst>
          </a:prstGeom>
          <a:solidFill>
            <a:srgbClr val="232830"/>
          </a:solidFill>
          <a:ln/>
        </p:spPr>
      </p:sp>
      <p:sp>
        <p:nvSpPr>
          <p:cNvPr id="11" name="Text 9"/>
          <p:cNvSpPr/>
          <p:nvPr/>
        </p:nvSpPr>
        <p:spPr>
          <a:xfrm>
            <a:off x="1028700" y="3442097"/>
            <a:ext cx="1962150" cy="24765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E8B45F"/>
                </a:solidFill>
                <a:latin typeface="JetBrains Mono" pitchFamily="49" charset="0"/>
                <a:ea typeface="JetBrains Mono" pitchFamily="49" charset="-122"/>
                <a:cs typeface="JetBrains Mono" pitchFamily="49" charset="-120"/>
              </a:rPr>
              <a:t>single-seed results</a:t>
            </a:r>
            <a:endParaRPr lang="en-US" sz="1250" dirty="0"/>
          </a:p>
        </p:txBody>
      </p:sp>
      <p:sp>
        <p:nvSpPr>
          <p:cNvPr id="12" name="Text 10"/>
          <p:cNvSpPr/>
          <p:nvPr/>
        </p:nvSpPr>
        <p:spPr>
          <a:xfrm>
            <a:off x="3111500" y="3433564"/>
            <a:ext cx="8293354" cy="264782"/>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C3CAD4"/>
                </a:solidFill>
                <a:latin typeface="IBM Plex Sans" pitchFamily="34" charset="0"/>
                <a:ea typeface="IBM Plex Sans" pitchFamily="34" charset="-122"/>
                <a:cs typeface="IBM Plex Sans" pitchFamily="34" charset="-120"/>
              </a:rPr>
              <a:t>One target, one seed per arm. Enough to prove the pipeline, nowhere near enough to publish.</a:t>
            </a:r>
            <a:endParaRPr lang="en-US" sz="1300" dirty="0"/>
          </a:p>
        </p:txBody>
      </p:sp>
      <p:sp>
        <p:nvSpPr>
          <p:cNvPr id="13" name="Shape 11"/>
          <p:cNvSpPr/>
          <p:nvPr/>
        </p:nvSpPr>
        <p:spPr>
          <a:xfrm>
            <a:off x="812800" y="3917355"/>
            <a:ext cx="10566400" cy="770797"/>
          </a:xfrm>
          <a:prstGeom prst="roundRect">
            <a:avLst>
              <a:gd name="adj" fmla="val 11534"/>
            </a:avLst>
          </a:prstGeom>
          <a:solidFill>
            <a:srgbClr val="232830"/>
          </a:solidFill>
          <a:ln/>
        </p:spPr>
      </p:sp>
      <p:sp>
        <p:nvSpPr>
          <p:cNvPr id="14" name="Text 12"/>
          <p:cNvSpPr/>
          <p:nvPr/>
        </p:nvSpPr>
        <p:spPr>
          <a:xfrm>
            <a:off x="1028700" y="4191595"/>
            <a:ext cx="1962150" cy="24765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E8B45F"/>
                </a:solidFill>
                <a:latin typeface="JetBrains Mono" pitchFamily="49" charset="0"/>
                <a:ea typeface="JetBrains Mono" pitchFamily="49" charset="-122"/>
                <a:cs typeface="JetBrains Mono" pitchFamily="49" charset="-120"/>
              </a:rPr>
              <a:t>docking ≠ affinity</a:t>
            </a:r>
            <a:endParaRPr lang="en-US" sz="1250" dirty="0"/>
          </a:p>
        </p:txBody>
      </p:sp>
      <p:sp>
        <p:nvSpPr>
          <p:cNvPr id="15" name="Text 13"/>
          <p:cNvSpPr/>
          <p:nvPr/>
        </p:nvSpPr>
        <p:spPr>
          <a:xfrm>
            <a:off x="3111500" y="4063405"/>
            <a:ext cx="8293354" cy="504164"/>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C3CAD4"/>
                </a:solidFill>
                <a:latin typeface="IBM Plex Sans" pitchFamily="34" charset="0"/>
                <a:ea typeface="IBM Plex Sans" pitchFamily="34" charset="-122"/>
                <a:cs typeface="IBM Plex Sans" pitchFamily="34" charset="-120"/>
              </a:rPr>
              <a:t>Vina scores correlate imperfectly with real binding. The decoy gate and scaffold rediscovery exist to keep that honest, rather than to hide it.</a:t>
            </a:r>
            <a:endParaRPr lang="en-US" sz="1300" dirty="0"/>
          </a:p>
        </p:txBody>
      </p:sp>
      <p:sp>
        <p:nvSpPr>
          <p:cNvPr id="16" name="Shape 14"/>
          <p:cNvSpPr/>
          <p:nvPr/>
        </p:nvSpPr>
        <p:spPr>
          <a:xfrm>
            <a:off x="812800" y="4904054"/>
            <a:ext cx="10566400" cy="937948"/>
          </a:xfrm>
          <a:prstGeom prst="roundRect">
            <a:avLst>
              <a:gd name="adj" fmla="val 10832"/>
            </a:avLst>
          </a:prstGeom>
          <a:solidFill>
            <a:srgbClr val="2A5BB0"/>
          </a:solidFill>
          <a:ln/>
        </p:spPr>
      </p:sp>
      <p:sp>
        <p:nvSpPr>
          <p:cNvPr id="17" name="Text 15"/>
          <p:cNvSpPr/>
          <p:nvPr/>
        </p:nvSpPr>
        <p:spPr>
          <a:xfrm>
            <a:off x="1054100" y="5107254"/>
            <a:ext cx="10386314" cy="556948"/>
          </a:xfrm>
          <a:prstGeom prst="rect">
            <a:avLst/>
          </a:prstGeom>
          <a:noFill/>
          <a:ln/>
        </p:spPr>
        <p:txBody>
          <a:bodyPr wrap="square" lIns="0" tIns="0" rIns="0" bIns="0" rtlCol="0" anchor="t">
            <a:normAutofit/>
          </a:bodyPr>
          <a:lstStyle/>
          <a:p>
            <a:pPr algn="l" indent="0" marL="0">
              <a:lnSpc>
                <a:spcPts val="2175"/>
              </a:lnSpc>
              <a:buNone/>
            </a:pPr>
            <a:r>
              <a:rPr lang="en-US" sz="1450" dirty="0">
                <a:solidFill>
                  <a:srgbClr val="FAFAF8"/>
                </a:solidFill>
                <a:latin typeface="IBM Plex Sans" pitchFamily="34" charset="0"/>
                <a:ea typeface="IBM Plex Sans" pitchFamily="34" charset="-122"/>
                <a:cs typeface="IBM Plex Sans" pitchFamily="34" charset="-120"/>
              </a:rPr>
              <a:t>None of these are hidden by the system. Each one is either visible in the interface or stated in the run record — which is the property that makes the framework worth building at all.</a:t>
            </a:r>
            <a:endParaRPr lang="en-US" sz="1450" dirty="0"/>
          </a:p>
        </p:txBody>
      </p:sp>
      <p:sp>
        <p:nvSpPr>
          <p:cNvPr id="18" name="Text 16"/>
          <p:cNvSpPr/>
          <p:nvPr/>
        </p:nvSpPr>
        <p:spPr>
          <a:xfrm>
            <a:off x="812800" y="6238280"/>
            <a:ext cx="679346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8F98"/>
                </a:solidFill>
                <a:latin typeface="IBM Plex Sans" pitchFamily="34" charset="0"/>
                <a:ea typeface="IBM Plex Sans" pitchFamily="34" charset="-122"/>
                <a:cs typeface="IBM Plex Sans" pitchFamily="34" charset="-120"/>
              </a:rPr>
              <a:t>A framework you can audit is more useful than one that always looks like it worked.</a:t>
            </a:r>
            <a:endParaRPr lang="en-US" sz="1200" dirty="0"/>
          </a:p>
        </p:txBody>
      </p:sp>
    </p:spTree>
  </p:cSld>
  <p:clrMapOvr>
    <a:masterClrMapping/>
  </p:clrMapOvr>
</p:sld>
</file>

<file path=ppt/theme/theme1.xml><?xml version="1.0" encoding="utf-8"?>
<a:theme xmlns:a="http://schemas.openxmlformats.org/drawingml/2006/main" name="DrugOrch System Design">
  <a:themeElements>
    <a:clrScheme name="DrugOrch System Design">
      <a:dk1>
        <a:srgbClr val="171A1F"/>
      </a:dk1>
      <a:lt1>
        <a:srgbClr val="FAFAF8"/>
      </a:lt1>
      <a:dk2>
        <a:srgbClr val="505255"/>
      </a:dk2>
      <a:lt2>
        <a:srgbClr val="E3E4E2"/>
      </a:lt2>
      <a:accent1>
        <a:srgbClr val="2A5BB0"/>
      </a:accent1>
      <a:accent2>
        <a:srgbClr val="E8B45F"/>
      </a:accent2>
      <a:accent3>
        <a:srgbClr val="8CB4E8"/>
      </a:accent3>
      <a:accent4>
        <a:srgbClr val="5FBF95"/>
      </a:accent4>
      <a:accent5>
        <a:srgbClr val="5739AE"/>
      </a:accent5>
      <a:accent6>
        <a:srgbClr val="8A5F15"/>
      </a:accent6>
      <a:hlink>
        <a:srgbClr val="0563C1"/>
      </a:hlink>
      <a:folHlink>
        <a:srgbClr val="954F72"/>
      </a:folHlink>
    </a:clrScheme>
    <a:fontScheme name="DrugOrch System Design">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DrugOrch System Design</dc:title>
  <dc:subject/>
  <dc:creator/>
  <cp:lastModifiedBy/>
  <cp:revision>1</cp:revision>
  <dcterms:created xsi:type="dcterms:W3CDTF">2026-10-14T02:58:05Z</dcterms:created>
  <dcterms:modified xsi:type="dcterms:W3CDTF">2026-10-14T02:58:05Z</dcterms:modified>
</cp:coreProperties>
</file>